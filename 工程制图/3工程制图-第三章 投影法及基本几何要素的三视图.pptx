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60"/>
  </p:notesMasterIdLst>
  <p:sldIdLst>
    <p:sldId id="278" r:id="rId2"/>
    <p:sldId id="279" r:id="rId3"/>
    <p:sldId id="280" r:id="rId4"/>
    <p:sldId id="352" r:id="rId5"/>
    <p:sldId id="323" r:id="rId6"/>
    <p:sldId id="379" r:id="rId7"/>
    <p:sldId id="380" r:id="rId8"/>
    <p:sldId id="381" r:id="rId9"/>
    <p:sldId id="382" r:id="rId10"/>
    <p:sldId id="383" r:id="rId11"/>
    <p:sldId id="384" r:id="rId12"/>
    <p:sldId id="387" r:id="rId13"/>
    <p:sldId id="385" r:id="rId14"/>
    <p:sldId id="396" r:id="rId15"/>
    <p:sldId id="389" r:id="rId16"/>
    <p:sldId id="390" r:id="rId17"/>
    <p:sldId id="391" r:id="rId18"/>
    <p:sldId id="388" r:id="rId19"/>
    <p:sldId id="393" r:id="rId20"/>
    <p:sldId id="429" r:id="rId21"/>
    <p:sldId id="430" r:id="rId22"/>
    <p:sldId id="395" r:id="rId23"/>
    <p:sldId id="394" r:id="rId24"/>
    <p:sldId id="432" r:id="rId25"/>
    <p:sldId id="433" r:id="rId26"/>
    <p:sldId id="434" r:id="rId27"/>
    <p:sldId id="435" r:id="rId28"/>
    <p:sldId id="436" r:id="rId29"/>
    <p:sldId id="437" r:id="rId30"/>
    <p:sldId id="456" r:id="rId31"/>
    <p:sldId id="438" r:id="rId32"/>
    <p:sldId id="460" r:id="rId33"/>
    <p:sldId id="461" r:id="rId34"/>
    <p:sldId id="431" r:id="rId35"/>
    <p:sldId id="462" r:id="rId36"/>
    <p:sldId id="463" r:id="rId37"/>
    <p:sldId id="465" r:id="rId38"/>
    <p:sldId id="466" r:id="rId39"/>
    <p:sldId id="467" r:id="rId40"/>
    <p:sldId id="468" r:id="rId41"/>
    <p:sldId id="469" r:id="rId42"/>
    <p:sldId id="464" r:id="rId43"/>
    <p:sldId id="470" r:id="rId44"/>
    <p:sldId id="457" r:id="rId45"/>
    <p:sldId id="459" r:id="rId46"/>
    <p:sldId id="472" r:id="rId47"/>
    <p:sldId id="473" r:id="rId48"/>
    <p:sldId id="474" r:id="rId49"/>
    <p:sldId id="475" r:id="rId50"/>
    <p:sldId id="476" r:id="rId51"/>
    <p:sldId id="458" r:id="rId52"/>
    <p:sldId id="496" r:id="rId53"/>
    <p:sldId id="497" r:id="rId54"/>
    <p:sldId id="498" r:id="rId55"/>
    <p:sldId id="499" r:id="rId56"/>
    <p:sldId id="500" r:id="rId57"/>
    <p:sldId id="510" r:id="rId58"/>
    <p:sldId id="509" r:id="rId59"/>
  </p:sldIdLst>
  <p:sldSz cx="12192000" cy="6858000"/>
  <p:notesSz cx="6858000" cy="9144000"/>
  <p:embeddedFontLst>
    <p:embeddedFont>
      <p:font typeface="楷体_GB2312" panose="02010600030101010101" charset="-122"/>
      <p:regular r:id="rId61"/>
    </p:embeddedFont>
    <p:embeddedFont>
      <p:font typeface="Calibri" panose="020F0502020204030204" pitchFamily="34" charset="0"/>
      <p:regular r:id="rId62"/>
      <p:bold r:id="rId63"/>
      <p:italic r:id="rId64"/>
      <p:boldItalic r:id="rId65"/>
    </p:embeddedFont>
    <p:embeddedFont>
      <p:font typeface="Calibri Light" panose="020F0302020204030204" pitchFamily="34" charset="0"/>
      <p:regular r:id="rId66"/>
      <p:italic r:id="rId67"/>
    </p:embeddedFont>
    <p:embeddedFont>
      <p:font typeface="黑体" panose="02010609060101010101" pitchFamily="49" charset="-122"/>
      <p:regular r:id="rId68"/>
    </p:embeddedFont>
    <p:embeddedFont>
      <p:font typeface="华文细黑" panose="02010600040101010101" pitchFamily="2" charset="-122"/>
      <p:regular r:id="rId69"/>
    </p:embeddedFont>
    <p:embeddedFont>
      <p:font typeface="楷体" panose="02010609060101010101" pitchFamily="49" charset="-122"/>
      <p:regular r:id="rId70"/>
    </p:embeddedFont>
    <p:embeddedFont>
      <p:font typeface="微软雅黑" panose="020B0503020204020204" pitchFamily="34" charset="-122"/>
      <p:regular r:id="rId71"/>
      <p:bold r:id="rId72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78">
          <p15:clr>
            <a:srgbClr val="A4A3A4"/>
          </p15:clr>
        </p15:guide>
        <p15:guide id="2" pos="388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" initials="a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CC"/>
    <a:srgbClr val="702151"/>
    <a:srgbClr val="009900"/>
    <a:srgbClr val="FBFCCF"/>
    <a:srgbClr val="FF6666"/>
    <a:srgbClr val="41E33D"/>
    <a:srgbClr val="FD4809"/>
    <a:srgbClr val="333333"/>
    <a:srgbClr val="48E9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86" d="100"/>
          <a:sy n="86" d="100"/>
        </p:scale>
        <p:origin x="552" y="77"/>
      </p:cViewPr>
      <p:guideLst>
        <p:guide orient="horz" pos="1678"/>
        <p:guide pos="38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3.fntdata"/><Relationship Id="rId68" Type="http://schemas.openxmlformats.org/officeDocument/2006/relationships/font" Target="fonts/font8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6.fntdata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font" Target="fonts/font1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4.fntdata"/><Relationship Id="rId69" Type="http://schemas.openxmlformats.org/officeDocument/2006/relationships/font" Target="fonts/font9.fntdata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12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7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2.fntdata"/><Relationship Id="rId70" Type="http://schemas.openxmlformats.org/officeDocument/2006/relationships/font" Target="fonts/font10.fntdata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openxmlformats.org/officeDocument/2006/relationships/font" Target="fonts/font5.fntdata"/><Relationship Id="rId73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font" Target="fonts/font11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5A4E82-719B-45B5-B153-8474DE53B02D}" type="datetimeFigureOut">
              <a:rPr lang="zh-CN" altLang="en-US" smtClean="0"/>
              <a:t>2021/3/16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D1EAC0-35A8-41CD-998F-5E6C94A28D5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B6207-3C04-462D-8E72-68C9730EB86D}" type="datetimeFigureOut">
              <a:rPr lang="zh-CN" altLang="en-US" smtClean="0"/>
              <a:t>2021/3/16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D535D-1C9A-4F3E-B1DC-DA5A3835AF0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254000" y="190500"/>
            <a:ext cx="11696700" cy="64643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93755" y="475615"/>
            <a:ext cx="624205" cy="5537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B6207-3C04-462D-8E72-68C9730EB86D}" type="datetimeFigureOut">
              <a:rPr lang="zh-CN" altLang="en-US" smtClean="0"/>
              <a:t>2021/3/16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D535D-1C9A-4F3E-B1DC-DA5A3835AF0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B6207-3C04-462D-8E72-68C9730EB86D}" type="datetimeFigureOut">
              <a:rPr lang="zh-CN" altLang="en-US" smtClean="0"/>
              <a:t>2021/3/16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D535D-1C9A-4F3E-B1DC-DA5A3835AF0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B6207-3C04-462D-8E72-68C9730EB86D}" type="datetimeFigureOut">
              <a:rPr lang="zh-CN" altLang="en-US" smtClean="0"/>
              <a:t>2021/3/16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D535D-1C9A-4F3E-B1DC-DA5A3835AF0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B6207-3C04-462D-8E72-68C9730EB86D}" type="datetimeFigureOut">
              <a:rPr lang="zh-CN" altLang="en-US" smtClean="0"/>
              <a:t>2021/3/16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D535D-1C9A-4F3E-B1DC-DA5A3835AF0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B6207-3C04-462D-8E72-68C9730EB86D}" type="datetimeFigureOut">
              <a:rPr lang="zh-CN" altLang="en-US" smtClean="0"/>
              <a:t>2021/3/16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D535D-1C9A-4F3E-B1DC-DA5A3835AF0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B6207-3C04-462D-8E72-68C9730EB86D}" type="datetimeFigureOut">
              <a:rPr lang="zh-CN" altLang="en-US" smtClean="0"/>
              <a:t>2021/3/16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D535D-1C9A-4F3E-B1DC-DA5A3835AF0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B6207-3C04-462D-8E72-68C9730EB86D}" type="datetimeFigureOut">
              <a:rPr lang="zh-CN" altLang="en-US" smtClean="0"/>
              <a:t>2021/3/16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D535D-1C9A-4F3E-B1DC-DA5A3835AF0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B6207-3C04-462D-8E72-68C9730EB86D}" type="datetimeFigureOut">
              <a:rPr lang="zh-CN" altLang="en-US" smtClean="0"/>
              <a:t>2021/3/16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D535D-1C9A-4F3E-B1DC-DA5A3835AF0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B6207-3C04-462D-8E72-68C9730EB86D}" type="datetimeFigureOut">
              <a:rPr lang="zh-CN" altLang="en-US" smtClean="0"/>
              <a:t>2021/3/16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D535D-1C9A-4F3E-B1DC-DA5A3835AF0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1B6207-3C04-462D-8E72-68C9730EB86D}" type="datetimeFigureOut">
              <a:rPr lang="zh-CN" altLang="en-US" smtClean="0"/>
              <a:t>2021/3/16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3D535D-1C9A-4F3E-B1DC-DA5A3835AF0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13.png"/><Relationship Id="rId4" Type="http://schemas.openxmlformats.org/officeDocument/2006/relationships/oleObject" Target="../embeddings/oleObject2.bin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13" Type="http://schemas.openxmlformats.org/officeDocument/2006/relationships/image" Target="../media/image22.wmf"/><Relationship Id="rId18" Type="http://schemas.openxmlformats.org/officeDocument/2006/relationships/oleObject" Target="../embeddings/oleObject13.bin"/><Relationship Id="rId3" Type="http://schemas.openxmlformats.org/officeDocument/2006/relationships/image" Target="../media/image17.wmf"/><Relationship Id="rId7" Type="http://schemas.openxmlformats.org/officeDocument/2006/relationships/image" Target="../media/image19.wmf"/><Relationship Id="rId12" Type="http://schemas.openxmlformats.org/officeDocument/2006/relationships/oleObject" Target="../embeddings/oleObject10.bin"/><Relationship Id="rId17" Type="http://schemas.openxmlformats.org/officeDocument/2006/relationships/image" Target="../media/image24.wmf"/><Relationship Id="rId2" Type="http://schemas.openxmlformats.org/officeDocument/2006/relationships/oleObject" Target="../embeddings/oleObject5.bin"/><Relationship Id="rId16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.bin"/><Relationship Id="rId11" Type="http://schemas.openxmlformats.org/officeDocument/2006/relationships/image" Target="../media/image21.wmf"/><Relationship Id="rId5" Type="http://schemas.openxmlformats.org/officeDocument/2006/relationships/image" Target="../media/image18.wmf"/><Relationship Id="rId15" Type="http://schemas.openxmlformats.org/officeDocument/2006/relationships/image" Target="../media/image23.wmf"/><Relationship Id="rId10" Type="http://schemas.openxmlformats.org/officeDocument/2006/relationships/oleObject" Target="../embeddings/oleObject9.bin"/><Relationship Id="rId19" Type="http://schemas.openxmlformats.org/officeDocument/2006/relationships/image" Target="../media/image25.wmf"/><Relationship Id="rId4" Type="http://schemas.openxmlformats.org/officeDocument/2006/relationships/oleObject" Target="../embeddings/oleObject6.bin"/><Relationship Id="rId9" Type="http://schemas.openxmlformats.org/officeDocument/2006/relationships/image" Target="../media/image20.wmf"/><Relationship Id="rId14" Type="http://schemas.openxmlformats.org/officeDocument/2006/relationships/oleObject" Target="../embeddings/oleObject11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oleObject" Target="../embeddings/oleObject15.bin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8"/>
          <p:cNvSpPr>
            <a:spLocks noChangeArrowheads="1"/>
          </p:cNvSpPr>
          <p:nvPr/>
        </p:nvSpPr>
        <p:spPr bwMode="auto">
          <a:xfrm>
            <a:off x="5179695" y="3041015"/>
            <a:ext cx="5979795" cy="2305685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150000"/>
              </a:lnSpc>
            </a:pPr>
            <a:r>
              <a:rPr kumimoji="0" lang="zh-CN" altLang="en-US" sz="4800" b="1" i="1" dirty="0">
                <a:solidFill>
                  <a:srgbClr val="0070C0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微软雅黑" panose="020B0503020204020204" pitchFamily="34" charset="-122"/>
              </a:rPr>
              <a:t>第三章  投影法及基本</a:t>
            </a:r>
          </a:p>
          <a:p>
            <a:pPr algn="l">
              <a:lnSpc>
                <a:spcPct val="150000"/>
              </a:lnSpc>
            </a:pPr>
            <a:r>
              <a:rPr kumimoji="0" lang="zh-CN" altLang="en-US" sz="4800" b="1" i="1" dirty="0">
                <a:solidFill>
                  <a:srgbClr val="0070C0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微软雅黑" panose="020B0503020204020204" pitchFamily="34" charset="-122"/>
              </a:rPr>
              <a:t>几何要素的三视图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038979" y="1669895"/>
            <a:ext cx="5650865" cy="144526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CN" sz="8800" b="1" dirty="0">
                <a:solidFill>
                  <a:schemeClr val="bg1">
                    <a:lumMod val="5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Chapter 3</a:t>
            </a:r>
            <a:endParaRPr lang="zh-CN" altLang="en-US" sz="8800" b="1" dirty="0">
              <a:solidFill>
                <a:schemeClr val="bg1">
                  <a:lumMod val="5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5" name="组合 4"/>
          <p:cNvGrpSpPr>
            <a:grpSpLocks noChangeAspect="1"/>
          </p:cNvGrpSpPr>
          <p:nvPr/>
        </p:nvGrpSpPr>
        <p:grpSpPr>
          <a:xfrm>
            <a:off x="1134757" y="3381752"/>
            <a:ext cx="3834118" cy="1531539"/>
            <a:chOff x="1134757" y="3381752"/>
            <a:chExt cx="3834118" cy="1531539"/>
          </a:xfrm>
        </p:grpSpPr>
        <p:sp>
          <p:nvSpPr>
            <p:cNvPr id="12" name="平行四边形 11"/>
            <p:cNvSpPr/>
            <p:nvPr/>
          </p:nvSpPr>
          <p:spPr>
            <a:xfrm>
              <a:off x="3830347" y="3469591"/>
              <a:ext cx="720000" cy="1440000"/>
            </a:xfrm>
            <a:prstGeom prst="parallelogram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/>
            <p:cNvSpPr/>
            <p:nvPr/>
          </p:nvSpPr>
          <p:spPr>
            <a:xfrm>
              <a:off x="1532857" y="3473291"/>
              <a:ext cx="720000" cy="1440000"/>
            </a:xfrm>
            <a:prstGeom prst="parallelogram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4248875" y="3381752"/>
              <a:ext cx="720000" cy="1440000"/>
            </a:xfrm>
            <a:prstGeom prst="parallelogram">
              <a:avLst/>
            </a:prstGeom>
            <a:solidFill>
              <a:srgbClr val="FFC000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/>
          </p:nvSpPr>
          <p:spPr>
            <a:xfrm>
              <a:off x="3470347" y="3381752"/>
              <a:ext cx="720000" cy="1440000"/>
            </a:xfrm>
            <a:prstGeom prst="parallelogram">
              <a:avLst/>
            </a:prstGeom>
            <a:solidFill>
              <a:srgbClr val="FFC000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平行四边形 7"/>
            <p:cNvSpPr/>
            <p:nvPr/>
          </p:nvSpPr>
          <p:spPr>
            <a:xfrm>
              <a:off x="2691817" y="3381752"/>
              <a:ext cx="720000" cy="1440000"/>
            </a:xfrm>
            <a:prstGeom prst="parallelogram">
              <a:avLst/>
            </a:prstGeom>
            <a:solidFill>
              <a:srgbClr val="0066CC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平行四边形 8"/>
            <p:cNvSpPr/>
            <p:nvPr/>
          </p:nvSpPr>
          <p:spPr>
            <a:xfrm>
              <a:off x="1134757" y="3381752"/>
              <a:ext cx="720000" cy="1440000"/>
            </a:xfrm>
            <a:prstGeom prst="parallelogram">
              <a:avLst/>
            </a:prstGeom>
            <a:solidFill>
              <a:srgbClr val="FFC000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/>
            <p:cNvSpPr/>
            <p:nvPr/>
          </p:nvSpPr>
          <p:spPr>
            <a:xfrm>
              <a:off x="1913287" y="3381752"/>
              <a:ext cx="720000" cy="1440000"/>
            </a:xfrm>
            <a:prstGeom prst="parallelogram">
              <a:avLst/>
            </a:prstGeom>
            <a:solidFill>
              <a:srgbClr val="FFC000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b="1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930275" y="1454150"/>
            <a:ext cx="10897235" cy="2722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i="1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本章学习目标</a:t>
            </a:r>
            <a:endParaRPr lang="en-US" altLang="zh-CN" sz="3600" b="1" i="1" dirty="0">
              <a:solidFill>
                <a:srgbClr val="0066CC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微软雅黑" panose="020B0503020204020204" pitchFamily="34" charset="-122"/>
            </a:endParaRPr>
          </a:p>
          <a:p>
            <a:pPr marL="2679700" lvl="0" indent="-342900">
              <a:lnSpc>
                <a:spcPct val="150000"/>
              </a:lnSpc>
              <a:buFont typeface="Wingdings" panose="05000000000000000000" charset="0"/>
              <a:buChar char="u"/>
            </a:pPr>
            <a:r>
              <a:rPr lang="zh-CN" altLang="zh-CN" dirty="0">
                <a:latin typeface="+mn-ea"/>
                <a:cs typeface="+mn-ea"/>
                <a:sym typeface="+mn-ea"/>
              </a:rPr>
              <a:t>了解投影法的基本概念、投影法的分类。</a:t>
            </a:r>
            <a:endParaRPr lang="zh-CN" altLang="zh-CN" dirty="0">
              <a:latin typeface="+mn-ea"/>
              <a:cs typeface="+mn-ea"/>
            </a:endParaRPr>
          </a:p>
          <a:p>
            <a:pPr marL="2336800" lvl="0" indent="2667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dirty="0">
                <a:latin typeface="+mn-ea"/>
                <a:cs typeface="+mn-ea"/>
                <a:sym typeface="+mn-ea"/>
              </a:rPr>
              <a:t> 掌握正投影法的原理及特性，建立初步的空间投影概念。</a:t>
            </a:r>
            <a:endParaRPr lang="zh-CN" altLang="zh-CN" dirty="0">
              <a:latin typeface="+mn-ea"/>
              <a:cs typeface="+mn-ea"/>
            </a:endParaRPr>
          </a:p>
          <a:p>
            <a:pPr marL="2336800" lvl="0" indent="2667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dirty="0">
                <a:latin typeface="+mn-ea"/>
                <a:cs typeface="+mn-ea"/>
                <a:sym typeface="+mn-ea"/>
              </a:rPr>
              <a:t> 掌握点、直线、平面在三投影面体系中投影特性和作图方法。</a:t>
            </a:r>
            <a:endParaRPr lang="zh-CN" altLang="zh-CN" dirty="0">
              <a:latin typeface="+mn-ea"/>
              <a:cs typeface="+mn-ea"/>
            </a:endParaRPr>
          </a:p>
          <a:p>
            <a:pPr marL="2336800" lvl="0" indent="2667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dirty="0">
                <a:latin typeface="+mn-ea"/>
                <a:cs typeface="+mn-ea"/>
                <a:sym typeface="+mn-ea"/>
              </a:rPr>
              <a:t> 理解空间两直线的相对位置及判断方法，完成相关作图问题。</a:t>
            </a:r>
            <a:endParaRPr lang="zh-CN" altLang="zh-CN" dirty="0">
              <a:latin typeface="+mn-ea"/>
              <a:cs typeface="+mn-ea"/>
            </a:endParaRPr>
          </a:p>
          <a:p>
            <a:pPr marL="2336800" lvl="0" indent="2667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dirty="0">
                <a:latin typeface="+mn-ea"/>
                <a:cs typeface="+mn-ea"/>
                <a:sym typeface="+mn-ea"/>
              </a:rPr>
              <a:t> 掌握直线上的点和平面上的点、线的作图方法。</a:t>
            </a:r>
            <a:endParaRPr lang="zh-CN" altLang="zh-CN" dirty="0">
              <a:latin typeface="+mn-ea"/>
              <a:cs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311" y="341387"/>
            <a:ext cx="3780000" cy="6848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99234" y="364233"/>
            <a:ext cx="2031325" cy="646331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zh-CN" altLang="en-US" sz="3600" b="1" i="1" dirty="0">
                <a:solidFill>
                  <a:srgbClr val="0066CC"/>
                </a:solidFill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本章目录</a:t>
            </a:r>
          </a:p>
        </p:txBody>
      </p:sp>
      <p:sp>
        <p:nvSpPr>
          <p:cNvPr id="8" name="矩形 7"/>
          <p:cNvSpPr/>
          <p:nvPr/>
        </p:nvSpPr>
        <p:spPr>
          <a:xfrm>
            <a:off x="5321300" y="2360295"/>
            <a:ext cx="6235700" cy="2399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3.1 投影法的分类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3.2 三视图的形成及其投影规律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3.3 点的投影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3.4 直线的投影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3.5 平面的投影</a:t>
            </a:r>
          </a:p>
        </p:txBody>
      </p:sp>
      <p:sp>
        <p:nvSpPr>
          <p:cNvPr id="10" name="矩形 9"/>
          <p:cNvSpPr/>
          <p:nvPr/>
        </p:nvSpPr>
        <p:spPr>
          <a:xfrm>
            <a:off x="9771439" y="1855103"/>
            <a:ext cx="19383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solidFill>
                  <a:srgbClr val="FF6666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Catalogues</a:t>
            </a:r>
            <a:endParaRPr lang="zh-CN" altLang="en-US" sz="2400" b="1" i="1" dirty="0">
              <a:solidFill>
                <a:srgbClr val="FF6666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 rot="16200000" flipH="1">
            <a:off x="10754836" y="3211036"/>
            <a:ext cx="1602244" cy="2083"/>
          </a:xfrm>
          <a:prstGeom prst="line">
            <a:avLst/>
          </a:prstGeom>
          <a:ln>
            <a:solidFill>
              <a:srgbClr val="FF6666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5447189" y="2105539"/>
            <a:ext cx="4284000" cy="0"/>
          </a:xfrm>
          <a:prstGeom prst="line">
            <a:avLst/>
          </a:prstGeom>
          <a:ln>
            <a:solidFill>
              <a:srgbClr val="FF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086793" y="2261493"/>
            <a:ext cx="3044825" cy="64516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n-US" altLang="zh-CN" sz="3600" b="1" i="1" dirty="0">
                <a:solidFill>
                  <a:srgbClr val="FF6666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</a:rPr>
              <a:t> </a:t>
            </a:r>
            <a:r>
              <a:rPr lang="zh-CN" altLang="en-US" sz="3600" b="1" i="1" dirty="0">
                <a:solidFill>
                  <a:srgbClr val="0066CC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rPr>
              <a:t>投影法的分类</a:t>
            </a:r>
            <a:endParaRPr lang="zh-CN" altLang="en-US" sz="3600" b="1" i="1" dirty="0">
              <a:solidFill>
                <a:srgbClr val="FF6666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43607" y="205040"/>
            <a:ext cx="3088640" cy="644715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en-US" altLang="zh-CN" sz="41300" dirty="0">
                <a:solidFill>
                  <a:srgbClr val="0066CC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3</a:t>
            </a:r>
            <a:endParaRPr lang="zh-CN" altLang="en-US" sz="4800" dirty="0">
              <a:solidFill>
                <a:srgbClr val="0066CC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761622" y="3634859"/>
            <a:ext cx="2164080" cy="10147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algn="l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2000">
                <a:sym typeface="+mn-ea"/>
              </a:rPr>
              <a:t>投影概念</a:t>
            </a:r>
            <a:endParaRPr lang="zh-CN" altLang="en-US" sz="2000"/>
          </a:p>
          <a:p>
            <a:pPr marL="457200" indent="-457200" algn="l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2000">
                <a:sym typeface="+mn-ea"/>
              </a:rPr>
              <a:t>投影法的类别</a:t>
            </a:r>
            <a:endParaRPr lang="en-US" altLang="zh-CN" sz="2000" i="1">
              <a:solidFill>
                <a:schemeClr val="bg1">
                  <a:lumMod val="5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068062" y="189165"/>
            <a:ext cx="3088640" cy="644715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en-US" altLang="zh-CN" sz="41300" dirty="0">
                <a:solidFill>
                  <a:srgbClr val="0066CC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1</a:t>
            </a:r>
            <a:endParaRPr lang="zh-CN" altLang="en-US" sz="4800" dirty="0">
              <a:solidFill>
                <a:srgbClr val="0066CC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613402" y="205675"/>
            <a:ext cx="1635760" cy="644715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en-US" sz="41300" dirty="0">
                <a:solidFill>
                  <a:srgbClr val="0066CC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.</a:t>
            </a:r>
            <a:endParaRPr lang="en-US" sz="4800" dirty="0">
              <a:solidFill>
                <a:srgbClr val="0066CC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699234" y="364233"/>
            <a:ext cx="3040380" cy="64516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l"/>
            <a:r>
              <a:rPr lang="zh-CN" altLang="en-US" sz="3600" b="1" i="1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3.</a:t>
            </a:r>
            <a:r>
              <a:rPr lang="en-US" altLang="zh-CN" sz="3600" b="1" i="1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1.</a:t>
            </a:r>
            <a:r>
              <a:rPr lang="zh-CN" altLang="en-US" sz="3600" b="1" i="1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1 投影概念</a:t>
            </a:r>
            <a:endParaRPr lang="en-US" sz="3600" b="1" i="1" dirty="0">
              <a:solidFill>
                <a:srgbClr val="0066CC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271905" y="1607820"/>
            <a:ext cx="894651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在灯光或太阳光照射物体时，在地面或墙上就会产生与原物体相同或相似的影子，这就是一种投影现象。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835" y="2419350"/>
            <a:ext cx="3533140" cy="317119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5165" y="2419350"/>
            <a:ext cx="4573905" cy="31870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组合 5121"/>
          <p:cNvGrpSpPr/>
          <p:nvPr/>
        </p:nvGrpSpPr>
        <p:grpSpPr>
          <a:xfrm>
            <a:off x="2051050" y="3717608"/>
            <a:ext cx="6192838" cy="2159000"/>
            <a:chOff x="0" y="0"/>
            <a:chExt cx="3901" cy="1360"/>
          </a:xfrm>
        </p:grpSpPr>
        <p:sp>
          <p:nvSpPr>
            <p:cNvPr id="5123" name="平行四边形 5122"/>
            <p:cNvSpPr/>
            <p:nvPr/>
          </p:nvSpPr>
          <p:spPr>
            <a:xfrm flipH="1">
              <a:off x="0" y="0"/>
              <a:ext cx="3810" cy="1360"/>
            </a:xfrm>
            <a:prstGeom prst="parallelogram">
              <a:avLst>
                <a:gd name="adj" fmla="val 70036"/>
              </a:avLst>
            </a:prstGeom>
            <a:solidFill>
              <a:srgbClr val="CCFF66">
                <a:alpha val="49001"/>
              </a:srgbClr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5124" name="文本框 5123"/>
            <p:cNvSpPr txBox="1"/>
            <p:nvPr/>
          </p:nvSpPr>
          <p:spPr>
            <a:xfrm>
              <a:off x="2994" y="1134"/>
              <a:ext cx="907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1400" b="1">
                  <a:latin typeface="楷体" panose="02010609060101010101" charset="-122"/>
                  <a:ea typeface="楷体" panose="02010609060101010101" charset="-122"/>
                </a:rPr>
                <a:t>投影面</a:t>
              </a:r>
            </a:p>
          </p:txBody>
        </p:sp>
      </p:grpSp>
      <p:grpSp>
        <p:nvGrpSpPr>
          <p:cNvPr id="5126" name="组合 5125"/>
          <p:cNvGrpSpPr/>
          <p:nvPr/>
        </p:nvGrpSpPr>
        <p:grpSpPr>
          <a:xfrm>
            <a:off x="4859338" y="1484313"/>
            <a:ext cx="1584325" cy="3676650"/>
            <a:chOff x="0" y="0"/>
            <a:chExt cx="998" cy="2316"/>
          </a:xfrm>
        </p:grpSpPr>
        <p:sp>
          <p:nvSpPr>
            <p:cNvPr id="5127" name="椭圆 5126"/>
            <p:cNvSpPr/>
            <p:nvPr/>
          </p:nvSpPr>
          <p:spPr>
            <a:xfrm>
              <a:off x="0" y="2178"/>
              <a:ext cx="136" cy="138"/>
            </a:xfrm>
            <a:prstGeom prst="ellipse">
              <a:avLst/>
            </a:prstGeom>
            <a:noFill/>
            <a:ln w="38100" cap="flat" cmpd="sng">
              <a:solidFill>
                <a:srgbClr val="CC33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400" dirty="0">
                <a:latin typeface="Arial" panose="020B0604020202020204" pitchFamily="34" charset="0"/>
              </a:endParaRPr>
            </a:p>
          </p:txBody>
        </p:sp>
        <p:sp>
          <p:nvSpPr>
            <p:cNvPr id="5128" name="文本框 5127"/>
            <p:cNvSpPr txBox="1"/>
            <p:nvPr/>
          </p:nvSpPr>
          <p:spPr>
            <a:xfrm>
              <a:off x="91" y="2087"/>
              <a:ext cx="907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1400" b="1" i="1">
                  <a:latin typeface="Times New Roman" panose="02020603050405020304" pitchFamily="18" charset="0"/>
                </a:rPr>
                <a:t>a</a:t>
              </a:r>
              <a:r>
                <a:rPr lang="en-US" altLang="zh-CN" sz="1400" b="1">
                  <a:latin typeface="楷体_GB2312" panose="02010609030101010101" pitchFamily="49" charset="-122"/>
                  <a:ea typeface="楷体_GB2312" panose="02010609030101010101" pitchFamily="49" charset="-122"/>
                </a:rPr>
                <a:t>  </a:t>
              </a:r>
              <a:r>
                <a:rPr lang="zh-CN" altLang="en-US" sz="1400" b="1">
                  <a:latin typeface="楷体_GB2312" panose="02010609030101010101" pitchFamily="49" charset="-122"/>
                  <a:ea typeface="楷体_GB2312" panose="02010609030101010101" pitchFamily="49" charset="-122"/>
                </a:rPr>
                <a:t>投影</a:t>
              </a:r>
            </a:p>
          </p:txBody>
        </p:sp>
        <p:sp>
          <p:nvSpPr>
            <p:cNvPr id="5129" name="直接连接符 5128"/>
            <p:cNvSpPr/>
            <p:nvPr/>
          </p:nvSpPr>
          <p:spPr>
            <a:xfrm flipH="1">
              <a:off x="91" y="0"/>
              <a:ext cx="699" cy="2178"/>
            </a:xfrm>
            <a:prstGeom prst="line">
              <a:avLst/>
            </a:prstGeom>
            <a:ln w="9525" cap="flat" cmpd="sng">
              <a:solidFill>
                <a:srgbClr val="CC33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5130" name="直接连接符 5129"/>
          <p:cNvSpPr/>
          <p:nvPr/>
        </p:nvSpPr>
        <p:spPr>
          <a:xfrm flipH="1">
            <a:off x="3779838" y="1484313"/>
            <a:ext cx="2305050" cy="2808287"/>
          </a:xfrm>
          <a:prstGeom prst="line">
            <a:avLst/>
          </a:prstGeom>
          <a:ln w="9525" cap="flat" cmpd="sng">
            <a:solidFill>
              <a:srgbClr val="CC330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5131" name="组合 5130"/>
          <p:cNvGrpSpPr/>
          <p:nvPr/>
        </p:nvGrpSpPr>
        <p:grpSpPr>
          <a:xfrm>
            <a:off x="998538" y="1341438"/>
            <a:ext cx="6886575" cy="4535488"/>
            <a:chOff x="0" y="0"/>
            <a:chExt cx="4338" cy="2857"/>
          </a:xfrm>
        </p:grpSpPr>
        <p:grpSp>
          <p:nvGrpSpPr>
            <p:cNvPr id="5132" name="组合 5131"/>
            <p:cNvGrpSpPr/>
            <p:nvPr/>
          </p:nvGrpSpPr>
          <p:grpSpPr>
            <a:xfrm>
              <a:off x="2841" y="0"/>
              <a:ext cx="1497" cy="1181"/>
              <a:chOff x="0" y="0"/>
              <a:chExt cx="1497" cy="1181"/>
            </a:xfrm>
          </p:grpSpPr>
          <p:sp>
            <p:nvSpPr>
              <p:cNvPr id="5133" name="椭圆 5132"/>
              <p:cNvSpPr/>
              <p:nvPr/>
            </p:nvSpPr>
            <p:spPr>
              <a:xfrm>
                <a:off x="317" y="45"/>
                <a:ext cx="136" cy="138"/>
              </a:xfrm>
              <a:prstGeom prst="ellipse">
                <a:avLst/>
              </a:prstGeom>
              <a:solidFill>
                <a:srgbClr val="CC3300"/>
              </a:solidFill>
              <a:ln w="9525">
                <a:noFill/>
              </a:ln>
            </p:spPr>
            <p:txBody>
              <a:bodyPr wrap="none" anchor="ctr"/>
              <a:lstStyle/>
              <a:p>
                <a:pPr algn="ctr"/>
                <a:endParaRPr lang="zh-CN" altLang="en-US" sz="14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134" name="椭圆 5133"/>
              <p:cNvSpPr/>
              <p:nvPr/>
            </p:nvSpPr>
            <p:spPr>
              <a:xfrm>
                <a:off x="0" y="1043"/>
                <a:ext cx="136" cy="138"/>
              </a:xfrm>
              <a:prstGeom prst="ellipse">
                <a:avLst/>
              </a:prstGeom>
              <a:solidFill>
                <a:srgbClr val="CC3300"/>
              </a:solidFill>
              <a:ln w="9525">
                <a:noFill/>
              </a:ln>
            </p:spPr>
            <p:txBody>
              <a:bodyPr wrap="none" anchor="ctr"/>
              <a:lstStyle/>
              <a:p>
                <a:pPr algn="ctr"/>
                <a:endParaRPr lang="zh-CN" altLang="en-US" sz="14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135" name="文本框 5134"/>
              <p:cNvSpPr txBox="1"/>
              <p:nvPr/>
            </p:nvSpPr>
            <p:spPr>
              <a:xfrm>
                <a:off x="408" y="0"/>
                <a:ext cx="1089" cy="19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1400" b="1" i="1">
                    <a:latin typeface="楷体_GB2312" panose="02010609030101010101" pitchFamily="49" charset="-122"/>
                    <a:ea typeface="楷体_GB2312" panose="02010609030101010101" pitchFamily="49" charset="-122"/>
                  </a:rPr>
                  <a:t>S</a:t>
                </a:r>
                <a:r>
                  <a:rPr lang="en-US" altLang="zh-CN" sz="1400" b="1">
                    <a:latin typeface="楷体_GB2312" panose="02010609030101010101" pitchFamily="49" charset="-122"/>
                    <a:ea typeface="楷体_GB2312" panose="02010609030101010101" pitchFamily="49" charset="-122"/>
                  </a:rPr>
                  <a:t>  </a:t>
                </a:r>
                <a:r>
                  <a:rPr lang="zh-CN" altLang="en-US" sz="1400" b="1">
                    <a:latin typeface="楷体_GB2312" panose="02010609030101010101" pitchFamily="49" charset="-122"/>
                    <a:ea typeface="楷体_GB2312" panose="02010609030101010101" pitchFamily="49" charset="-122"/>
                  </a:rPr>
                  <a:t>投射中心</a:t>
                </a:r>
              </a:p>
            </p:txBody>
          </p:sp>
          <p:sp>
            <p:nvSpPr>
              <p:cNvPr id="5136" name="文本框 5135"/>
              <p:cNvSpPr txBox="1"/>
              <p:nvPr/>
            </p:nvSpPr>
            <p:spPr>
              <a:xfrm>
                <a:off x="181" y="975"/>
                <a:ext cx="953" cy="1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1400" b="1" i="1">
                    <a:latin typeface="楷体_GB2312" panose="02010609030101010101" pitchFamily="49" charset="-122"/>
                    <a:ea typeface="楷体_GB2312" panose="02010609030101010101" pitchFamily="49" charset="-122"/>
                  </a:rPr>
                  <a:t>A</a:t>
                </a:r>
                <a:r>
                  <a:rPr lang="en-US" altLang="zh-CN" sz="1400" b="1">
                    <a:latin typeface="楷体_GB2312" panose="02010609030101010101" pitchFamily="49" charset="-122"/>
                    <a:ea typeface="楷体_GB2312" panose="02010609030101010101" pitchFamily="49" charset="-122"/>
                  </a:rPr>
                  <a:t>  </a:t>
                </a:r>
                <a:r>
                  <a:rPr lang="zh-CN" altLang="en-US" sz="1400" b="1">
                    <a:latin typeface="楷体_GB2312" panose="02010609030101010101" pitchFamily="49" charset="-122"/>
                    <a:ea typeface="楷体_GB2312" panose="02010609030101010101" pitchFamily="49" charset="-122"/>
                  </a:rPr>
                  <a:t>空间点</a:t>
                </a:r>
              </a:p>
            </p:txBody>
          </p:sp>
        </p:grpSp>
        <p:sp>
          <p:nvSpPr>
            <p:cNvPr id="5137" name="椭圆 5136"/>
            <p:cNvSpPr/>
            <p:nvPr/>
          </p:nvSpPr>
          <p:spPr>
            <a:xfrm>
              <a:off x="890" y="2721"/>
              <a:ext cx="136" cy="136"/>
            </a:xfrm>
            <a:prstGeom prst="ellipse">
              <a:avLst/>
            </a:prstGeom>
            <a:solidFill>
              <a:srgbClr val="CC3300"/>
            </a:solidFill>
            <a:ln w="9525">
              <a:noFill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5138" name="文本框 5137"/>
            <p:cNvSpPr txBox="1"/>
            <p:nvPr/>
          </p:nvSpPr>
          <p:spPr>
            <a:xfrm>
              <a:off x="0" y="2658"/>
              <a:ext cx="953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1400" b="1">
                  <a:latin typeface="楷体_GB2312" panose="02010609030101010101" pitchFamily="49" charset="-122"/>
                  <a:ea typeface="楷体_GB2312" panose="02010609030101010101" pitchFamily="49" charset="-122"/>
                </a:rPr>
                <a:t>空间点 </a:t>
              </a:r>
              <a:r>
                <a:rPr lang="en-US" altLang="zh-CN" sz="1400" b="1" i="1">
                  <a:latin typeface="楷体_GB2312" panose="02010609030101010101" pitchFamily="49" charset="-122"/>
                  <a:ea typeface="楷体_GB2312" panose="02010609030101010101" pitchFamily="49" charset="-122"/>
                </a:rPr>
                <a:t>B</a:t>
              </a:r>
              <a:r>
                <a:rPr lang="en-US" altLang="zh-CN" sz="1400" b="1">
                  <a:latin typeface="楷体_GB2312" panose="02010609030101010101" pitchFamily="49" charset="-122"/>
                  <a:ea typeface="楷体_GB2312" panose="02010609030101010101" pitchFamily="49" charset="-122"/>
                </a:rPr>
                <a:t> </a:t>
              </a:r>
            </a:p>
          </p:txBody>
        </p:sp>
      </p:grpSp>
      <p:grpSp>
        <p:nvGrpSpPr>
          <p:cNvPr id="5139" name="组合 5138"/>
          <p:cNvGrpSpPr/>
          <p:nvPr/>
        </p:nvGrpSpPr>
        <p:grpSpPr>
          <a:xfrm>
            <a:off x="2339975" y="4076700"/>
            <a:ext cx="1482725" cy="360363"/>
            <a:chOff x="0" y="0"/>
            <a:chExt cx="934" cy="227"/>
          </a:xfrm>
        </p:grpSpPr>
        <p:sp>
          <p:nvSpPr>
            <p:cNvPr id="5140" name="椭圆 5139"/>
            <p:cNvSpPr/>
            <p:nvPr/>
          </p:nvSpPr>
          <p:spPr>
            <a:xfrm>
              <a:off x="798" y="91"/>
              <a:ext cx="136" cy="136"/>
            </a:xfrm>
            <a:prstGeom prst="ellipse">
              <a:avLst/>
            </a:prstGeom>
            <a:noFill/>
            <a:ln w="38100" cap="flat" cmpd="sng">
              <a:solidFill>
                <a:srgbClr val="CC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5141" name="文本框 5140"/>
            <p:cNvSpPr txBox="1"/>
            <p:nvPr/>
          </p:nvSpPr>
          <p:spPr>
            <a:xfrm>
              <a:off x="0" y="0"/>
              <a:ext cx="861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1400" b="1">
                  <a:latin typeface="楷体_GB2312" panose="02010609030101010101" pitchFamily="49" charset="-122"/>
                  <a:ea typeface="楷体_GB2312" panose="02010609030101010101" pitchFamily="49" charset="-122"/>
                </a:rPr>
                <a:t>投影 </a:t>
              </a:r>
              <a:r>
                <a:rPr lang="en-US" altLang="zh-CN" sz="1400" b="1" i="1">
                  <a:latin typeface="楷体_GB2312" panose="02010609030101010101" pitchFamily="49" charset="-122"/>
                  <a:ea typeface="楷体_GB2312" panose="02010609030101010101" pitchFamily="49" charset="-122"/>
                </a:rPr>
                <a:t>(b</a:t>
              </a:r>
              <a:r>
                <a:rPr lang="en-US" altLang="zh-CN" sz="1400" b="1" i="1">
                  <a:latin typeface="Times New Roman" panose="02020603050405020304" pitchFamily="18" charset="0"/>
                  <a:ea typeface="华文中宋" panose="02010600040101010101" pitchFamily="2" charset="-122"/>
                </a:rPr>
                <a:t>)</a:t>
              </a:r>
            </a:p>
          </p:txBody>
        </p:sp>
      </p:grpSp>
      <p:sp>
        <p:nvSpPr>
          <p:cNvPr id="5142" name="直接连接符 5141"/>
          <p:cNvSpPr/>
          <p:nvPr/>
        </p:nvSpPr>
        <p:spPr>
          <a:xfrm flipH="1">
            <a:off x="2555875" y="4437063"/>
            <a:ext cx="1079500" cy="1296987"/>
          </a:xfrm>
          <a:prstGeom prst="line">
            <a:avLst/>
          </a:prstGeom>
          <a:ln w="9525" cap="flat" cmpd="sng">
            <a:solidFill>
              <a:srgbClr val="CC330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5143" name="组合 5142"/>
          <p:cNvGrpSpPr/>
          <p:nvPr/>
        </p:nvGrpSpPr>
        <p:grpSpPr>
          <a:xfrm>
            <a:off x="2627313" y="2349500"/>
            <a:ext cx="2808287" cy="1223963"/>
            <a:chOff x="0" y="0"/>
            <a:chExt cx="1769" cy="771"/>
          </a:xfrm>
        </p:grpSpPr>
        <p:sp>
          <p:nvSpPr>
            <p:cNvPr id="5144" name="直接连接符 5143"/>
            <p:cNvSpPr/>
            <p:nvPr/>
          </p:nvSpPr>
          <p:spPr>
            <a:xfrm flipH="1" flipV="1">
              <a:off x="590" y="272"/>
              <a:ext cx="499" cy="49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45" name="直接连接符 5144"/>
            <p:cNvSpPr/>
            <p:nvPr/>
          </p:nvSpPr>
          <p:spPr>
            <a:xfrm flipH="1" flipV="1">
              <a:off x="590" y="272"/>
              <a:ext cx="1179" cy="49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46" name="文本框 5145"/>
            <p:cNvSpPr txBox="1"/>
            <p:nvPr/>
          </p:nvSpPr>
          <p:spPr>
            <a:xfrm>
              <a:off x="0" y="0"/>
              <a:ext cx="726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1400" b="1">
                  <a:latin typeface="Arial" panose="020B0604020202020204" pitchFamily="34" charset="0"/>
                  <a:ea typeface="楷体_GB2312" panose="02010609030101010101" pitchFamily="49" charset="-122"/>
                </a:rPr>
                <a:t>投射线</a:t>
              </a: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7885430" y="3937635"/>
            <a:ext cx="3754120" cy="629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物体在投影面上的影像称</a:t>
            </a:r>
            <a:r>
              <a:rPr lang="zh-CN" altLang="en-US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投影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获得投影的方法称</a:t>
            </a:r>
            <a:r>
              <a:rPr lang="zh-CN" altLang="en-US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投影法</a:t>
            </a:r>
            <a:r>
              <a:rPr lang="zh-CN" altLang="en-US" sz="14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20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2000"/>
                                        <p:tgtEl>
                                          <p:spTgt spid="5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2000"/>
                                        <p:tgtEl>
                                          <p:spTgt spid="5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2000"/>
                                        <p:tgtEl>
                                          <p:spTgt spid="5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699234" y="364233"/>
            <a:ext cx="3954780" cy="64516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l"/>
            <a:r>
              <a:rPr lang="zh-CN" altLang="en-US" sz="3600" b="1" i="1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3.</a:t>
            </a:r>
            <a:r>
              <a:rPr lang="en-US" altLang="zh-CN" sz="3600" b="1" i="1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1.2</a:t>
            </a:r>
            <a:r>
              <a:rPr lang="zh-CN" altLang="en-US" sz="3600" b="1" i="1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投影法的类别</a:t>
            </a:r>
            <a:endParaRPr lang="en-US" altLang="zh-CN" sz="3600" b="1" i="1" dirty="0">
              <a:solidFill>
                <a:srgbClr val="0066CC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185" name="文本框 6184"/>
          <p:cNvSpPr txBox="1"/>
          <p:nvPr/>
        </p:nvSpPr>
        <p:spPr>
          <a:xfrm>
            <a:off x="1555750" y="5414963"/>
            <a:ext cx="3960813" cy="7372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中心投影法一般不反映物体的实际大小和形状，由于</a:t>
            </a:r>
            <a:r>
              <a:rPr lang="zh-CN" altLang="en-US" sz="140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度量性差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，在工程制图中不采用此种方法。</a:t>
            </a:r>
          </a:p>
        </p:txBody>
      </p:sp>
      <p:sp>
        <p:nvSpPr>
          <p:cNvPr id="6191" name="Line 18"/>
          <p:cNvSpPr/>
          <p:nvPr/>
        </p:nvSpPr>
        <p:spPr>
          <a:xfrm flipH="1">
            <a:off x="2028825" y="3282950"/>
            <a:ext cx="1905000" cy="1524000"/>
          </a:xfrm>
          <a:prstGeom prst="line">
            <a:avLst/>
          </a:prstGeom>
          <a:ln w="2540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92" name="Line 27"/>
          <p:cNvSpPr/>
          <p:nvPr/>
        </p:nvSpPr>
        <p:spPr>
          <a:xfrm flipH="1">
            <a:off x="6913563" y="3467100"/>
            <a:ext cx="1981200" cy="838200"/>
          </a:xfrm>
          <a:prstGeom prst="line">
            <a:avLst/>
          </a:prstGeom>
          <a:ln w="2540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329730" name="Picture 2" descr="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6813" y="2568575"/>
            <a:ext cx="1295400" cy="12954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29731" name="Picture 3" descr="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5975" y="3324225"/>
            <a:ext cx="1771650" cy="17256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95" name="Line 4"/>
          <p:cNvSpPr/>
          <p:nvPr/>
        </p:nvSpPr>
        <p:spPr>
          <a:xfrm>
            <a:off x="3781425" y="2225675"/>
            <a:ext cx="0" cy="1295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96" name="Line 5"/>
          <p:cNvSpPr/>
          <p:nvPr/>
        </p:nvSpPr>
        <p:spPr>
          <a:xfrm>
            <a:off x="3781425" y="3521075"/>
            <a:ext cx="1676400" cy="609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97" name="Line 6"/>
          <p:cNvSpPr/>
          <p:nvPr/>
        </p:nvSpPr>
        <p:spPr>
          <a:xfrm>
            <a:off x="3781425" y="2225675"/>
            <a:ext cx="1676400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329735" name="Picture 7" descr="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7625" y="2378075"/>
            <a:ext cx="1295400" cy="1295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99" name="Line 8"/>
          <p:cNvSpPr/>
          <p:nvPr/>
        </p:nvSpPr>
        <p:spPr>
          <a:xfrm>
            <a:off x="8588375" y="2451100"/>
            <a:ext cx="1676400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200" name="Line 11"/>
          <p:cNvSpPr/>
          <p:nvPr/>
        </p:nvSpPr>
        <p:spPr>
          <a:xfrm>
            <a:off x="10264775" y="2984500"/>
            <a:ext cx="0" cy="1371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201" name="Line 12"/>
          <p:cNvSpPr/>
          <p:nvPr/>
        </p:nvSpPr>
        <p:spPr>
          <a:xfrm>
            <a:off x="8588375" y="2451100"/>
            <a:ext cx="0" cy="1295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202" name="Line 13"/>
          <p:cNvSpPr/>
          <p:nvPr/>
        </p:nvSpPr>
        <p:spPr>
          <a:xfrm>
            <a:off x="8588375" y="3746500"/>
            <a:ext cx="1676400" cy="609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329744" name="Picture 16" descr="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9425" y="3521075"/>
            <a:ext cx="990600" cy="9636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206" name="Line 17"/>
          <p:cNvSpPr/>
          <p:nvPr/>
        </p:nvSpPr>
        <p:spPr>
          <a:xfrm flipH="1">
            <a:off x="2019300" y="2501900"/>
            <a:ext cx="2286000" cy="2286000"/>
          </a:xfrm>
          <a:prstGeom prst="line">
            <a:avLst/>
          </a:prstGeom>
          <a:ln w="2540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207" name="Line 19"/>
          <p:cNvSpPr/>
          <p:nvPr/>
        </p:nvSpPr>
        <p:spPr>
          <a:xfrm flipH="1">
            <a:off x="2028825" y="3527425"/>
            <a:ext cx="3048000" cy="1295400"/>
          </a:xfrm>
          <a:prstGeom prst="line">
            <a:avLst/>
          </a:prstGeom>
          <a:ln w="2540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208" name="Oval 20"/>
          <p:cNvSpPr/>
          <p:nvPr/>
        </p:nvSpPr>
        <p:spPr>
          <a:xfrm>
            <a:off x="2008188" y="4745038"/>
            <a:ext cx="96837" cy="96837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 lang="zh-CN" altLang="en-US" b="1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329749" name="Rectangle 21"/>
          <p:cNvSpPr/>
          <p:nvPr/>
        </p:nvSpPr>
        <p:spPr>
          <a:xfrm>
            <a:off x="1441450" y="4864100"/>
            <a:ext cx="1893888" cy="3067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1400" b="1">
                <a:latin typeface="Times New Roman" panose="02020603050405020304" pitchFamily="18" charset="0"/>
              </a:rPr>
              <a:t>S </a:t>
            </a:r>
            <a:r>
              <a:rPr lang="zh-CN" altLang="en-US" sz="1400" b="1" dirty="0">
                <a:latin typeface="Times New Roman" panose="02020603050405020304" pitchFamily="18" charset="0"/>
              </a:rPr>
              <a:t>投射中心</a:t>
            </a:r>
          </a:p>
        </p:txBody>
      </p:sp>
      <p:sp>
        <p:nvSpPr>
          <p:cNvPr id="329750" name="Rectangle 22"/>
          <p:cNvSpPr/>
          <p:nvPr/>
        </p:nvSpPr>
        <p:spPr>
          <a:xfrm>
            <a:off x="7338378" y="3065780"/>
            <a:ext cx="1590675" cy="3067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1400" b="1">
                <a:latin typeface="宋体" panose="02010600030101010101" pitchFamily="2" charset="-122"/>
              </a:rPr>
              <a:t>A</a:t>
            </a:r>
          </a:p>
        </p:txBody>
      </p:sp>
      <p:sp>
        <p:nvSpPr>
          <p:cNvPr id="329751" name="Rectangle 23"/>
          <p:cNvSpPr/>
          <p:nvPr/>
        </p:nvSpPr>
        <p:spPr>
          <a:xfrm>
            <a:off x="2181225" y="2682875"/>
            <a:ext cx="952500" cy="3067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</a:rPr>
              <a:t>投射线</a:t>
            </a:r>
          </a:p>
        </p:txBody>
      </p:sp>
      <p:sp>
        <p:nvSpPr>
          <p:cNvPr id="329752" name="Line 24"/>
          <p:cNvSpPr/>
          <p:nvPr/>
        </p:nvSpPr>
        <p:spPr>
          <a:xfrm>
            <a:off x="2928938" y="3049588"/>
            <a:ext cx="457200" cy="36036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213" name="Rectangle 25"/>
          <p:cNvSpPr/>
          <p:nvPr/>
        </p:nvSpPr>
        <p:spPr>
          <a:xfrm>
            <a:off x="2878455" y="1566545"/>
            <a:ext cx="219837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30000"/>
              </a:spcBef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中心投影法</a:t>
            </a:r>
          </a:p>
        </p:txBody>
      </p:sp>
      <p:sp>
        <p:nvSpPr>
          <p:cNvPr id="6214" name="Line 26"/>
          <p:cNvSpPr/>
          <p:nvPr/>
        </p:nvSpPr>
        <p:spPr>
          <a:xfrm flipH="1">
            <a:off x="6835775" y="2711450"/>
            <a:ext cx="2362200" cy="990600"/>
          </a:xfrm>
          <a:prstGeom prst="line">
            <a:avLst/>
          </a:prstGeom>
          <a:ln w="2540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215" name="Line 28"/>
          <p:cNvSpPr/>
          <p:nvPr/>
        </p:nvSpPr>
        <p:spPr>
          <a:xfrm flipH="1">
            <a:off x="7369175" y="3719513"/>
            <a:ext cx="2590800" cy="1143000"/>
          </a:xfrm>
          <a:prstGeom prst="line">
            <a:avLst/>
          </a:prstGeom>
          <a:ln w="2540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216" name="Rectangle 29"/>
          <p:cNvSpPr/>
          <p:nvPr/>
        </p:nvSpPr>
        <p:spPr>
          <a:xfrm>
            <a:off x="5076825" y="2754313"/>
            <a:ext cx="2984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spcBef>
                <a:spcPct val="30000"/>
              </a:spcBef>
            </a:pPr>
            <a:r>
              <a:rPr lang="en-US" altLang="zh-CN" b="1">
                <a:solidFill>
                  <a:srgbClr val="FFFF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P</a:t>
            </a:r>
          </a:p>
        </p:txBody>
      </p:sp>
      <p:sp>
        <p:nvSpPr>
          <p:cNvPr id="6217" name="Rectangle 30"/>
          <p:cNvSpPr/>
          <p:nvPr/>
        </p:nvSpPr>
        <p:spPr>
          <a:xfrm>
            <a:off x="9964738" y="2927350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spcBef>
                <a:spcPct val="30000"/>
              </a:spcBef>
            </a:pPr>
            <a:r>
              <a:rPr lang="en-US" altLang="zh-CN" b="1">
                <a:solidFill>
                  <a:srgbClr val="01010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P</a:t>
            </a:r>
          </a:p>
        </p:txBody>
      </p:sp>
      <p:sp>
        <p:nvSpPr>
          <p:cNvPr id="6220" name="Line 35"/>
          <p:cNvSpPr/>
          <p:nvPr/>
        </p:nvSpPr>
        <p:spPr>
          <a:xfrm>
            <a:off x="5457825" y="2759075"/>
            <a:ext cx="0" cy="1371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224" name="Rectangle 39"/>
          <p:cNvSpPr/>
          <p:nvPr/>
        </p:nvSpPr>
        <p:spPr>
          <a:xfrm>
            <a:off x="5065713" y="2676525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rgbClr val="010101"/>
                </a:solidFill>
                <a:latin typeface="宋体" panose="02010600030101010101" pitchFamily="2" charset="-122"/>
              </a:rPr>
              <a:t>P</a:t>
            </a:r>
          </a:p>
        </p:txBody>
      </p:sp>
      <p:sp>
        <p:nvSpPr>
          <p:cNvPr id="329768" name="Rectangle 40"/>
          <p:cNvSpPr/>
          <p:nvPr/>
        </p:nvSpPr>
        <p:spPr>
          <a:xfrm>
            <a:off x="3746500" y="3230563"/>
            <a:ext cx="731838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 i="1">
                <a:latin typeface="Times New Roman" panose="02020603050405020304" pitchFamily="18" charset="0"/>
              </a:rPr>
              <a:t>b</a:t>
            </a:r>
            <a:endParaRPr lang="en-US" altLang="zh-CN" b="1">
              <a:latin typeface="Times New Roman" panose="02020603050405020304" pitchFamily="18" charset="0"/>
            </a:endParaRPr>
          </a:p>
        </p:txBody>
      </p:sp>
      <p:sp>
        <p:nvSpPr>
          <p:cNvPr id="329769" name="Rectangle 41"/>
          <p:cNvSpPr/>
          <p:nvPr/>
        </p:nvSpPr>
        <p:spPr>
          <a:xfrm>
            <a:off x="4922838" y="3411538"/>
            <a:ext cx="731837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 i="1">
                <a:latin typeface="Times New Roman" panose="02020603050405020304" pitchFamily="18" charset="0"/>
              </a:rPr>
              <a:t>c</a:t>
            </a:r>
            <a:endParaRPr lang="en-US" altLang="zh-CN" b="1">
              <a:latin typeface="Times New Roman" panose="02020603050405020304" pitchFamily="18" charset="0"/>
            </a:endParaRPr>
          </a:p>
        </p:txBody>
      </p:sp>
      <p:sp>
        <p:nvSpPr>
          <p:cNvPr id="329770" name="Rectangle 42"/>
          <p:cNvSpPr/>
          <p:nvPr/>
        </p:nvSpPr>
        <p:spPr>
          <a:xfrm>
            <a:off x="8347075" y="4397375"/>
            <a:ext cx="692150" cy="3067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1400" b="1">
                <a:latin typeface="宋体" panose="02010600030101010101" pitchFamily="2" charset="-122"/>
              </a:rPr>
              <a:t>C</a:t>
            </a:r>
          </a:p>
        </p:txBody>
      </p:sp>
      <p:sp>
        <p:nvSpPr>
          <p:cNvPr id="329771" name="Rectangle 43"/>
          <p:cNvSpPr/>
          <p:nvPr/>
        </p:nvSpPr>
        <p:spPr>
          <a:xfrm>
            <a:off x="3041650" y="3261360"/>
            <a:ext cx="685800" cy="3067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1400" b="1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329772" name="Rectangle 44"/>
          <p:cNvSpPr/>
          <p:nvPr/>
        </p:nvSpPr>
        <p:spPr>
          <a:xfrm>
            <a:off x="2895600" y="3983673"/>
            <a:ext cx="685800" cy="3067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1400" b="1">
                <a:latin typeface="宋体" panose="02010600030101010101" pitchFamily="2" charset="-122"/>
              </a:rPr>
              <a:t>B</a:t>
            </a:r>
          </a:p>
        </p:txBody>
      </p:sp>
      <p:sp>
        <p:nvSpPr>
          <p:cNvPr id="329773" name="Rectangle 45"/>
          <p:cNvSpPr/>
          <p:nvPr/>
        </p:nvSpPr>
        <p:spPr>
          <a:xfrm>
            <a:off x="3614738" y="4163060"/>
            <a:ext cx="685800" cy="3067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1400" b="1">
                <a:latin typeface="宋体" panose="02010600030101010101" pitchFamily="2" charset="-122"/>
              </a:rPr>
              <a:t>C</a:t>
            </a:r>
          </a:p>
        </p:txBody>
      </p:sp>
      <p:sp>
        <p:nvSpPr>
          <p:cNvPr id="329774" name="Rectangle 46"/>
          <p:cNvSpPr/>
          <p:nvPr/>
        </p:nvSpPr>
        <p:spPr>
          <a:xfrm>
            <a:off x="8642350" y="3424238"/>
            <a:ext cx="731838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 i="1">
                <a:latin typeface="Times New Roman" panose="02020603050405020304" pitchFamily="18" charset="0"/>
              </a:rPr>
              <a:t>b</a:t>
            </a:r>
            <a:endParaRPr lang="en-US" altLang="zh-CN" b="1">
              <a:latin typeface="Times New Roman" panose="02020603050405020304" pitchFamily="18" charset="0"/>
            </a:endParaRPr>
          </a:p>
        </p:txBody>
      </p:sp>
      <p:sp>
        <p:nvSpPr>
          <p:cNvPr id="329775" name="Rectangle 47"/>
          <p:cNvSpPr/>
          <p:nvPr/>
        </p:nvSpPr>
        <p:spPr>
          <a:xfrm>
            <a:off x="9831388" y="3641725"/>
            <a:ext cx="731837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 i="1">
                <a:latin typeface="Times New Roman" panose="02020603050405020304" pitchFamily="18" charset="0"/>
              </a:rPr>
              <a:t>c</a:t>
            </a:r>
            <a:endParaRPr lang="en-US" altLang="zh-CN" b="1">
              <a:latin typeface="Times New Roman" panose="02020603050405020304" pitchFamily="18" charset="0"/>
            </a:endParaRPr>
          </a:p>
        </p:txBody>
      </p:sp>
      <p:sp>
        <p:nvSpPr>
          <p:cNvPr id="329776" name="Text Box 48"/>
          <p:cNvSpPr txBox="1"/>
          <p:nvPr/>
        </p:nvSpPr>
        <p:spPr>
          <a:xfrm>
            <a:off x="4033838" y="2259013"/>
            <a:ext cx="298450" cy="366712"/>
          </a:xfrm>
          <a:prstGeom prst="rect">
            <a:avLst/>
          </a:prstGeom>
          <a:noFill/>
          <a:ln w="12700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b="1" i="1">
                <a:latin typeface="Times New Roman" panose="02020603050405020304" pitchFamily="18" charset="0"/>
                <a:ea typeface="_x000B__x000C_"/>
              </a:rPr>
              <a:t>a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29777" name="Text Box 49"/>
          <p:cNvSpPr txBox="1"/>
          <p:nvPr/>
        </p:nvSpPr>
        <p:spPr>
          <a:xfrm>
            <a:off x="8858250" y="2489200"/>
            <a:ext cx="298450" cy="366713"/>
          </a:xfrm>
          <a:prstGeom prst="rect">
            <a:avLst/>
          </a:prstGeom>
          <a:noFill/>
          <a:ln w="12700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b="1" i="1">
                <a:latin typeface="Times New Roman" panose="02020603050405020304" pitchFamily="18" charset="0"/>
                <a:ea typeface="_x000B__x000C_"/>
              </a:rPr>
              <a:t>a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29778" name="Rectangle 50"/>
          <p:cNvSpPr/>
          <p:nvPr/>
        </p:nvSpPr>
        <p:spPr>
          <a:xfrm>
            <a:off x="7124700" y="4129088"/>
            <a:ext cx="273050" cy="30670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1400" b="1">
                <a:latin typeface="宋体" panose="02010600030101010101" pitchFamily="2" charset="-122"/>
              </a:rPr>
              <a:t>B</a:t>
            </a:r>
          </a:p>
        </p:txBody>
      </p:sp>
      <p:sp>
        <p:nvSpPr>
          <p:cNvPr id="6236" name="文本框 6235"/>
          <p:cNvSpPr txBox="1"/>
          <p:nvPr/>
        </p:nvSpPr>
        <p:spPr>
          <a:xfrm>
            <a:off x="6802120" y="5415280"/>
            <a:ext cx="378206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在平行投影法中投影大小与物体和投影面间距离无关，</a:t>
            </a:r>
            <a:r>
              <a:rPr lang="zh-CN" altLang="en-US" sz="140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度量</a:t>
            </a:r>
            <a:r>
              <a:rPr lang="zh-CN" altLang="en-US" sz="1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性好。</a:t>
            </a:r>
            <a:endParaRPr lang="en-US" altLang="zh-CN" sz="140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966710" y="1566545"/>
            <a:ext cx="1325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ct val="30000"/>
              </a:spcBef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平行投影法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9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9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9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9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2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2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297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297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9" dur="1000"/>
                                        <p:tgtEl>
                                          <p:spTgt spid="3297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6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6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6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29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9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9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9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9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9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9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3297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00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9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6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6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000"/>
                            </p:stCondLst>
                            <p:childTnLst>
                              <p:par>
                                <p:cTn id="9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6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9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9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00"/>
                            </p:stCondLst>
                            <p:childTnLst>
                              <p:par>
                                <p:cTn id="10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9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2000"/>
                                        <p:tgtEl>
                                          <p:spTgt spid="6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85" grpId="0"/>
      <p:bldP spid="6208" grpId="0" bldLvl="0" animBg="1"/>
      <p:bldP spid="329750" grpId="0"/>
      <p:bldP spid="329751" grpId="0"/>
      <p:bldP spid="329768" grpId="0"/>
      <p:bldP spid="329769" grpId="0"/>
      <p:bldP spid="329770" grpId="0"/>
      <p:bldP spid="329771" grpId="0"/>
      <p:bldP spid="329772" grpId="0"/>
      <p:bldP spid="329773" grpId="0"/>
      <p:bldP spid="329774" grpId="0"/>
      <p:bldP spid="329775" grpId="0"/>
      <p:bldP spid="329776" grpId="0"/>
      <p:bldP spid="329777" grpId="0"/>
      <p:bldP spid="623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组合 9217"/>
          <p:cNvGrpSpPr/>
          <p:nvPr/>
        </p:nvGrpSpPr>
        <p:grpSpPr>
          <a:xfrm>
            <a:off x="6751003" y="2927985"/>
            <a:ext cx="3319462" cy="3140075"/>
            <a:chOff x="0" y="0"/>
            <a:chExt cx="2091" cy="1978"/>
          </a:xfrm>
        </p:grpSpPr>
        <p:grpSp>
          <p:nvGrpSpPr>
            <p:cNvPr id="9219" name="组合 9218"/>
            <p:cNvGrpSpPr/>
            <p:nvPr/>
          </p:nvGrpSpPr>
          <p:grpSpPr>
            <a:xfrm>
              <a:off x="0" y="0"/>
              <a:ext cx="2091" cy="1978"/>
              <a:chOff x="0" y="0"/>
              <a:chExt cx="2091" cy="1978"/>
            </a:xfrm>
          </p:grpSpPr>
          <p:sp>
            <p:nvSpPr>
              <p:cNvPr id="9220" name="文本框 9219"/>
              <p:cNvSpPr txBox="1"/>
              <p:nvPr/>
            </p:nvSpPr>
            <p:spPr>
              <a:xfrm>
                <a:off x="136" y="45"/>
                <a:ext cx="182" cy="19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1400" b="1" i="1">
                    <a:latin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9221" name="文本框 9220"/>
              <p:cNvSpPr txBox="1"/>
              <p:nvPr/>
            </p:nvSpPr>
            <p:spPr>
              <a:xfrm>
                <a:off x="1406" y="0"/>
                <a:ext cx="182" cy="19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1400" b="1" i="1">
                    <a:latin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9222" name="文本框 9221"/>
              <p:cNvSpPr txBox="1"/>
              <p:nvPr/>
            </p:nvSpPr>
            <p:spPr>
              <a:xfrm>
                <a:off x="635" y="449"/>
                <a:ext cx="182" cy="19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1400" b="1" i="1">
                    <a:latin typeface="Times New Roman" panose="02020603050405020304" pitchFamily="18" charset="0"/>
                  </a:rPr>
                  <a:t>C</a:t>
                </a:r>
              </a:p>
            </p:txBody>
          </p:sp>
          <p:grpSp>
            <p:nvGrpSpPr>
              <p:cNvPr id="9223" name="组合 9222"/>
              <p:cNvGrpSpPr/>
              <p:nvPr/>
            </p:nvGrpSpPr>
            <p:grpSpPr>
              <a:xfrm>
                <a:off x="0" y="136"/>
                <a:ext cx="2091" cy="1842"/>
                <a:chOff x="0" y="0"/>
                <a:chExt cx="2091" cy="1842"/>
              </a:xfrm>
            </p:grpSpPr>
            <p:sp>
              <p:nvSpPr>
                <p:cNvPr id="9224" name="平行四边形 9223"/>
                <p:cNvSpPr/>
                <p:nvPr/>
              </p:nvSpPr>
              <p:spPr>
                <a:xfrm rot="-10878419" flipH="1">
                  <a:off x="0" y="862"/>
                  <a:ext cx="2091" cy="980"/>
                </a:xfrm>
                <a:prstGeom prst="parallelogram">
                  <a:avLst>
                    <a:gd name="adj" fmla="val 53341"/>
                  </a:avLst>
                </a:prstGeom>
                <a:noFill/>
                <a:ln w="9525" cap="flat" cmpd="sng">
                  <a:solidFill>
                    <a:srgbClr val="808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sz="1400"/>
                </a:p>
              </p:txBody>
            </p:sp>
            <p:sp>
              <p:nvSpPr>
                <p:cNvPr id="9225" name="直接连接符 9224"/>
                <p:cNvSpPr/>
                <p:nvPr/>
              </p:nvSpPr>
              <p:spPr>
                <a:xfrm>
                  <a:off x="363" y="45"/>
                  <a:ext cx="499" cy="318"/>
                </a:xfrm>
                <a:prstGeom prst="line">
                  <a:avLst/>
                </a:prstGeom>
                <a:ln w="9525">
                  <a:noFill/>
                </a:ln>
              </p:spPr>
            </p:sp>
            <p:sp>
              <p:nvSpPr>
                <p:cNvPr id="9226" name="直接连接符 9225"/>
                <p:cNvSpPr/>
                <p:nvPr/>
              </p:nvSpPr>
              <p:spPr>
                <a:xfrm flipV="1">
                  <a:off x="862" y="0"/>
                  <a:ext cx="590" cy="363"/>
                </a:xfrm>
                <a:prstGeom prst="line">
                  <a:avLst/>
                </a:prstGeom>
                <a:ln w="9525">
                  <a:noFill/>
                </a:ln>
              </p:spPr>
            </p:sp>
            <p:sp>
              <p:nvSpPr>
                <p:cNvPr id="9227" name="直接连接符 9226"/>
                <p:cNvSpPr/>
                <p:nvPr/>
              </p:nvSpPr>
              <p:spPr>
                <a:xfrm flipH="1">
                  <a:off x="363" y="0"/>
                  <a:ext cx="1089" cy="45"/>
                </a:xfrm>
                <a:prstGeom prst="line">
                  <a:avLst/>
                </a:prstGeom>
                <a:ln w="9525">
                  <a:noFill/>
                </a:ln>
              </p:spPr>
            </p:sp>
            <p:sp>
              <p:nvSpPr>
                <p:cNvPr id="9228" name="文本框 9227"/>
                <p:cNvSpPr txBox="1"/>
                <p:nvPr/>
              </p:nvSpPr>
              <p:spPr>
                <a:xfrm rot="19279354">
                  <a:off x="517" y="1582"/>
                  <a:ext cx="182" cy="19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1400" b="1" i="1">
                      <a:latin typeface="Times New Roman" panose="02020603050405020304" pitchFamily="18" charset="0"/>
                    </a:rPr>
                    <a:t>P</a:t>
                  </a:r>
                </a:p>
              </p:txBody>
            </p:sp>
          </p:grpSp>
        </p:grpSp>
        <p:grpSp>
          <p:nvGrpSpPr>
            <p:cNvPr id="9229" name="组合 9228"/>
            <p:cNvGrpSpPr/>
            <p:nvPr/>
          </p:nvGrpSpPr>
          <p:grpSpPr>
            <a:xfrm>
              <a:off x="363" y="0"/>
              <a:ext cx="1089" cy="363"/>
              <a:chOff x="0" y="0"/>
              <a:chExt cx="1089" cy="363"/>
            </a:xfrm>
          </p:grpSpPr>
          <p:sp>
            <p:nvSpPr>
              <p:cNvPr id="9230" name="直接连接符 9229"/>
              <p:cNvSpPr/>
              <p:nvPr/>
            </p:nvSpPr>
            <p:spPr>
              <a:xfrm>
                <a:off x="0" y="91"/>
                <a:ext cx="499" cy="272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231" name="直接连接符 9230"/>
              <p:cNvSpPr/>
              <p:nvPr/>
            </p:nvSpPr>
            <p:spPr>
              <a:xfrm flipV="1">
                <a:off x="499" y="0"/>
                <a:ext cx="590" cy="363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232" name="直接连接符 9231"/>
              <p:cNvSpPr/>
              <p:nvPr/>
            </p:nvSpPr>
            <p:spPr>
              <a:xfrm flipH="1">
                <a:off x="0" y="0"/>
                <a:ext cx="1089" cy="91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9233" name="直接连接符 9232"/>
          <p:cNvSpPr/>
          <p:nvPr/>
        </p:nvSpPr>
        <p:spPr>
          <a:xfrm>
            <a:off x="4112895" y="3555365"/>
            <a:ext cx="0" cy="865188"/>
          </a:xfrm>
          <a:prstGeom prst="line">
            <a:avLst/>
          </a:prstGeom>
          <a:ln w="9525" cap="flat" cmpd="sng">
            <a:solidFill>
              <a:srgbClr val="CC33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234" name="文本框 9233"/>
          <p:cNvSpPr txBox="1"/>
          <p:nvPr/>
        </p:nvSpPr>
        <p:spPr>
          <a:xfrm>
            <a:off x="4112895" y="3771265"/>
            <a:ext cx="358775" cy="3067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400" b="1" i="1">
                <a:latin typeface="Times New Roman" panose="02020603050405020304" pitchFamily="18" charset="0"/>
              </a:rPr>
              <a:t>S</a:t>
            </a:r>
          </a:p>
        </p:txBody>
      </p:sp>
      <p:grpSp>
        <p:nvGrpSpPr>
          <p:cNvPr id="9236" name="组合 9235"/>
          <p:cNvGrpSpPr/>
          <p:nvPr/>
        </p:nvGrpSpPr>
        <p:grpSpPr>
          <a:xfrm>
            <a:off x="1736408" y="3268028"/>
            <a:ext cx="3319462" cy="2852737"/>
            <a:chOff x="0" y="0"/>
            <a:chExt cx="2091" cy="1797"/>
          </a:xfrm>
        </p:grpSpPr>
        <p:sp>
          <p:nvSpPr>
            <p:cNvPr id="9237" name="直接连接符 9236"/>
            <p:cNvSpPr/>
            <p:nvPr/>
          </p:nvSpPr>
          <p:spPr>
            <a:xfrm flipV="1">
              <a:off x="680" y="0"/>
              <a:ext cx="590" cy="363"/>
            </a:xfrm>
            <a:prstGeom prst="line">
              <a:avLst/>
            </a:prstGeom>
            <a:ln w="9525">
              <a:noFill/>
            </a:ln>
          </p:spPr>
        </p:sp>
        <p:sp>
          <p:nvSpPr>
            <p:cNvPr id="9238" name="平行四边形 9237"/>
            <p:cNvSpPr/>
            <p:nvPr/>
          </p:nvSpPr>
          <p:spPr>
            <a:xfrm rot="-10878419" flipH="1">
              <a:off x="0" y="817"/>
              <a:ext cx="2091" cy="980"/>
            </a:xfrm>
            <a:prstGeom prst="parallelogram">
              <a:avLst>
                <a:gd name="adj" fmla="val 53341"/>
              </a:avLst>
            </a:prstGeom>
            <a:solidFill>
              <a:schemeClr val="bg1"/>
            </a:solidFill>
            <a:ln w="9525" cap="flat" cmpd="sng">
              <a:solidFill>
                <a:srgbClr val="808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9239" name="文本框 9238"/>
            <p:cNvSpPr txBox="1"/>
            <p:nvPr/>
          </p:nvSpPr>
          <p:spPr>
            <a:xfrm rot="20177184">
              <a:off x="450" y="1571"/>
              <a:ext cx="182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1400" b="1" i="1">
                  <a:latin typeface="Times New Roman" panose="02020603050405020304" pitchFamily="18" charset="0"/>
                </a:rPr>
                <a:t>P</a:t>
              </a:r>
            </a:p>
          </p:txBody>
        </p:sp>
      </p:grpSp>
      <p:sp>
        <p:nvSpPr>
          <p:cNvPr id="9240" name="直接连接符 9239"/>
          <p:cNvSpPr/>
          <p:nvPr/>
        </p:nvSpPr>
        <p:spPr>
          <a:xfrm flipV="1">
            <a:off x="2815908" y="5190490"/>
            <a:ext cx="936625" cy="576263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9241" name="组合 9240"/>
          <p:cNvGrpSpPr/>
          <p:nvPr/>
        </p:nvGrpSpPr>
        <p:grpSpPr>
          <a:xfrm>
            <a:off x="7327265" y="2207260"/>
            <a:ext cx="2374900" cy="3241675"/>
            <a:chOff x="0" y="0"/>
            <a:chExt cx="1496" cy="2042"/>
          </a:xfrm>
        </p:grpSpPr>
        <p:grpSp>
          <p:nvGrpSpPr>
            <p:cNvPr id="9242" name="组合 9241"/>
            <p:cNvGrpSpPr/>
            <p:nvPr/>
          </p:nvGrpSpPr>
          <p:grpSpPr>
            <a:xfrm>
              <a:off x="0" y="0"/>
              <a:ext cx="1089" cy="2042"/>
              <a:chOff x="0" y="0"/>
              <a:chExt cx="1089" cy="2042"/>
            </a:xfrm>
          </p:grpSpPr>
          <p:grpSp>
            <p:nvGrpSpPr>
              <p:cNvPr id="9243" name="组合 9242"/>
              <p:cNvGrpSpPr/>
              <p:nvPr/>
            </p:nvGrpSpPr>
            <p:grpSpPr>
              <a:xfrm>
                <a:off x="0" y="0"/>
                <a:ext cx="1089" cy="2042"/>
                <a:chOff x="0" y="0"/>
                <a:chExt cx="1089" cy="2042"/>
              </a:xfrm>
            </p:grpSpPr>
            <p:sp>
              <p:nvSpPr>
                <p:cNvPr id="9244" name="直接连接符 9243"/>
                <p:cNvSpPr/>
                <p:nvPr/>
              </p:nvSpPr>
              <p:spPr>
                <a:xfrm flipV="1">
                  <a:off x="1070" y="0"/>
                  <a:ext cx="19" cy="1679"/>
                </a:xfrm>
                <a:prstGeom prst="line">
                  <a:avLst/>
                </a:prstGeom>
                <a:ln w="9525" cap="flat" cmpd="sng">
                  <a:solidFill>
                    <a:srgbClr val="CC33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9245" name="直接连接符 9244"/>
                <p:cNvSpPr/>
                <p:nvPr/>
              </p:nvSpPr>
              <p:spPr>
                <a:xfrm flipV="1">
                  <a:off x="499" y="46"/>
                  <a:ext cx="0" cy="1996"/>
                </a:xfrm>
                <a:prstGeom prst="line">
                  <a:avLst/>
                </a:prstGeom>
                <a:ln w="9525" cap="flat" cmpd="sng">
                  <a:solidFill>
                    <a:srgbClr val="CC33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9246" name="直接连接符 9245"/>
                <p:cNvSpPr/>
                <p:nvPr/>
              </p:nvSpPr>
              <p:spPr>
                <a:xfrm flipV="1">
                  <a:off x="0" y="136"/>
                  <a:ext cx="0" cy="1588"/>
                </a:xfrm>
                <a:prstGeom prst="line">
                  <a:avLst/>
                </a:prstGeom>
                <a:ln w="9525" cap="flat" cmpd="sng">
                  <a:solidFill>
                    <a:srgbClr val="CC33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9247" name="直接连接符 9246"/>
              <p:cNvSpPr/>
              <p:nvPr/>
            </p:nvSpPr>
            <p:spPr>
              <a:xfrm>
                <a:off x="1085" y="136"/>
                <a:ext cx="0" cy="318"/>
              </a:xfrm>
              <a:prstGeom prst="line">
                <a:avLst/>
              </a:prstGeom>
              <a:ln w="9525" cap="flat" cmpd="sng">
                <a:solidFill>
                  <a:srgbClr val="CC33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9248" name="直接连接符 9247"/>
              <p:cNvSpPr/>
              <p:nvPr/>
            </p:nvSpPr>
            <p:spPr>
              <a:xfrm>
                <a:off x="0" y="136"/>
                <a:ext cx="0" cy="318"/>
              </a:xfrm>
              <a:prstGeom prst="line">
                <a:avLst/>
              </a:prstGeom>
              <a:ln w="9525" cap="flat" cmpd="sng">
                <a:solidFill>
                  <a:srgbClr val="CC33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9249" name="直接连接符 9248"/>
              <p:cNvSpPr/>
              <p:nvPr/>
            </p:nvSpPr>
            <p:spPr>
              <a:xfrm>
                <a:off x="503" y="91"/>
                <a:ext cx="0" cy="318"/>
              </a:xfrm>
              <a:prstGeom prst="line">
                <a:avLst/>
              </a:prstGeom>
              <a:ln w="9525" cap="flat" cmpd="sng">
                <a:solidFill>
                  <a:srgbClr val="CC3300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grpSp>
          <p:nvGrpSpPr>
            <p:cNvPr id="9250" name="组合 9249"/>
            <p:cNvGrpSpPr/>
            <p:nvPr/>
          </p:nvGrpSpPr>
          <p:grpSpPr>
            <a:xfrm>
              <a:off x="1270" y="908"/>
              <a:ext cx="226" cy="545"/>
              <a:chOff x="0" y="0"/>
              <a:chExt cx="226" cy="545"/>
            </a:xfrm>
          </p:grpSpPr>
          <p:sp>
            <p:nvSpPr>
              <p:cNvPr id="9251" name="直接连接符 9250"/>
              <p:cNvSpPr/>
              <p:nvPr/>
            </p:nvSpPr>
            <p:spPr>
              <a:xfrm>
                <a:off x="0" y="0"/>
                <a:ext cx="0" cy="545"/>
              </a:xfrm>
              <a:prstGeom prst="line">
                <a:avLst/>
              </a:prstGeom>
              <a:ln w="9525" cap="flat" cmpd="sng">
                <a:solidFill>
                  <a:srgbClr val="CC33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9252" name="文本框 9251"/>
              <p:cNvSpPr txBox="1"/>
              <p:nvPr/>
            </p:nvSpPr>
            <p:spPr>
              <a:xfrm>
                <a:off x="0" y="136"/>
                <a:ext cx="226" cy="19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1400" b="1" i="1">
                    <a:latin typeface="Times New Roman" panose="02020603050405020304" pitchFamily="18" charset="0"/>
                  </a:rPr>
                  <a:t>S</a:t>
                </a:r>
              </a:p>
            </p:txBody>
          </p:sp>
        </p:grpSp>
      </p:grpSp>
      <p:grpSp>
        <p:nvGrpSpPr>
          <p:cNvPr id="9253" name="组合 9252"/>
          <p:cNvGrpSpPr/>
          <p:nvPr/>
        </p:nvGrpSpPr>
        <p:grpSpPr>
          <a:xfrm>
            <a:off x="7058978" y="4728210"/>
            <a:ext cx="2212975" cy="876300"/>
            <a:chOff x="20" y="0"/>
            <a:chExt cx="1394" cy="552"/>
          </a:xfrm>
        </p:grpSpPr>
        <p:grpSp>
          <p:nvGrpSpPr>
            <p:cNvPr id="9254" name="组合 9253"/>
            <p:cNvGrpSpPr/>
            <p:nvPr/>
          </p:nvGrpSpPr>
          <p:grpSpPr>
            <a:xfrm>
              <a:off x="204" y="91"/>
              <a:ext cx="1089" cy="363"/>
              <a:chOff x="0" y="0"/>
              <a:chExt cx="1089" cy="363"/>
            </a:xfrm>
          </p:grpSpPr>
          <p:sp>
            <p:nvSpPr>
              <p:cNvPr id="9255" name="直接连接符 9254"/>
              <p:cNvSpPr/>
              <p:nvPr/>
            </p:nvSpPr>
            <p:spPr>
              <a:xfrm>
                <a:off x="0" y="45"/>
                <a:ext cx="499" cy="318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256" name="直接连接符 9255"/>
              <p:cNvSpPr/>
              <p:nvPr/>
            </p:nvSpPr>
            <p:spPr>
              <a:xfrm flipV="1">
                <a:off x="499" y="0"/>
                <a:ext cx="590" cy="363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257" name="直接连接符 9256"/>
              <p:cNvSpPr/>
              <p:nvPr/>
            </p:nvSpPr>
            <p:spPr>
              <a:xfrm flipH="1">
                <a:off x="0" y="0"/>
                <a:ext cx="1089" cy="45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9258" name="文本框 9257"/>
            <p:cNvSpPr txBox="1"/>
            <p:nvPr/>
          </p:nvSpPr>
          <p:spPr>
            <a:xfrm>
              <a:off x="20" y="46"/>
              <a:ext cx="171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/>
              <a:r>
                <a:rPr lang="en-US" altLang="zh-CN" sz="1400" b="1" i="1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9259" name="文本框 9258"/>
            <p:cNvSpPr txBox="1"/>
            <p:nvPr/>
          </p:nvSpPr>
          <p:spPr>
            <a:xfrm>
              <a:off x="519" y="359"/>
              <a:ext cx="171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/>
              <a:r>
                <a:rPr lang="en-US" altLang="zh-CN" sz="1400" b="1" i="1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9260" name="文本框 9259"/>
            <p:cNvSpPr txBox="1"/>
            <p:nvPr/>
          </p:nvSpPr>
          <p:spPr>
            <a:xfrm>
              <a:off x="1249" y="0"/>
              <a:ext cx="165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/>
              <a:r>
                <a:rPr lang="en-US" altLang="zh-CN" sz="1400" b="1" i="1">
                  <a:latin typeface="Times New Roman" panose="02020603050405020304" pitchFamily="18" charset="0"/>
                </a:rPr>
                <a:t>c</a:t>
              </a:r>
            </a:p>
          </p:txBody>
        </p:sp>
      </p:grpSp>
      <p:sp>
        <p:nvSpPr>
          <p:cNvPr id="9262" name="文本框 9261"/>
          <p:cNvSpPr txBox="1"/>
          <p:nvPr/>
        </p:nvSpPr>
        <p:spPr>
          <a:xfrm>
            <a:off x="2384108" y="3890328"/>
            <a:ext cx="287337" cy="3067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400" b="1" i="1"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9263" name="文本框 9262"/>
          <p:cNvSpPr txBox="1"/>
          <p:nvPr/>
        </p:nvSpPr>
        <p:spPr>
          <a:xfrm>
            <a:off x="3752533" y="3123565"/>
            <a:ext cx="287337" cy="3067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400" b="1" i="1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9264" name="文本框 9263"/>
          <p:cNvSpPr txBox="1"/>
          <p:nvPr/>
        </p:nvSpPr>
        <p:spPr>
          <a:xfrm>
            <a:off x="2560320" y="5581015"/>
            <a:ext cx="358775" cy="3067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400" b="1">
                <a:latin typeface="Arial" panose="020B0604020202020204" pitchFamily="34" charset="0"/>
              </a:rPr>
              <a:t>e</a:t>
            </a:r>
          </a:p>
        </p:txBody>
      </p:sp>
      <p:sp>
        <p:nvSpPr>
          <p:cNvPr id="9265" name="文本框 9264"/>
          <p:cNvSpPr txBox="1"/>
          <p:nvPr/>
        </p:nvSpPr>
        <p:spPr>
          <a:xfrm>
            <a:off x="3752533" y="5061903"/>
            <a:ext cx="358775" cy="3067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400" b="1" i="1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9266" name="直接连接符 9265"/>
          <p:cNvSpPr/>
          <p:nvPr/>
        </p:nvSpPr>
        <p:spPr>
          <a:xfrm>
            <a:off x="2815908" y="2834640"/>
            <a:ext cx="0" cy="720725"/>
          </a:xfrm>
          <a:prstGeom prst="line">
            <a:avLst/>
          </a:prstGeom>
          <a:ln w="9525" cap="flat" cmpd="sng">
            <a:solidFill>
              <a:srgbClr val="CC33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267" name="直接连接符 9266"/>
          <p:cNvSpPr/>
          <p:nvPr/>
        </p:nvSpPr>
        <p:spPr>
          <a:xfrm>
            <a:off x="3752533" y="2666048"/>
            <a:ext cx="0" cy="719137"/>
          </a:xfrm>
          <a:prstGeom prst="line">
            <a:avLst/>
          </a:prstGeom>
          <a:ln w="9525" cap="flat" cmpd="sng">
            <a:solidFill>
              <a:srgbClr val="CC33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268" name="文本框 9267"/>
          <p:cNvSpPr txBox="1"/>
          <p:nvPr/>
        </p:nvSpPr>
        <p:spPr>
          <a:xfrm>
            <a:off x="2171700" y="6158865"/>
            <a:ext cx="2447925" cy="3067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400" b="1" i="1">
                <a:latin typeface="Times New Roman" panose="02020603050405020304" pitchFamily="18" charset="0"/>
              </a:rPr>
              <a:t>ed=ED</a:t>
            </a:r>
          </a:p>
        </p:txBody>
      </p:sp>
      <p:sp>
        <p:nvSpPr>
          <p:cNvPr id="9269" name="文本框 9268"/>
          <p:cNvSpPr txBox="1"/>
          <p:nvPr/>
        </p:nvSpPr>
        <p:spPr>
          <a:xfrm>
            <a:off x="7471728" y="6118860"/>
            <a:ext cx="2303462" cy="3067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1400" b="1" i="1">
                <a:latin typeface="Times New Roman" panose="02020603050405020304" pitchFamily="18" charset="0"/>
              </a:rPr>
              <a:t>△</a:t>
            </a:r>
            <a:r>
              <a:rPr lang="en-US" altLang="zh-CN" sz="1400" b="1" i="1">
                <a:latin typeface="Times New Roman" panose="02020603050405020304" pitchFamily="18" charset="0"/>
              </a:rPr>
              <a:t>abc≌△ABC</a:t>
            </a:r>
          </a:p>
        </p:txBody>
      </p:sp>
      <p:sp>
        <p:nvSpPr>
          <p:cNvPr id="9270" name="直接连接符 9269"/>
          <p:cNvSpPr/>
          <p:nvPr/>
        </p:nvSpPr>
        <p:spPr>
          <a:xfrm flipV="1">
            <a:off x="2815908" y="3483928"/>
            <a:ext cx="936625" cy="576262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71" name="直接连接符 9270"/>
          <p:cNvSpPr/>
          <p:nvPr/>
        </p:nvSpPr>
        <p:spPr>
          <a:xfrm>
            <a:off x="2815908" y="3555365"/>
            <a:ext cx="0" cy="2189163"/>
          </a:xfrm>
          <a:prstGeom prst="line">
            <a:avLst/>
          </a:prstGeom>
          <a:ln w="9525" cap="flat" cmpd="sng">
            <a:solidFill>
              <a:srgbClr val="CC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72" name="直接连接符 9271"/>
          <p:cNvSpPr/>
          <p:nvPr/>
        </p:nvSpPr>
        <p:spPr>
          <a:xfrm>
            <a:off x="3752533" y="2979103"/>
            <a:ext cx="0" cy="2217737"/>
          </a:xfrm>
          <a:prstGeom prst="line">
            <a:avLst/>
          </a:prstGeom>
          <a:ln w="9525" cap="flat" cmpd="sng">
            <a:solidFill>
              <a:srgbClr val="CC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" name="文本框 1"/>
          <p:cNvSpPr txBox="1"/>
          <p:nvPr/>
        </p:nvSpPr>
        <p:spPr>
          <a:xfrm>
            <a:off x="357505" y="634365"/>
            <a:ext cx="79730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平行投影法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的特性：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真形性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定比性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平行性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765425" y="1372235"/>
            <a:ext cx="4983480" cy="62992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平行于投影面的线段，其投影反映</a:t>
            </a:r>
            <a:r>
              <a:rPr lang="zh-CN" altLang="en-US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实长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</a:t>
            </a:r>
          </a:p>
          <a:p>
            <a:pPr>
              <a:spcBef>
                <a:spcPct val="50000"/>
              </a:spcBef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平行于投影面的平面，其在投影面上的投影反映平面的</a:t>
            </a:r>
            <a:r>
              <a:rPr lang="zh-CN" altLang="en-US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实形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03300" y="1343660"/>
            <a:ext cx="107886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indent="0">
              <a:spcBef>
                <a:spcPct val="50000"/>
              </a:spcBef>
              <a:buFont typeface="+mj-lt"/>
              <a:buNone/>
            </a:pPr>
            <a:r>
              <a:rPr lang="en-US" altLang="zh-CN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I. 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真形性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9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1000"/>
                                        <p:tgtEl>
                                          <p:spTgt spid="9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9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1000"/>
                                        <p:tgtEl>
                                          <p:spTgt spid="9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9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9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1000"/>
                                        <p:tgtEl>
                                          <p:spTgt spid="9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1000"/>
                                        <p:tgtEl>
                                          <p:spTgt spid="9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34" grpId="0"/>
      <p:bldP spid="9262" grpId="0"/>
      <p:bldP spid="9263" grpId="0"/>
      <p:bldP spid="9264" grpId="0"/>
      <p:bldP spid="9265" grpId="0"/>
      <p:bldP spid="926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2" name="组合 10241"/>
          <p:cNvGrpSpPr/>
          <p:nvPr/>
        </p:nvGrpSpPr>
        <p:grpSpPr>
          <a:xfrm>
            <a:off x="1271270" y="2323465"/>
            <a:ext cx="3319463" cy="3097213"/>
            <a:chOff x="0" y="0"/>
            <a:chExt cx="2091" cy="1951"/>
          </a:xfrm>
        </p:grpSpPr>
        <p:sp>
          <p:nvSpPr>
            <p:cNvPr id="10243" name="文本框 10242"/>
            <p:cNvSpPr txBox="1"/>
            <p:nvPr/>
          </p:nvSpPr>
          <p:spPr>
            <a:xfrm>
              <a:off x="454" y="276"/>
              <a:ext cx="18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b="1" i="1">
                  <a:latin typeface="Times New Roman" panose="02020603050405020304" pitchFamily="18" charset="0"/>
                </a:rPr>
                <a:t>A</a:t>
              </a:r>
            </a:p>
          </p:txBody>
        </p:sp>
        <p:grpSp>
          <p:nvGrpSpPr>
            <p:cNvPr id="10244" name="组合 10243"/>
            <p:cNvGrpSpPr/>
            <p:nvPr/>
          </p:nvGrpSpPr>
          <p:grpSpPr>
            <a:xfrm>
              <a:off x="0" y="0"/>
              <a:ext cx="2091" cy="1951"/>
              <a:chOff x="0" y="0"/>
              <a:chExt cx="2091" cy="1951"/>
            </a:xfrm>
          </p:grpSpPr>
          <p:sp>
            <p:nvSpPr>
              <p:cNvPr id="10245" name="直接连接符 10244"/>
              <p:cNvSpPr/>
              <p:nvPr/>
            </p:nvSpPr>
            <p:spPr>
              <a:xfrm flipV="1">
                <a:off x="680" y="113"/>
                <a:ext cx="590" cy="363"/>
              </a:xfrm>
              <a:prstGeom prst="line">
                <a:avLst/>
              </a:prstGeom>
              <a:ln w="9525">
                <a:noFill/>
              </a:ln>
            </p:spPr>
          </p:sp>
          <p:sp>
            <p:nvSpPr>
              <p:cNvPr id="10246" name="平行四边形 10245"/>
              <p:cNvSpPr/>
              <p:nvPr/>
            </p:nvSpPr>
            <p:spPr>
              <a:xfrm rot="-10878419" flipH="1">
                <a:off x="0" y="930"/>
                <a:ext cx="2091" cy="980"/>
              </a:xfrm>
              <a:prstGeom prst="parallelogram">
                <a:avLst>
                  <a:gd name="adj" fmla="val 53341"/>
                </a:avLst>
              </a:prstGeom>
              <a:noFill/>
              <a:ln w="9525" cap="flat" cmpd="sng">
                <a:solidFill>
                  <a:srgbClr val="808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47" name="文本框 10246"/>
              <p:cNvSpPr txBox="1"/>
              <p:nvPr/>
            </p:nvSpPr>
            <p:spPr>
              <a:xfrm rot="20177184">
                <a:off x="510" y="1663"/>
                <a:ext cx="18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2400" b="1" i="1">
                    <a:latin typeface="Times New Roman" panose="02020603050405020304" pitchFamily="18" charset="0"/>
                  </a:rPr>
                  <a:t>P</a:t>
                </a:r>
              </a:p>
            </p:txBody>
          </p:sp>
          <p:sp>
            <p:nvSpPr>
              <p:cNvPr id="10248" name="文本框 10247"/>
              <p:cNvSpPr txBox="1"/>
              <p:nvPr/>
            </p:nvSpPr>
            <p:spPr>
              <a:xfrm>
                <a:off x="1270" y="4"/>
                <a:ext cx="181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2400" b="1" i="1">
                    <a:latin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10249" name="文本框 10248"/>
              <p:cNvSpPr txBox="1"/>
              <p:nvPr/>
            </p:nvSpPr>
            <p:spPr>
              <a:xfrm>
                <a:off x="908" y="0"/>
                <a:ext cx="22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2400" b="1" i="1">
                    <a:latin typeface="Times New Roman" panose="02020603050405020304" pitchFamily="18" charset="0"/>
                  </a:rPr>
                  <a:t>C</a:t>
                </a:r>
              </a:p>
            </p:txBody>
          </p:sp>
        </p:grpSp>
      </p:grpSp>
      <p:grpSp>
        <p:nvGrpSpPr>
          <p:cNvPr id="10250" name="组合 10249"/>
          <p:cNvGrpSpPr/>
          <p:nvPr/>
        </p:nvGrpSpPr>
        <p:grpSpPr>
          <a:xfrm>
            <a:off x="7412990" y="2059305"/>
            <a:ext cx="2460625" cy="4257676"/>
            <a:chOff x="19" y="0"/>
            <a:chExt cx="1550" cy="2682"/>
          </a:xfrm>
        </p:grpSpPr>
        <p:sp>
          <p:nvSpPr>
            <p:cNvPr id="10251" name="平行四边形 10250"/>
            <p:cNvSpPr/>
            <p:nvPr/>
          </p:nvSpPr>
          <p:spPr>
            <a:xfrm rot="14005432">
              <a:off x="-368" y="881"/>
              <a:ext cx="2187" cy="1414"/>
            </a:xfrm>
            <a:prstGeom prst="parallelogram">
              <a:avLst>
                <a:gd name="adj" fmla="val 70251"/>
              </a:avLst>
            </a:prstGeom>
            <a:noFill/>
            <a:ln w="9525" cap="flat" cmpd="sng">
              <a:solidFill>
                <a:srgbClr val="808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52" name="直接连接符 10251"/>
            <p:cNvSpPr/>
            <p:nvPr/>
          </p:nvSpPr>
          <p:spPr>
            <a:xfrm>
              <a:off x="499" y="173"/>
              <a:ext cx="454" cy="816"/>
            </a:xfrm>
            <a:prstGeom prst="line">
              <a:avLst/>
            </a:prstGeom>
            <a:ln w="9525">
              <a:noFill/>
            </a:ln>
          </p:spPr>
        </p:sp>
        <p:sp>
          <p:nvSpPr>
            <p:cNvPr id="10253" name="直接连接符 10252"/>
            <p:cNvSpPr/>
            <p:nvPr/>
          </p:nvSpPr>
          <p:spPr>
            <a:xfrm>
              <a:off x="1052" y="0"/>
              <a:ext cx="517" cy="909"/>
            </a:xfrm>
            <a:prstGeom prst="line">
              <a:avLst/>
            </a:prstGeom>
            <a:ln w="9525">
              <a:noFill/>
            </a:ln>
          </p:spPr>
        </p:sp>
      </p:grpSp>
      <p:sp>
        <p:nvSpPr>
          <p:cNvPr id="10255" name="直接连接符 10254"/>
          <p:cNvSpPr/>
          <p:nvPr/>
        </p:nvSpPr>
        <p:spPr>
          <a:xfrm flipV="1">
            <a:off x="2350770" y="4182428"/>
            <a:ext cx="936625" cy="576262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56" name="文本框 10255"/>
          <p:cNvSpPr txBox="1"/>
          <p:nvPr/>
        </p:nvSpPr>
        <p:spPr>
          <a:xfrm>
            <a:off x="2063433" y="4628515"/>
            <a:ext cx="3587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10257" name="文本框 10256"/>
          <p:cNvSpPr txBox="1"/>
          <p:nvPr/>
        </p:nvSpPr>
        <p:spPr>
          <a:xfrm>
            <a:off x="3287395" y="4045903"/>
            <a:ext cx="3587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i="1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10258" name="文本框 10257"/>
          <p:cNvSpPr txBox="1"/>
          <p:nvPr/>
        </p:nvSpPr>
        <p:spPr>
          <a:xfrm>
            <a:off x="2639695" y="4426903"/>
            <a:ext cx="2889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i="1">
                <a:latin typeface="Times New Roman" panose="02020603050405020304" pitchFamily="18" charset="0"/>
              </a:rPr>
              <a:t>c</a:t>
            </a:r>
          </a:p>
        </p:txBody>
      </p:sp>
      <p:grpSp>
        <p:nvGrpSpPr>
          <p:cNvPr id="10259" name="组合 10258"/>
          <p:cNvGrpSpPr/>
          <p:nvPr/>
        </p:nvGrpSpPr>
        <p:grpSpPr>
          <a:xfrm>
            <a:off x="2352358" y="1963103"/>
            <a:ext cx="922337" cy="2808287"/>
            <a:chOff x="0" y="0"/>
            <a:chExt cx="581" cy="1769"/>
          </a:xfrm>
        </p:grpSpPr>
        <p:sp>
          <p:nvSpPr>
            <p:cNvPr id="10260" name="直接连接符 10259"/>
            <p:cNvSpPr/>
            <p:nvPr/>
          </p:nvSpPr>
          <p:spPr>
            <a:xfrm>
              <a:off x="0" y="226"/>
              <a:ext cx="0" cy="1543"/>
            </a:xfrm>
            <a:prstGeom prst="line">
              <a:avLst/>
            </a:prstGeom>
            <a:ln w="9525" cap="flat" cmpd="sng">
              <a:solidFill>
                <a:srgbClr val="CC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61" name="直接连接符 10260"/>
            <p:cNvSpPr/>
            <p:nvPr/>
          </p:nvSpPr>
          <p:spPr>
            <a:xfrm>
              <a:off x="272" y="136"/>
              <a:ext cx="0" cy="1451"/>
            </a:xfrm>
            <a:prstGeom prst="line">
              <a:avLst/>
            </a:prstGeom>
            <a:ln w="9525" cap="flat" cmpd="sng">
              <a:solidFill>
                <a:srgbClr val="CC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62" name="直接连接符 10261"/>
            <p:cNvSpPr/>
            <p:nvPr/>
          </p:nvSpPr>
          <p:spPr>
            <a:xfrm>
              <a:off x="581" y="0"/>
              <a:ext cx="0" cy="1406"/>
            </a:xfrm>
            <a:prstGeom prst="line">
              <a:avLst/>
            </a:prstGeom>
            <a:ln w="9525" cap="flat" cmpd="sng">
              <a:solidFill>
                <a:srgbClr val="CC33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0263" name="文本框 10262"/>
          <p:cNvSpPr txBox="1"/>
          <p:nvPr/>
        </p:nvSpPr>
        <p:spPr>
          <a:xfrm>
            <a:off x="1560195" y="5420678"/>
            <a:ext cx="3095625" cy="60769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40000"/>
              </a:spcBef>
            </a:pPr>
            <a:r>
              <a:rPr lang="zh-CN" altLang="en-US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定比性</a:t>
            </a:r>
            <a:endParaRPr lang="zh-CN" altLang="en-US" sz="1400">
              <a:solidFill>
                <a:srgbClr val="D6009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ct val="40000"/>
              </a:spcBef>
            </a:pPr>
            <a:r>
              <a:rPr lang="en-US" altLang="zh-CN" sz="1400" i="1">
                <a:latin typeface="Times New Roman" panose="02020603050405020304" pitchFamily="18" charset="0"/>
              </a:rPr>
              <a:t>AC</a:t>
            </a:r>
            <a:r>
              <a:rPr lang="en-US" altLang="zh-CN" sz="1400" i="1">
                <a:latin typeface="Times New Roman" panose="02020603050405020304" pitchFamily="18" charset="0"/>
                <a:sym typeface="Wingdings" panose="05000000000000000000" pitchFamily="2" charset="2"/>
              </a:rPr>
              <a:t>∶</a:t>
            </a:r>
            <a:r>
              <a:rPr lang="en-US" altLang="zh-CN" sz="1400" i="1">
                <a:latin typeface="Times New Roman" panose="02020603050405020304" pitchFamily="18" charset="0"/>
              </a:rPr>
              <a:t>CB = ac∶cb</a:t>
            </a:r>
          </a:p>
        </p:txBody>
      </p:sp>
      <p:sp>
        <p:nvSpPr>
          <p:cNvPr id="10265" name="直接连接符 10264"/>
          <p:cNvSpPr/>
          <p:nvPr/>
        </p:nvSpPr>
        <p:spPr>
          <a:xfrm flipH="1">
            <a:off x="8592503" y="3643630"/>
            <a:ext cx="303212" cy="1266825"/>
          </a:xfrm>
          <a:prstGeom prst="line">
            <a:avLst/>
          </a:prstGeom>
          <a:ln w="9525" cap="flat" cmpd="sng">
            <a:solidFill>
              <a:srgbClr val="CC330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10266" name="组合 10265"/>
          <p:cNvGrpSpPr/>
          <p:nvPr/>
        </p:nvGrpSpPr>
        <p:grpSpPr>
          <a:xfrm>
            <a:off x="7670165" y="2059305"/>
            <a:ext cx="2160588" cy="2952750"/>
            <a:chOff x="0" y="0"/>
            <a:chExt cx="1361" cy="1860"/>
          </a:xfrm>
        </p:grpSpPr>
        <p:sp>
          <p:nvSpPr>
            <p:cNvPr id="10267" name="直接连接符 10266"/>
            <p:cNvSpPr/>
            <p:nvPr/>
          </p:nvSpPr>
          <p:spPr>
            <a:xfrm>
              <a:off x="0" y="1316"/>
              <a:ext cx="590" cy="49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68" name="直接连接符 10267"/>
            <p:cNvSpPr/>
            <p:nvPr/>
          </p:nvSpPr>
          <p:spPr>
            <a:xfrm>
              <a:off x="511" y="1316"/>
              <a:ext cx="635" cy="5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69" name="直接连接符 10268"/>
            <p:cNvSpPr/>
            <p:nvPr/>
          </p:nvSpPr>
          <p:spPr>
            <a:xfrm flipH="1">
              <a:off x="1134" y="908"/>
              <a:ext cx="227" cy="952"/>
            </a:xfrm>
            <a:prstGeom prst="line">
              <a:avLst/>
            </a:prstGeom>
            <a:ln w="9525" cap="flat" cmpd="sng">
              <a:solidFill>
                <a:srgbClr val="CC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70" name="直接连接符 10269"/>
            <p:cNvSpPr/>
            <p:nvPr/>
          </p:nvSpPr>
          <p:spPr>
            <a:xfrm flipH="1">
              <a:off x="527" y="0"/>
              <a:ext cx="335" cy="1325"/>
            </a:xfrm>
            <a:prstGeom prst="line">
              <a:avLst/>
            </a:prstGeom>
            <a:ln w="9525" cap="flat" cmpd="sng">
              <a:solidFill>
                <a:srgbClr val="CC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71" name="直接连接符 10270"/>
            <p:cNvSpPr/>
            <p:nvPr/>
          </p:nvSpPr>
          <p:spPr>
            <a:xfrm flipH="1">
              <a:off x="10" y="182"/>
              <a:ext cx="308" cy="1160"/>
            </a:xfrm>
            <a:prstGeom prst="line">
              <a:avLst/>
            </a:prstGeom>
            <a:ln w="9525" cap="flat" cmpd="sng">
              <a:solidFill>
                <a:srgbClr val="CC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72" name="直接连接符 10271"/>
            <p:cNvSpPr/>
            <p:nvPr/>
          </p:nvSpPr>
          <p:spPr>
            <a:xfrm flipH="1">
              <a:off x="146" y="409"/>
              <a:ext cx="308" cy="1024"/>
            </a:xfrm>
            <a:prstGeom prst="line">
              <a:avLst/>
            </a:prstGeom>
            <a:ln w="9525" cap="flat" cmpd="sng">
              <a:solidFill>
                <a:srgbClr val="CC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73" name="直接连接符 10272"/>
            <p:cNvSpPr/>
            <p:nvPr/>
          </p:nvSpPr>
          <p:spPr>
            <a:xfrm flipH="1">
              <a:off x="264" y="590"/>
              <a:ext cx="281" cy="953"/>
            </a:xfrm>
            <a:prstGeom prst="line">
              <a:avLst/>
            </a:prstGeom>
            <a:ln w="9525" cap="flat" cmpd="sng">
              <a:solidFill>
                <a:srgbClr val="CC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74" name="直接连接符 10273"/>
            <p:cNvSpPr/>
            <p:nvPr/>
          </p:nvSpPr>
          <p:spPr>
            <a:xfrm flipH="1">
              <a:off x="454" y="817"/>
              <a:ext cx="227" cy="862"/>
            </a:xfrm>
            <a:prstGeom prst="line">
              <a:avLst/>
            </a:prstGeom>
            <a:ln w="9525" cap="flat" cmpd="sng">
              <a:solidFill>
                <a:srgbClr val="CC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75" name="直接连接符 10274"/>
            <p:cNvSpPr/>
            <p:nvPr/>
          </p:nvSpPr>
          <p:spPr>
            <a:xfrm flipH="1">
              <a:off x="663" y="227"/>
              <a:ext cx="335" cy="1234"/>
            </a:xfrm>
            <a:prstGeom prst="line">
              <a:avLst/>
            </a:prstGeom>
            <a:ln w="9525" cap="flat" cmpd="sng">
              <a:solidFill>
                <a:srgbClr val="CC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76" name="直接连接符 10275"/>
            <p:cNvSpPr/>
            <p:nvPr/>
          </p:nvSpPr>
          <p:spPr>
            <a:xfrm flipH="1">
              <a:off x="998" y="681"/>
              <a:ext cx="273" cy="1042"/>
            </a:xfrm>
            <a:prstGeom prst="line">
              <a:avLst/>
            </a:prstGeom>
            <a:ln w="9525" cap="flat" cmpd="sng">
              <a:solidFill>
                <a:srgbClr val="CC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77" name="直接连接符 10276"/>
            <p:cNvSpPr/>
            <p:nvPr/>
          </p:nvSpPr>
          <p:spPr>
            <a:xfrm flipH="1">
              <a:off x="827" y="454"/>
              <a:ext cx="307" cy="1125"/>
            </a:xfrm>
            <a:prstGeom prst="line">
              <a:avLst/>
            </a:prstGeom>
            <a:ln w="9525" cap="flat" cmpd="sng">
              <a:solidFill>
                <a:srgbClr val="CC33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0278" name="文本框 10277"/>
          <p:cNvSpPr txBox="1"/>
          <p:nvPr/>
        </p:nvSpPr>
        <p:spPr>
          <a:xfrm>
            <a:off x="7238365" y="5443855"/>
            <a:ext cx="3097213" cy="60769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40000"/>
              </a:spcBef>
            </a:pPr>
            <a:r>
              <a:rPr lang="zh-CN" altLang="en-US" sz="140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平行性</a:t>
            </a:r>
          </a:p>
          <a:p>
            <a:pPr algn="ctr">
              <a:spcBef>
                <a:spcPct val="40000"/>
              </a:spcBef>
            </a:pPr>
            <a:r>
              <a:rPr lang="en-US" altLang="zh-CN" sz="1400" i="1">
                <a:latin typeface="Times New Roman" panose="02020603050405020304" pitchFamily="18" charset="0"/>
              </a:rPr>
              <a:t>AB∥CD</a:t>
            </a:r>
            <a:r>
              <a:rPr lang="zh-CN" altLang="en-US" sz="1400" i="1">
                <a:latin typeface="Times New Roman" panose="02020603050405020304" pitchFamily="18" charset="0"/>
              </a:rPr>
              <a:t>，</a:t>
            </a:r>
            <a:r>
              <a:rPr lang="en-US" altLang="zh-CN" sz="1400" i="1">
                <a:latin typeface="Times New Roman" panose="02020603050405020304" pitchFamily="18" charset="0"/>
              </a:rPr>
              <a:t>ab∥cd</a:t>
            </a:r>
          </a:p>
        </p:txBody>
      </p:sp>
      <p:sp>
        <p:nvSpPr>
          <p:cNvPr id="10279" name="文本框 10278"/>
          <p:cNvSpPr txBox="1"/>
          <p:nvPr/>
        </p:nvSpPr>
        <p:spPr>
          <a:xfrm>
            <a:off x="7814628" y="2132330"/>
            <a:ext cx="2889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10280" name="文本框 10279"/>
          <p:cNvSpPr txBox="1"/>
          <p:nvPr/>
        </p:nvSpPr>
        <p:spPr>
          <a:xfrm>
            <a:off x="9038590" y="1771968"/>
            <a:ext cx="2889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i="1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10281" name="文本框 10280"/>
          <p:cNvSpPr txBox="1"/>
          <p:nvPr/>
        </p:nvSpPr>
        <p:spPr>
          <a:xfrm>
            <a:off x="8822690" y="3421380"/>
            <a:ext cx="2889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i="1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10282" name="文本框 10281"/>
          <p:cNvSpPr txBox="1"/>
          <p:nvPr/>
        </p:nvSpPr>
        <p:spPr>
          <a:xfrm>
            <a:off x="9830753" y="3349943"/>
            <a:ext cx="2889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i="1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10283" name="文本框 10282"/>
          <p:cNvSpPr txBox="1"/>
          <p:nvPr/>
        </p:nvSpPr>
        <p:spPr>
          <a:xfrm>
            <a:off x="7381240" y="4003993"/>
            <a:ext cx="2889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10284" name="文本框 10283"/>
          <p:cNvSpPr txBox="1"/>
          <p:nvPr/>
        </p:nvSpPr>
        <p:spPr>
          <a:xfrm>
            <a:off x="8317865" y="4861243"/>
            <a:ext cx="2889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i="1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10285" name="文本框 10284"/>
          <p:cNvSpPr txBox="1"/>
          <p:nvPr/>
        </p:nvSpPr>
        <p:spPr>
          <a:xfrm>
            <a:off x="8203565" y="3926205"/>
            <a:ext cx="2889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i="1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10286" name="文本框 10285"/>
          <p:cNvSpPr txBox="1"/>
          <p:nvPr/>
        </p:nvSpPr>
        <p:spPr>
          <a:xfrm>
            <a:off x="9441815" y="4718368"/>
            <a:ext cx="2889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i="1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10287" name="直接连接符 10286"/>
          <p:cNvSpPr/>
          <p:nvPr/>
        </p:nvSpPr>
        <p:spPr>
          <a:xfrm flipV="1">
            <a:off x="2352358" y="2539365"/>
            <a:ext cx="936625" cy="504825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88" name="直接连接符 10287"/>
          <p:cNvSpPr/>
          <p:nvPr/>
        </p:nvSpPr>
        <p:spPr>
          <a:xfrm>
            <a:off x="8174990" y="2348230"/>
            <a:ext cx="720725" cy="12954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89" name="直接连接符 10288"/>
          <p:cNvSpPr/>
          <p:nvPr/>
        </p:nvSpPr>
        <p:spPr>
          <a:xfrm>
            <a:off x="9052878" y="2016443"/>
            <a:ext cx="792162" cy="144145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95" name="文本框 10294"/>
          <p:cNvSpPr txBox="1"/>
          <p:nvPr/>
        </p:nvSpPr>
        <p:spPr>
          <a:xfrm rot="19827673">
            <a:off x="7598728" y="4940618"/>
            <a:ext cx="381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i="1">
                <a:latin typeface="Times New Roman" panose="02020603050405020304" pitchFamily="18" charset="0"/>
              </a:rPr>
              <a:t>P</a:t>
            </a:r>
          </a:p>
        </p:txBody>
      </p:sp>
      <p:sp>
        <p:nvSpPr>
          <p:cNvPr id="10254" name="文本框 10253"/>
          <p:cNvSpPr txBox="1"/>
          <p:nvPr/>
        </p:nvSpPr>
        <p:spPr>
          <a:xfrm>
            <a:off x="634365" y="1282700"/>
            <a:ext cx="3933825" cy="3067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直线上两</a:t>
            </a:r>
            <a:r>
              <a:rPr lang="zh-CN" altLang="en-US" sz="140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线段之比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等于其</a:t>
            </a:r>
            <a:r>
              <a:rPr lang="zh-CN" altLang="en-US" sz="140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投影之比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0264" name="文本框 10263"/>
          <p:cNvSpPr txBox="1"/>
          <p:nvPr/>
        </p:nvSpPr>
        <p:spPr>
          <a:xfrm>
            <a:off x="5763260" y="1282700"/>
            <a:ext cx="5170170" cy="3067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空间两线段</a:t>
            </a:r>
            <a:r>
              <a:rPr lang="zh-CN" altLang="en-US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平行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，则它们的投影仍相互</a:t>
            </a:r>
            <a:r>
              <a:rPr lang="zh-CN" altLang="en-US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平行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48335" y="685800"/>
            <a:ext cx="115570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indent="0" algn="l">
              <a:spcBef>
                <a:spcPct val="50000"/>
              </a:spcBef>
              <a:buFont typeface="Wingdings" panose="05000000000000000000" charset="0"/>
              <a:buNone/>
            </a:pPr>
            <a:r>
              <a:rPr lang="en-US" altLang="zh-CN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II. 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定比性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799455" y="685800"/>
            <a:ext cx="123253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indent="0" algn="l">
              <a:spcBef>
                <a:spcPct val="50000"/>
              </a:spcBef>
              <a:buFont typeface="Wingdings" panose="05000000000000000000" charset="0"/>
              <a:buNone/>
            </a:pPr>
            <a:r>
              <a:rPr lang="en-US" altLang="zh-CN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III. 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平行性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1000"/>
                                        <p:tgtEl>
                                          <p:spTgt spid="10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0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1000"/>
                                        <p:tgtEl>
                                          <p:spTgt spid="10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1000"/>
                                        <p:tgtEl>
                                          <p:spTgt spid="10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56" grpId="0"/>
      <p:bldP spid="10257" grpId="0"/>
      <p:bldP spid="10258" grpId="0"/>
      <p:bldP spid="10263" grpId="0"/>
      <p:bldP spid="10278" grpId="0"/>
      <p:bldP spid="10279" grpId="0"/>
      <p:bldP spid="10280" grpId="0"/>
      <p:bldP spid="10281" grpId="0"/>
      <p:bldP spid="10282" grpId="0"/>
      <p:bldP spid="10283" grpId="0"/>
      <p:bldP spid="10284" grpId="0"/>
      <p:bldP spid="10285" grpId="0"/>
      <p:bldP spid="10286" grpId="0"/>
      <p:bldP spid="10295" grpId="0"/>
      <p:bldP spid="10254" grpId="0"/>
      <p:bldP spid="10264" grpId="0"/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组合 8193"/>
          <p:cNvGrpSpPr/>
          <p:nvPr/>
        </p:nvGrpSpPr>
        <p:grpSpPr>
          <a:xfrm>
            <a:off x="1809750" y="2636838"/>
            <a:ext cx="3319463" cy="2924175"/>
            <a:chOff x="0" y="0"/>
            <a:chExt cx="2091" cy="1842"/>
          </a:xfrm>
        </p:grpSpPr>
        <p:sp>
          <p:nvSpPr>
            <p:cNvPr id="8195" name="平行四边形 8194"/>
            <p:cNvSpPr/>
            <p:nvPr/>
          </p:nvSpPr>
          <p:spPr>
            <a:xfrm rot="-10878419" flipH="1">
              <a:off x="0" y="862"/>
              <a:ext cx="2091" cy="980"/>
            </a:xfrm>
            <a:prstGeom prst="parallelogram">
              <a:avLst>
                <a:gd name="adj" fmla="val 53341"/>
              </a:avLst>
            </a:prstGeom>
            <a:noFill/>
            <a:ln w="9525" cap="flat" cmpd="sng">
              <a:solidFill>
                <a:srgbClr val="808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196" name="组合 8195"/>
            <p:cNvGrpSpPr/>
            <p:nvPr/>
          </p:nvGrpSpPr>
          <p:grpSpPr>
            <a:xfrm>
              <a:off x="363" y="0"/>
              <a:ext cx="1089" cy="363"/>
              <a:chOff x="0" y="0"/>
              <a:chExt cx="1089" cy="363"/>
            </a:xfrm>
          </p:grpSpPr>
          <p:sp>
            <p:nvSpPr>
              <p:cNvPr id="8197" name="直接连接符 8196"/>
              <p:cNvSpPr/>
              <p:nvPr/>
            </p:nvSpPr>
            <p:spPr>
              <a:xfrm>
                <a:off x="0" y="45"/>
                <a:ext cx="499" cy="31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198" name="直接连接符 8197"/>
              <p:cNvSpPr/>
              <p:nvPr/>
            </p:nvSpPr>
            <p:spPr>
              <a:xfrm flipV="1">
                <a:off x="499" y="0"/>
                <a:ext cx="590" cy="363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199" name="直接连接符 8198"/>
              <p:cNvSpPr/>
              <p:nvPr/>
            </p:nvSpPr>
            <p:spPr>
              <a:xfrm flipH="1">
                <a:off x="0" y="0"/>
                <a:ext cx="1089" cy="4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8200" name="文本框 8199"/>
          <p:cNvSpPr txBox="1"/>
          <p:nvPr/>
        </p:nvSpPr>
        <p:spPr>
          <a:xfrm>
            <a:off x="3322638" y="5157788"/>
            <a:ext cx="2108200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202" name="平行四边形 8201"/>
          <p:cNvSpPr/>
          <p:nvPr/>
        </p:nvSpPr>
        <p:spPr>
          <a:xfrm rot="-10878419" flipH="1">
            <a:off x="6604000" y="4005263"/>
            <a:ext cx="3319463" cy="1555750"/>
          </a:xfrm>
          <a:prstGeom prst="parallelogram">
            <a:avLst>
              <a:gd name="adj" fmla="val 53341"/>
            </a:avLst>
          </a:prstGeom>
          <a:noFill/>
          <a:ln w="9525" cap="flat" cmpd="sng">
            <a:solidFill>
              <a:srgbClr val="808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8203" name="组合 8202"/>
          <p:cNvGrpSpPr/>
          <p:nvPr/>
        </p:nvGrpSpPr>
        <p:grpSpPr>
          <a:xfrm>
            <a:off x="2386013" y="4365625"/>
            <a:ext cx="1728787" cy="576263"/>
            <a:chOff x="0" y="0"/>
            <a:chExt cx="1089" cy="363"/>
          </a:xfrm>
        </p:grpSpPr>
        <p:sp>
          <p:nvSpPr>
            <p:cNvPr id="8204" name="直接连接符 8203"/>
            <p:cNvSpPr/>
            <p:nvPr/>
          </p:nvSpPr>
          <p:spPr>
            <a:xfrm>
              <a:off x="0" y="45"/>
              <a:ext cx="499" cy="318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05" name="直接连接符 8204"/>
            <p:cNvSpPr/>
            <p:nvPr/>
          </p:nvSpPr>
          <p:spPr>
            <a:xfrm flipV="1">
              <a:off x="499" y="0"/>
              <a:ext cx="590" cy="363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06" name="直接连接符 8205"/>
            <p:cNvSpPr/>
            <p:nvPr/>
          </p:nvSpPr>
          <p:spPr>
            <a:xfrm flipH="1">
              <a:off x="0" y="0"/>
              <a:ext cx="1089" cy="45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8207" name="组合 8206"/>
          <p:cNvGrpSpPr/>
          <p:nvPr/>
        </p:nvGrpSpPr>
        <p:grpSpPr>
          <a:xfrm>
            <a:off x="7754938" y="2997200"/>
            <a:ext cx="1728787" cy="576263"/>
            <a:chOff x="0" y="0"/>
            <a:chExt cx="1089" cy="363"/>
          </a:xfrm>
        </p:grpSpPr>
        <p:sp>
          <p:nvSpPr>
            <p:cNvPr id="8208" name="直接连接符 8207"/>
            <p:cNvSpPr/>
            <p:nvPr/>
          </p:nvSpPr>
          <p:spPr>
            <a:xfrm>
              <a:off x="0" y="45"/>
              <a:ext cx="499" cy="318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09" name="直接连接符 8208"/>
            <p:cNvSpPr/>
            <p:nvPr/>
          </p:nvSpPr>
          <p:spPr>
            <a:xfrm flipV="1">
              <a:off x="499" y="0"/>
              <a:ext cx="590" cy="363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10" name="直接连接符 8209"/>
            <p:cNvSpPr/>
            <p:nvPr/>
          </p:nvSpPr>
          <p:spPr>
            <a:xfrm flipH="1">
              <a:off x="0" y="0"/>
              <a:ext cx="1089" cy="45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8211" name="组合 8210"/>
          <p:cNvGrpSpPr/>
          <p:nvPr/>
        </p:nvGrpSpPr>
        <p:grpSpPr>
          <a:xfrm>
            <a:off x="7180263" y="4221163"/>
            <a:ext cx="1728787" cy="576262"/>
            <a:chOff x="0" y="0"/>
            <a:chExt cx="1089" cy="363"/>
          </a:xfrm>
        </p:grpSpPr>
        <p:sp>
          <p:nvSpPr>
            <p:cNvPr id="8212" name="直接连接符 8211"/>
            <p:cNvSpPr/>
            <p:nvPr/>
          </p:nvSpPr>
          <p:spPr>
            <a:xfrm>
              <a:off x="0" y="45"/>
              <a:ext cx="499" cy="318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13" name="直接连接符 8212"/>
            <p:cNvSpPr/>
            <p:nvPr/>
          </p:nvSpPr>
          <p:spPr>
            <a:xfrm flipV="1">
              <a:off x="499" y="0"/>
              <a:ext cx="590" cy="363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14" name="直接连接符 8213"/>
            <p:cNvSpPr/>
            <p:nvPr/>
          </p:nvSpPr>
          <p:spPr>
            <a:xfrm flipH="1">
              <a:off x="0" y="0"/>
              <a:ext cx="1089" cy="45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8215" name="文本框 8214"/>
          <p:cNvSpPr txBox="1"/>
          <p:nvPr/>
        </p:nvSpPr>
        <p:spPr>
          <a:xfrm>
            <a:off x="2817813" y="5876925"/>
            <a:ext cx="1873250" cy="3067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1400">
                <a:solidFill>
                  <a:srgbClr val="D6009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正投影法</a:t>
            </a:r>
          </a:p>
        </p:txBody>
      </p:sp>
      <p:grpSp>
        <p:nvGrpSpPr>
          <p:cNvPr id="8216" name="组合 8215"/>
          <p:cNvGrpSpPr/>
          <p:nvPr/>
        </p:nvGrpSpPr>
        <p:grpSpPr>
          <a:xfrm>
            <a:off x="2386013" y="1700213"/>
            <a:ext cx="1728787" cy="3241675"/>
            <a:chOff x="0" y="0"/>
            <a:chExt cx="1089" cy="2042"/>
          </a:xfrm>
        </p:grpSpPr>
        <p:grpSp>
          <p:nvGrpSpPr>
            <p:cNvPr id="8217" name="组合 8216"/>
            <p:cNvGrpSpPr/>
            <p:nvPr/>
          </p:nvGrpSpPr>
          <p:grpSpPr>
            <a:xfrm>
              <a:off x="0" y="0"/>
              <a:ext cx="1089" cy="2042"/>
              <a:chOff x="0" y="0"/>
              <a:chExt cx="1089" cy="2042"/>
            </a:xfrm>
          </p:grpSpPr>
          <p:sp>
            <p:nvSpPr>
              <p:cNvPr id="8218" name="直接连接符 8217"/>
              <p:cNvSpPr/>
              <p:nvPr/>
            </p:nvSpPr>
            <p:spPr>
              <a:xfrm flipV="1">
                <a:off x="1070" y="0"/>
                <a:ext cx="19" cy="1679"/>
              </a:xfrm>
              <a:prstGeom prst="line">
                <a:avLst/>
              </a:prstGeom>
              <a:ln w="9525" cap="flat" cmpd="sng">
                <a:solidFill>
                  <a:srgbClr val="CC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219" name="直接连接符 8218"/>
              <p:cNvSpPr/>
              <p:nvPr/>
            </p:nvSpPr>
            <p:spPr>
              <a:xfrm flipV="1">
                <a:off x="499" y="46"/>
                <a:ext cx="0" cy="1996"/>
              </a:xfrm>
              <a:prstGeom prst="line">
                <a:avLst/>
              </a:prstGeom>
              <a:ln w="9525" cap="flat" cmpd="sng">
                <a:solidFill>
                  <a:srgbClr val="CC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220" name="直接连接符 8219"/>
              <p:cNvSpPr/>
              <p:nvPr/>
            </p:nvSpPr>
            <p:spPr>
              <a:xfrm flipV="1">
                <a:off x="0" y="136"/>
                <a:ext cx="0" cy="1588"/>
              </a:xfrm>
              <a:prstGeom prst="line">
                <a:avLst/>
              </a:prstGeom>
              <a:ln w="9525" cap="flat" cmpd="sng">
                <a:solidFill>
                  <a:srgbClr val="CC33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8221" name="直接连接符 8220"/>
            <p:cNvSpPr/>
            <p:nvPr/>
          </p:nvSpPr>
          <p:spPr>
            <a:xfrm>
              <a:off x="1089" y="136"/>
              <a:ext cx="0" cy="318"/>
            </a:xfrm>
            <a:prstGeom prst="line">
              <a:avLst/>
            </a:prstGeom>
            <a:ln w="9525" cap="flat" cmpd="sng">
              <a:solidFill>
                <a:srgbClr val="CC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222" name="直接连接符 8221"/>
            <p:cNvSpPr/>
            <p:nvPr/>
          </p:nvSpPr>
          <p:spPr>
            <a:xfrm>
              <a:off x="0" y="136"/>
              <a:ext cx="0" cy="318"/>
            </a:xfrm>
            <a:prstGeom prst="line">
              <a:avLst/>
            </a:prstGeom>
            <a:ln w="9525" cap="flat" cmpd="sng">
              <a:solidFill>
                <a:srgbClr val="CC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223" name="直接连接符 8222"/>
            <p:cNvSpPr/>
            <p:nvPr/>
          </p:nvSpPr>
          <p:spPr>
            <a:xfrm>
              <a:off x="499" y="91"/>
              <a:ext cx="0" cy="318"/>
            </a:xfrm>
            <a:prstGeom prst="line">
              <a:avLst/>
            </a:prstGeom>
            <a:ln w="9525" cap="flat" cmpd="sng">
              <a:solidFill>
                <a:srgbClr val="CC3300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8224" name="组合 8223"/>
          <p:cNvGrpSpPr/>
          <p:nvPr/>
        </p:nvGrpSpPr>
        <p:grpSpPr>
          <a:xfrm>
            <a:off x="7180263" y="1628775"/>
            <a:ext cx="2879725" cy="3168650"/>
            <a:chOff x="0" y="0"/>
            <a:chExt cx="1814" cy="1996"/>
          </a:xfrm>
        </p:grpSpPr>
        <p:sp>
          <p:nvSpPr>
            <p:cNvPr id="8225" name="直接连接符 8224"/>
            <p:cNvSpPr/>
            <p:nvPr/>
          </p:nvSpPr>
          <p:spPr>
            <a:xfrm flipV="1">
              <a:off x="1088" y="136"/>
              <a:ext cx="726" cy="1497"/>
            </a:xfrm>
            <a:prstGeom prst="line">
              <a:avLst/>
            </a:prstGeom>
            <a:ln w="9525" cap="flat" cmpd="sng">
              <a:solidFill>
                <a:srgbClr val="CC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26" name="直接连接符 8225"/>
            <p:cNvSpPr/>
            <p:nvPr/>
          </p:nvSpPr>
          <p:spPr>
            <a:xfrm flipV="1">
              <a:off x="498" y="136"/>
              <a:ext cx="908" cy="1860"/>
            </a:xfrm>
            <a:prstGeom prst="line">
              <a:avLst/>
            </a:prstGeom>
            <a:ln w="9525" cap="flat" cmpd="sng">
              <a:solidFill>
                <a:srgbClr val="CC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27" name="直接连接符 8226"/>
            <p:cNvSpPr/>
            <p:nvPr/>
          </p:nvSpPr>
          <p:spPr>
            <a:xfrm flipV="1">
              <a:off x="0" y="0"/>
              <a:ext cx="816" cy="1678"/>
            </a:xfrm>
            <a:prstGeom prst="line">
              <a:avLst/>
            </a:prstGeom>
            <a:ln w="9525" cap="flat" cmpd="sng">
              <a:solidFill>
                <a:srgbClr val="CC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28" name="直接连接符 8227"/>
            <p:cNvSpPr/>
            <p:nvPr/>
          </p:nvSpPr>
          <p:spPr>
            <a:xfrm flipH="1">
              <a:off x="525" y="227"/>
              <a:ext cx="182" cy="363"/>
            </a:xfrm>
            <a:prstGeom prst="line">
              <a:avLst/>
            </a:prstGeom>
            <a:ln w="9525" cap="flat" cmpd="sng">
              <a:solidFill>
                <a:srgbClr val="CC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229" name="直接连接符 8228"/>
            <p:cNvSpPr/>
            <p:nvPr/>
          </p:nvSpPr>
          <p:spPr>
            <a:xfrm flipH="1">
              <a:off x="1133" y="318"/>
              <a:ext cx="182" cy="363"/>
            </a:xfrm>
            <a:prstGeom prst="line">
              <a:avLst/>
            </a:prstGeom>
            <a:ln w="9525" cap="flat" cmpd="sng">
              <a:solidFill>
                <a:srgbClr val="CC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230" name="直接连接符 8229"/>
            <p:cNvSpPr/>
            <p:nvPr/>
          </p:nvSpPr>
          <p:spPr>
            <a:xfrm flipH="1">
              <a:off x="1523" y="363"/>
              <a:ext cx="182" cy="363"/>
            </a:xfrm>
            <a:prstGeom prst="line">
              <a:avLst/>
            </a:prstGeom>
            <a:ln w="9525" cap="flat" cmpd="sng">
              <a:solidFill>
                <a:srgbClr val="CC3300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8231" name="组合 8230"/>
          <p:cNvGrpSpPr/>
          <p:nvPr/>
        </p:nvGrpSpPr>
        <p:grpSpPr>
          <a:xfrm>
            <a:off x="4114800" y="3860800"/>
            <a:ext cx="1223963" cy="1368425"/>
            <a:chOff x="0" y="0"/>
            <a:chExt cx="771" cy="862"/>
          </a:xfrm>
        </p:grpSpPr>
        <p:sp>
          <p:nvSpPr>
            <p:cNvPr id="8232" name="直接连接符 8231"/>
            <p:cNvSpPr/>
            <p:nvPr/>
          </p:nvSpPr>
          <p:spPr>
            <a:xfrm>
              <a:off x="154" y="772"/>
              <a:ext cx="45" cy="0"/>
            </a:xfrm>
            <a:prstGeom prst="line">
              <a:avLst/>
            </a:prstGeom>
            <a:ln w="9525" cap="flat" cmpd="sng">
              <a:solidFill>
                <a:srgbClr val="CC33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8233" name="组合 8232"/>
            <p:cNvGrpSpPr/>
            <p:nvPr/>
          </p:nvGrpSpPr>
          <p:grpSpPr>
            <a:xfrm>
              <a:off x="0" y="0"/>
              <a:ext cx="771" cy="862"/>
              <a:chOff x="0" y="0"/>
              <a:chExt cx="771" cy="862"/>
            </a:xfrm>
          </p:grpSpPr>
          <p:grpSp>
            <p:nvGrpSpPr>
              <p:cNvPr id="8234" name="组合 8233"/>
              <p:cNvGrpSpPr/>
              <p:nvPr/>
            </p:nvGrpSpPr>
            <p:grpSpPr>
              <a:xfrm>
                <a:off x="0" y="0"/>
                <a:ext cx="453" cy="862"/>
                <a:chOff x="0" y="0"/>
                <a:chExt cx="453" cy="862"/>
              </a:xfrm>
            </p:grpSpPr>
            <p:sp>
              <p:nvSpPr>
                <p:cNvPr id="8235" name="文本框 8234"/>
                <p:cNvSpPr txBox="1"/>
                <p:nvPr/>
              </p:nvSpPr>
              <p:spPr>
                <a:xfrm>
                  <a:off x="181" y="0"/>
                  <a:ext cx="272" cy="7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zh-CN" altLang="en-US" b="1">
                      <a:latin typeface="Arial" panose="020B0604020202020204" pitchFamily="34" charset="0"/>
                      <a:ea typeface="楷体_GB2312" panose="02010609030101010101" pitchFamily="49" charset="-122"/>
                    </a:rPr>
                    <a:t>投射方向</a:t>
                  </a:r>
                </a:p>
              </p:txBody>
            </p:sp>
            <p:grpSp>
              <p:nvGrpSpPr>
                <p:cNvPr id="8236" name="组合 8235"/>
                <p:cNvGrpSpPr/>
                <p:nvPr/>
              </p:nvGrpSpPr>
              <p:grpSpPr>
                <a:xfrm>
                  <a:off x="0" y="408"/>
                  <a:ext cx="408" cy="454"/>
                  <a:chOff x="0" y="0"/>
                  <a:chExt cx="408" cy="454"/>
                </a:xfrm>
              </p:grpSpPr>
              <p:grpSp>
                <p:nvGrpSpPr>
                  <p:cNvPr id="8237" name="组合 8236"/>
                  <p:cNvGrpSpPr/>
                  <p:nvPr/>
                </p:nvGrpSpPr>
                <p:grpSpPr>
                  <a:xfrm>
                    <a:off x="0" y="0"/>
                    <a:ext cx="408" cy="454"/>
                    <a:chOff x="0" y="0"/>
                    <a:chExt cx="408" cy="454"/>
                  </a:xfrm>
                </p:grpSpPr>
                <p:grpSp>
                  <p:nvGrpSpPr>
                    <p:cNvPr id="8238" name="组合 8237"/>
                    <p:cNvGrpSpPr/>
                    <p:nvPr/>
                  </p:nvGrpSpPr>
                  <p:grpSpPr>
                    <a:xfrm>
                      <a:off x="0" y="0"/>
                      <a:ext cx="408" cy="454"/>
                      <a:chOff x="0" y="0"/>
                      <a:chExt cx="408" cy="454"/>
                    </a:xfrm>
                  </p:grpSpPr>
                  <p:sp>
                    <p:nvSpPr>
                      <p:cNvPr id="8239" name="直接连接符 8238"/>
                      <p:cNvSpPr/>
                      <p:nvPr/>
                    </p:nvSpPr>
                    <p:spPr>
                      <a:xfrm>
                        <a:off x="145" y="0"/>
                        <a:ext cx="0" cy="454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CC3300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8240" name="直接连接符 8239"/>
                      <p:cNvSpPr/>
                      <p:nvPr/>
                    </p:nvSpPr>
                    <p:spPr>
                      <a:xfrm>
                        <a:off x="136" y="454"/>
                        <a:ext cx="272" cy="0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CC3300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8241" name="直接连接符 8240"/>
                      <p:cNvSpPr/>
                      <p:nvPr/>
                    </p:nvSpPr>
                    <p:spPr>
                      <a:xfrm flipH="1" flipV="1">
                        <a:off x="0" y="227"/>
                        <a:ext cx="136" cy="227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CC3300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</p:grpSp>
                <p:sp>
                  <p:nvSpPr>
                    <p:cNvPr id="8242" name="直接连接符 8241"/>
                    <p:cNvSpPr/>
                    <p:nvPr/>
                  </p:nvSpPr>
                  <p:spPr>
                    <a:xfrm>
                      <a:off x="145" y="91"/>
                      <a:ext cx="0" cy="272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CC3300"/>
                      </a:solidFill>
                      <a:prstDash val="solid"/>
                      <a:headEnd type="none" w="med" len="med"/>
                      <a:tailEnd type="triangle" w="med" len="med"/>
                    </a:ln>
                  </p:spPr>
                </p:sp>
              </p:grpSp>
              <p:sp>
                <p:nvSpPr>
                  <p:cNvPr id="8243" name="直接连接符 8242"/>
                  <p:cNvSpPr/>
                  <p:nvPr/>
                </p:nvSpPr>
                <p:spPr>
                  <a:xfrm>
                    <a:off x="199" y="363"/>
                    <a:ext cx="0" cy="91"/>
                  </a:xfrm>
                  <a:prstGeom prst="line">
                    <a:avLst/>
                  </a:prstGeom>
                  <a:ln w="9525" cap="flat" cmpd="sng">
                    <a:solidFill>
                      <a:srgbClr val="CC33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</p:grpSp>
          <p:sp>
            <p:nvSpPr>
              <p:cNvPr id="8244" name="文本框 8243"/>
              <p:cNvSpPr txBox="1"/>
              <p:nvPr/>
            </p:nvSpPr>
            <p:spPr>
              <a:xfrm>
                <a:off x="272" y="635"/>
                <a:ext cx="499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1600" b="1">
                    <a:latin typeface="Arial" panose="020B0604020202020204" pitchFamily="34" charset="0"/>
                  </a:rPr>
                  <a:t>90</a:t>
                </a:r>
                <a:r>
                  <a:rPr lang="en-US" altLang="zh-CN" sz="1600">
                    <a:latin typeface="Arial" panose="020B0604020202020204" pitchFamily="34" charset="0"/>
                  </a:rPr>
                  <a:t>°</a:t>
                </a:r>
              </a:p>
            </p:txBody>
          </p:sp>
        </p:grpSp>
      </p:grpSp>
      <p:grpSp>
        <p:nvGrpSpPr>
          <p:cNvPr id="8245" name="组合 8244"/>
          <p:cNvGrpSpPr/>
          <p:nvPr/>
        </p:nvGrpSpPr>
        <p:grpSpPr>
          <a:xfrm>
            <a:off x="9051925" y="3644900"/>
            <a:ext cx="1154113" cy="1512888"/>
            <a:chOff x="0" y="0"/>
            <a:chExt cx="727" cy="953"/>
          </a:xfrm>
        </p:grpSpPr>
        <p:sp>
          <p:nvSpPr>
            <p:cNvPr id="8246" name="直接连接符 8245"/>
            <p:cNvSpPr/>
            <p:nvPr/>
          </p:nvSpPr>
          <p:spPr>
            <a:xfrm flipH="1">
              <a:off x="145" y="280"/>
              <a:ext cx="182" cy="363"/>
            </a:xfrm>
            <a:prstGeom prst="line">
              <a:avLst/>
            </a:prstGeom>
            <a:ln w="9525" cap="flat" cmpd="sng">
              <a:solidFill>
                <a:srgbClr val="CC3300"/>
              </a:solidFill>
              <a:prstDash val="solid"/>
              <a:headEnd type="none" w="med" len="med"/>
              <a:tailEnd type="triangle" w="med" len="med"/>
            </a:ln>
          </p:spPr>
        </p:sp>
        <p:grpSp>
          <p:nvGrpSpPr>
            <p:cNvPr id="8247" name="组合 8246"/>
            <p:cNvGrpSpPr/>
            <p:nvPr/>
          </p:nvGrpSpPr>
          <p:grpSpPr>
            <a:xfrm>
              <a:off x="0" y="0"/>
              <a:ext cx="727" cy="953"/>
              <a:chOff x="0" y="0"/>
              <a:chExt cx="727" cy="953"/>
            </a:xfrm>
          </p:grpSpPr>
          <p:sp>
            <p:nvSpPr>
              <p:cNvPr id="8248" name="直接连接符 8247"/>
              <p:cNvSpPr/>
              <p:nvPr/>
            </p:nvSpPr>
            <p:spPr>
              <a:xfrm flipV="1">
                <a:off x="1" y="0"/>
                <a:ext cx="453" cy="953"/>
              </a:xfrm>
              <a:prstGeom prst="line">
                <a:avLst/>
              </a:prstGeom>
              <a:ln w="9525" cap="flat" cmpd="sng">
                <a:solidFill>
                  <a:srgbClr val="CC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249" name="直接连接符 8248"/>
              <p:cNvSpPr/>
              <p:nvPr/>
            </p:nvSpPr>
            <p:spPr>
              <a:xfrm>
                <a:off x="0" y="953"/>
                <a:ext cx="362" cy="0"/>
              </a:xfrm>
              <a:prstGeom prst="line">
                <a:avLst/>
              </a:prstGeom>
              <a:ln w="9525" cap="flat" cmpd="sng">
                <a:solidFill>
                  <a:srgbClr val="CC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250" name="未知"/>
              <p:cNvSpPr/>
              <p:nvPr/>
            </p:nvSpPr>
            <p:spPr>
              <a:xfrm>
                <a:off x="81" y="771"/>
                <a:ext cx="136" cy="182"/>
              </a:xfrm>
              <a:custGeom>
                <a:avLst/>
                <a:gdLst/>
                <a:ahLst/>
                <a:cxnLst/>
                <a:rect l="0" t="0" r="0" b="0"/>
                <a:pathLst>
                  <a:path w="136" h="182">
                    <a:moveTo>
                      <a:pt x="0" y="0"/>
                    </a:moveTo>
                    <a:cubicBezTo>
                      <a:pt x="34" y="8"/>
                      <a:pt x="68" y="16"/>
                      <a:pt x="91" y="46"/>
                    </a:cubicBezTo>
                    <a:cubicBezTo>
                      <a:pt x="114" y="76"/>
                      <a:pt x="129" y="159"/>
                      <a:pt x="136" y="182"/>
                    </a:cubicBezTo>
                  </a:path>
                </a:pathLst>
              </a:custGeom>
              <a:noFill/>
              <a:ln w="9525" cap="flat" cmpd="sng">
                <a:solidFill>
                  <a:srgbClr val="CC33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51" name="文本框 8250"/>
              <p:cNvSpPr txBox="1"/>
              <p:nvPr/>
            </p:nvSpPr>
            <p:spPr>
              <a:xfrm>
                <a:off x="92" y="680"/>
                <a:ext cx="635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en-US" sz="1600" b="1">
                    <a:latin typeface="Arial" panose="020B0604020202020204" pitchFamily="34" charset="0"/>
                  </a:rPr>
                  <a:t>≠</a:t>
                </a:r>
                <a:r>
                  <a:rPr lang="en-US" altLang="zh-CN" sz="1600" b="1">
                    <a:latin typeface="Arial" panose="020B0604020202020204" pitchFamily="34" charset="0"/>
                  </a:rPr>
                  <a:t>90</a:t>
                </a:r>
                <a:r>
                  <a:rPr lang="en-US" altLang="zh-CN" sz="1600">
                    <a:latin typeface="Arial" panose="020B0604020202020204" pitchFamily="34" charset="0"/>
                  </a:rPr>
                  <a:t>°</a:t>
                </a:r>
              </a:p>
            </p:txBody>
          </p:sp>
        </p:grpSp>
      </p:grpSp>
      <p:sp>
        <p:nvSpPr>
          <p:cNvPr id="8252" name="文本框 8251"/>
          <p:cNvSpPr txBox="1"/>
          <p:nvPr/>
        </p:nvSpPr>
        <p:spPr>
          <a:xfrm>
            <a:off x="7754938" y="5840413"/>
            <a:ext cx="1873250" cy="3067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1400" i="1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斜投影法</a:t>
            </a:r>
          </a:p>
        </p:txBody>
      </p:sp>
      <p:sp>
        <p:nvSpPr>
          <p:cNvPr id="8253" name="文本框 8252"/>
          <p:cNvSpPr txBox="1"/>
          <p:nvPr/>
        </p:nvSpPr>
        <p:spPr>
          <a:xfrm rot="20205293">
            <a:off x="2530475" y="5157788"/>
            <a:ext cx="2889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i="1">
                <a:latin typeface="Times New Roman" panose="02020603050405020304" pitchFamily="18" charset="0"/>
              </a:rPr>
              <a:t>P</a:t>
            </a:r>
          </a:p>
        </p:txBody>
      </p:sp>
      <p:sp>
        <p:nvSpPr>
          <p:cNvPr id="8254" name="文本框 8253"/>
          <p:cNvSpPr txBox="1"/>
          <p:nvPr/>
        </p:nvSpPr>
        <p:spPr>
          <a:xfrm rot="20049560">
            <a:off x="7323138" y="5157788"/>
            <a:ext cx="2889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i="1">
                <a:latin typeface="Times New Roman" panose="02020603050405020304" pitchFamily="18" charset="0"/>
              </a:rPr>
              <a:t>P</a:t>
            </a:r>
          </a:p>
        </p:txBody>
      </p:sp>
      <p:sp>
        <p:nvSpPr>
          <p:cNvPr id="8255" name="文本框 8254"/>
          <p:cNvSpPr txBox="1"/>
          <p:nvPr/>
        </p:nvSpPr>
        <p:spPr>
          <a:xfrm>
            <a:off x="2076450" y="1127125"/>
            <a:ext cx="7320280" cy="3067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分类：</a:t>
            </a:r>
            <a:r>
              <a:rPr lang="zh-CN" altLang="en-US" sz="1400">
                <a:solidFill>
                  <a:srgbClr val="D6009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正投影法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400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斜投影法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40155" y="597535"/>
            <a:ext cx="229235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平行投影法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8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8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1000"/>
                                        <p:tgtEl>
                                          <p:spTgt spid="8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8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15" grpId="0"/>
      <p:bldP spid="8252" grpId="0"/>
      <p:bldP spid="8253" grpId="0"/>
      <p:bldP spid="8254" grpId="0"/>
      <p:bldP spid="8254" grpId="1"/>
      <p:bldP spid="8255" grpId="1"/>
      <p:bldP spid="2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6" name="组合 11265"/>
          <p:cNvGrpSpPr/>
          <p:nvPr/>
        </p:nvGrpSpPr>
        <p:grpSpPr>
          <a:xfrm>
            <a:off x="1676083" y="2028190"/>
            <a:ext cx="7775575" cy="1828800"/>
            <a:chOff x="0" y="0"/>
            <a:chExt cx="4898" cy="1152"/>
          </a:xfrm>
        </p:grpSpPr>
        <p:sp>
          <p:nvSpPr>
            <p:cNvPr id="11267" name="矩形 11266"/>
            <p:cNvSpPr/>
            <p:nvPr/>
          </p:nvSpPr>
          <p:spPr>
            <a:xfrm>
              <a:off x="45" y="18"/>
              <a:ext cx="4853" cy="1134"/>
            </a:xfrm>
            <a:prstGeom prst="rect">
              <a:avLst/>
            </a:prstGeom>
            <a:noFill/>
            <a:ln w="9525" cap="flat" cmpd="sng">
              <a:solidFill>
                <a:srgbClr val="9966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68" name="文本框 11267"/>
            <p:cNvSpPr txBox="1"/>
            <p:nvPr/>
          </p:nvSpPr>
          <p:spPr>
            <a:xfrm>
              <a:off x="0" y="0"/>
              <a:ext cx="63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投影面</a:t>
              </a:r>
            </a:p>
          </p:txBody>
        </p:sp>
      </p:grpSp>
      <p:sp>
        <p:nvSpPr>
          <p:cNvPr id="11269" name="直接连接符 11268"/>
          <p:cNvSpPr/>
          <p:nvPr/>
        </p:nvSpPr>
        <p:spPr>
          <a:xfrm>
            <a:off x="8300720" y="3828415"/>
            <a:ext cx="1079500" cy="0"/>
          </a:xfrm>
          <a:prstGeom prst="line">
            <a:avLst/>
          </a:prstGeom>
          <a:ln w="76200" cap="flat" cmpd="sng">
            <a:solidFill>
              <a:srgbClr val="FFFFCC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270" name="直接连接符 11269"/>
          <p:cNvSpPr/>
          <p:nvPr/>
        </p:nvSpPr>
        <p:spPr>
          <a:xfrm flipV="1">
            <a:off x="9451658" y="3468053"/>
            <a:ext cx="0" cy="360362"/>
          </a:xfrm>
          <a:prstGeom prst="line">
            <a:avLst/>
          </a:prstGeom>
          <a:ln w="76200" cap="flat" cmpd="sng">
            <a:solidFill>
              <a:srgbClr val="FFFFCC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271" name="直接连接符 11270"/>
          <p:cNvSpPr/>
          <p:nvPr/>
        </p:nvSpPr>
        <p:spPr>
          <a:xfrm>
            <a:off x="3331845" y="3828415"/>
            <a:ext cx="1081088" cy="0"/>
          </a:xfrm>
          <a:prstGeom prst="line">
            <a:avLst/>
          </a:prstGeom>
          <a:ln w="76200" cap="flat" cmpd="sng">
            <a:solidFill>
              <a:srgbClr val="FFFFCC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272" name="直接连接符 11271"/>
          <p:cNvSpPr/>
          <p:nvPr/>
        </p:nvSpPr>
        <p:spPr>
          <a:xfrm>
            <a:off x="5851208" y="3828415"/>
            <a:ext cx="1081087" cy="0"/>
          </a:xfrm>
          <a:prstGeom prst="line">
            <a:avLst/>
          </a:prstGeom>
          <a:ln w="76200" cap="flat" cmpd="sng">
            <a:solidFill>
              <a:srgbClr val="FFFFCC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274" name="文本框 11273"/>
          <p:cNvSpPr txBox="1"/>
          <p:nvPr/>
        </p:nvSpPr>
        <p:spPr>
          <a:xfrm>
            <a:off x="2213610" y="707390"/>
            <a:ext cx="7101840" cy="3067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lang="zh-CN" altLang="en-US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是平行投影的一种，具有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平行投影法的所有特性。</a:t>
            </a:r>
            <a:endParaRPr lang="zh-CN" altLang="en-US" sz="140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275" name="文本框 11274"/>
          <p:cNvSpPr txBox="1"/>
          <p:nvPr/>
        </p:nvSpPr>
        <p:spPr>
          <a:xfrm>
            <a:off x="2179320" y="1350328"/>
            <a:ext cx="1439863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0A81D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真</a:t>
            </a:r>
            <a:r>
              <a:rPr lang="zh-CN" altLang="en-US" b="1" dirty="0">
                <a:solidFill>
                  <a:srgbClr val="0A81D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形性</a:t>
            </a:r>
            <a:endParaRPr lang="zh-CN" altLang="en-US" b="1">
              <a:solidFill>
                <a:srgbClr val="0099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276" name="组合 11275"/>
          <p:cNvGrpSpPr/>
          <p:nvPr/>
        </p:nvGrpSpPr>
        <p:grpSpPr>
          <a:xfrm>
            <a:off x="3115945" y="3396615"/>
            <a:ext cx="1295400" cy="949325"/>
            <a:chOff x="0" y="0"/>
            <a:chExt cx="816" cy="598"/>
          </a:xfrm>
        </p:grpSpPr>
        <p:sp>
          <p:nvSpPr>
            <p:cNvPr id="11277" name="直接连接符 11276"/>
            <p:cNvSpPr/>
            <p:nvPr/>
          </p:nvSpPr>
          <p:spPr>
            <a:xfrm>
              <a:off x="317" y="8"/>
              <a:ext cx="31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278" name="直接连接符 11277"/>
            <p:cNvSpPr/>
            <p:nvPr/>
          </p:nvSpPr>
          <p:spPr>
            <a:xfrm>
              <a:off x="635" y="0"/>
              <a:ext cx="181" cy="19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279" name="直接连接符 11278"/>
            <p:cNvSpPr/>
            <p:nvPr/>
          </p:nvSpPr>
          <p:spPr>
            <a:xfrm>
              <a:off x="318" y="17"/>
              <a:ext cx="181" cy="18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11280" name="组合 11279"/>
            <p:cNvGrpSpPr/>
            <p:nvPr/>
          </p:nvGrpSpPr>
          <p:grpSpPr>
            <a:xfrm>
              <a:off x="181" y="181"/>
              <a:ext cx="635" cy="408"/>
              <a:chOff x="0" y="0"/>
              <a:chExt cx="635" cy="408"/>
            </a:xfrm>
          </p:grpSpPr>
          <p:sp>
            <p:nvSpPr>
              <p:cNvPr id="11281" name="直接连接符 11280"/>
              <p:cNvSpPr/>
              <p:nvPr/>
            </p:nvSpPr>
            <p:spPr>
              <a:xfrm>
                <a:off x="317" y="0"/>
                <a:ext cx="318" cy="0"/>
              </a:xfrm>
              <a:prstGeom prst="line">
                <a:avLst/>
              </a:prstGeom>
              <a:ln w="38100" cap="flat" cmpd="sng">
                <a:solidFill>
                  <a:srgbClr val="FF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282" name="直接连接符 11281"/>
              <p:cNvSpPr/>
              <p:nvPr/>
            </p:nvSpPr>
            <p:spPr>
              <a:xfrm>
                <a:off x="635" y="0"/>
                <a:ext cx="0" cy="408"/>
              </a:xfrm>
              <a:prstGeom prst="line">
                <a:avLst/>
              </a:prstGeom>
              <a:ln w="38100" cap="flat" cmpd="sng">
                <a:solidFill>
                  <a:srgbClr val="FF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283" name="直接连接符 11282"/>
              <p:cNvSpPr/>
              <p:nvPr/>
            </p:nvSpPr>
            <p:spPr>
              <a:xfrm flipH="1">
                <a:off x="0" y="408"/>
                <a:ext cx="635" cy="0"/>
              </a:xfrm>
              <a:prstGeom prst="line">
                <a:avLst/>
              </a:prstGeom>
              <a:ln w="38100" cap="flat" cmpd="sng">
                <a:solidFill>
                  <a:srgbClr val="FF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284" name="直接连接符 11283"/>
              <p:cNvSpPr/>
              <p:nvPr/>
            </p:nvSpPr>
            <p:spPr>
              <a:xfrm flipV="1">
                <a:off x="0" y="0"/>
                <a:ext cx="318" cy="408"/>
              </a:xfrm>
              <a:prstGeom prst="line">
                <a:avLst/>
              </a:prstGeom>
              <a:ln w="38100" cap="flat" cmpd="sng">
                <a:solidFill>
                  <a:srgbClr val="FF33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1285" name="直接连接符 11284"/>
            <p:cNvSpPr/>
            <p:nvPr/>
          </p:nvSpPr>
          <p:spPr>
            <a:xfrm flipV="1">
              <a:off x="8" y="9"/>
              <a:ext cx="318" cy="40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286" name="直接连接符 11285"/>
            <p:cNvSpPr/>
            <p:nvPr/>
          </p:nvSpPr>
          <p:spPr>
            <a:xfrm>
              <a:off x="0" y="416"/>
              <a:ext cx="181" cy="18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1287" name="组合 11286"/>
          <p:cNvGrpSpPr/>
          <p:nvPr/>
        </p:nvGrpSpPr>
        <p:grpSpPr>
          <a:xfrm>
            <a:off x="2395220" y="2502853"/>
            <a:ext cx="1008063" cy="647700"/>
            <a:chOff x="0" y="0"/>
            <a:chExt cx="635" cy="408"/>
          </a:xfrm>
        </p:grpSpPr>
        <p:sp>
          <p:nvSpPr>
            <p:cNvPr id="11288" name="直接连接符 11287"/>
            <p:cNvSpPr/>
            <p:nvPr/>
          </p:nvSpPr>
          <p:spPr>
            <a:xfrm>
              <a:off x="317" y="0"/>
              <a:ext cx="318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289" name="直接连接符 11288"/>
            <p:cNvSpPr/>
            <p:nvPr/>
          </p:nvSpPr>
          <p:spPr>
            <a:xfrm>
              <a:off x="635" y="0"/>
              <a:ext cx="0" cy="408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290" name="直接连接符 11289"/>
            <p:cNvSpPr/>
            <p:nvPr/>
          </p:nvSpPr>
          <p:spPr>
            <a:xfrm flipH="1">
              <a:off x="0" y="408"/>
              <a:ext cx="635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291" name="直接连接符 11290"/>
            <p:cNvSpPr/>
            <p:nvPr/>
          </p:nvSpPr>
          <p:spPr>
            <a:xfrm flipV="1">
              <a:off x="0" y="0"/>
              <a:ext cx="318" cy="408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1292" name="直接连接符 11291"/>
          <p:cNvSpPr/>
          <p:nvPr/>
        </p:nvSpPr>
        <p:spPr>
          <a:xfrm>
            <a:off x="5189220" y="2533015"/>
            <a:ext cx="504825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293" name="直接连接符 11292"/>
          <p:cNvSpPr/>
          <p:nvPr/>
        </p:nvSpPr>
        <p:spPr>
          <a:xfrm>
            <a:off x="5694045" y="2533015"/>
            <a:ext cx="0" cy="6477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294" name="直接连接符 11293"/>
          <p:cNvSpPr/>
          <p:nvPr/>
        </p:nvSpPr>
        <p:spPr>
          <a:xfrm flipH="1">
            <a:off x="4685983" y="3180715"/>
            <a:ext cx="1008062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295" name="直接连接符 11294"/>
          <p:cNvSpPr/>
          <p:nvPr/>
        </p:nvSpPr>
        <p:spPr>
          <a:xfrm flipV="1">
            <a:off x="4685983" y="2533015"/>
            <a:ext cx="504825" cy="647700"/>
          </a:xfrm>
          <a:prstGeom prst="line">
            <a:avLst/>
          </a:prstGeom>
          <a:ln w="3810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11296" name="组合 11295"/>
          <p:cNvGrpSpPr/>
          <p:nvPr/>
        </p:nvGrpSpPr>
        <p:grpSpPr>
          <a:xfrm>
            <a:off x="5622608" y="3466465"/>
            <a:ext cx="1323975" cy="938213"/>
            <a:chOff x="0" y="0"/>
            <a:chExt cx="834" cy="591"/>
          </a:xfrm>
        </p:grpSpPr>
        <p:sp>
          <p:nvSpPr>
            <p:cNvPr id="11297" name="直接连接符 11296"/>
            <p:cNvSpPr/>
            <p:nvPr/>
          </p:nvSpPr>
          <p:spPr>
            <a:xfrm>
              <a:off x="335" y="0"/>
              <a:ext cx="317" cy="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298" name="直接连接符 11297"/>
            <p:cNvSpPr/>
            <p:nvPr/>
          </p:nvSpPr>
          <p:spPr>
            <a:xfrm>
              <a:off x="644" y="0"/>
              <a:ext cx="181" cy="18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299" name="直接连接符 11298"/>
            <p:cNvSpPr/>
            <p:nvPr/>
          </p:nvSpPr>
          <p:spPr>
            <a:xfrm>
              <a:off x="327" y="0"/>
              <a:ext cx="181" cy="182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00" name="直接连接符 11299"/>
            <p:cNvSpPr/>
            <p:nvPr/>
          </p:nvSpPr>
          <p:spPr>
            <a:xfrm>
              <a:off x="507" y="182"/>
              <a:ext cx="31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01" name="直接连接符 11300"/>
            <p:cNvSpPr/>
            <p:nvPr/>
          </p:nvSpPr>
          <p:spPr>
            <a:xfrm>
              <a:off x="825" y="173"/>
              <a:ext cx="0" cy="41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02" name="直接连接符 11301"/>
            <p:cNvSpPr/>
            <p:nvPr/>
          </p:nvSpPr>
          <p:spPr>
            <a:xfrm flipH="1">
              <a:off x="199" y="591"/>
              <a:ext cx="635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03" name="直接连接符 11302"/>
            <p:cNvSpPr/>
            <p:nvPr/>
          </p:nvSpPr>
          <p:spPr>
            <a:xfrm flipV="1">
              <a:off x="190" y="182"/>
              <a:ext cx="318" cy="408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04" name="直接连接符 11303"/>
            <p:cNvSpPr/>
            <p:nvPr/>
          </p:nvSpPr>
          <p:spPr>
            <a:xfrm flipV="1">
              <a:off x="8" y="1"/>
              <a:ext cx="318" cy="408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05" name="直接连接符 11304"/>
            <p:cNvSpPr/>
            <p:nvPr/>
          </p:nvSpPr>
          <p:spPr>
            <a:xfrm>
              <a:off x="0" y="408"/>
              <a:ext cx="190" cy="183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1306" name="直接连接符 11305"/>
          <p:cNvSpPr/>
          <p:nvPr/>
        </p:nvSpPr>
        <p:spPr>
          <a:xfrm flipH="1" flipV="1">
            <a:off x="4700270" y="3180715"/>
            <a:ext cx="935038" cy="936625"/>
          </a:xfrm>
          <a:prstGeom prst="line">
            <a:avLst/>
          </a:prstGeom>
          <a:ln w="9525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307" name="直接连接符 11306"/>
          <p:cNvSpPr/>
          <p:nvPr/>
        </p:nvSpPr>
        <p:spPr>
          <a:xfrm flipH="1" flipV="1">
            <a:off x="5203508" y="2533015"/>
            <a:ext cx="936625" cy="935038"/>
          </a:xfrm>
          <a:prstGeom prst="line">
            <a:avLst/>
          </a:prstGeom>
          <a:ln w="9525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308" name="直接连接符 11307"/>
          <p:cNvSpPr/>
          <p:nvPr/>
        </p:nvSpPr>
        <p:spPr>
          <a:xfrm flipH="1" flipV="1">
            <a:off x="5708333" y="2533015"/>
            <a:ext cx="950912" cy="935038"/>
          </a:xfrm>
          <a:prstGeom prst="line">
            <a:avLst/>
          </a:prstGeom>
          <a:ln w="9525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309" name="直接连接符 11308"/>
          <p:cNvSpPr/>
          <p:nvPr/>
        </p:nvSpPr>
        <p:spPr>
          <a:xfrm flipH="1" flipV="1">
            <a:off x="2395220" y="3180715"/>
            <a:ext cx="720725" cy="863600"/>
          </a:xfrm>
          <a:prstGeom prst="line">
            <a:avLst/>
          </a:prstGeom>
          <a:ln w="9525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310" name="直接连接符 11309"/>
          <p:cNvSpPr/>
          <p:nvPr/>
        </p:nvSpPr>
        <p:spPr>
          <a:xfrm flipH="1" flipV="1">
            <a:off x="2900045" y="2533015"/>
            <a:ext cx="719138" cy="863600"/>
          </a:xfrm>
          <a:prstGeom prst="line">
            <a:avLst/>
          </a:prstGeom>
          <a:ln w="9525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311" name="直接连接符 11310"/>
          <p:cNvSpPr/>
          <p:nvPr/>
        </p:nvSpPr>
        <p:spPr>
          <a:xfrm flipH="1" flipV="1">
            <a:off x="3403283" y="2533015"/>
            <a:ext cx="720725" cy="863600"/>
          </a:xfrm>
          <a:prstGeom prst="line">
            <a:avLst/>
          </a:prstGeom>
          <a:ln w="9525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312" name="文本框 11311"/>
          <p:cNvSpPr txBox="1"/>
          <p:nvPr/>
        </p:nvSpPr>
        <p:spPr>
          <a:xfrm>
            <a:off x="3908108" y="3944303"/>
            <a:ext cx="287337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i="1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11313" name="文本框 11312"/>
          <p:cNvSpPr txBox="1"/>
          <p:nvPr/>
        </p:nvSpPr>
        <p:spPr>
          <a:xfrm>
            <a:off x="2827020" y="2734628"/>
            <a:ext cx="43338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i="1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11314" name="文本框 11313"/>
          <p:cNvSpPr txBox="1"/>
          <p:nvPr/>
        </p:nvSpPr>
        <p:spPr>
          <a:xfrm>
            <a:off x="2107883" y="4692015"/>
            <a:ext cx="2232025" cy="3067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1400" dirty="0">
                <a:solidFill>
                  <a:srgbClr val="0A81D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平行</a:t>
            </a:r>
          </a:p>
        </p:txBody>
      </p:sp>
      <p:sp>
        <p:nvSpPr>
          <p:cNvPr id="11315" name="文本框 11314"/>
          <p:cNvSpPr txBox="1"/>
          <p:nvPr/>
        </p:nvSpPr>
        <p:spPr>
          <a:xfrm>
            <a:off x="5824220" y="3785553"/>
            <a:ext cx="36036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i="1">
                <a:latin typeface="Times New Roman" panose="02020603050405020304" pitchFamily="18" charset="0"/>
              </a:rPr>
              <a:t>Q</a:t>
            </a:r>
          </a:p>
        </p:txBody>
      </p:sp>
      <p:grpSp>
        <p:nvGrpSpPr>
          <p:cNvPr id="11316" name="组合 11315"/>
          <p:cNvGrpSpPr/>
          <p:nvPr/>
        </p:nvGrpSpPr>
        <p:grpSpPr>
          <a:xfrm>
            <a:off x="4411345" y="2244090"/>
            <a:ext cx="531813" cy="504825"/>
            <a:chOff x="0" y="0"/>
            <a:chExt cx="335" cy="318"/>
          </a:xfrm>
        </p:grpSpPr>
        <p:sp>
          <p:nvSpPr>
            <p:cNvPr id="11317" name="文本框 11316"/>
            <p:cNvSpPr txBox="1"/>
            <p:nvPr/>
          </p:nvSpPr>
          <p:spPr>
            <a:xfrm>
              <a:off x="0" y="0"/>
              <a:ext cx="18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b="1" i="1">
                  <a:latin typeface="Times New Roman" panose="02020603050405020304" pitchFamily="18" charset="0"/>
                </a:rPr>
                <a:t>q</a:t>
              </a:r>
            </a:p>
          </p:txBody>
        </p:sp>
        <p:grpSp>
          <p:nvGrpSpPr>
            <p:cNvPr id="11318" name="组合 11317"/>
            <p:cNvGrpSpPr/>
            <p:nvPr/>
          </p:nvGrpSpPr>
          <p:grpSpPr>
            <a:xfrm>
              <a:off x="18" y="227"/>
              <a:ext cx="317" cy="91"/>
              <a:chOff x="0" y="0"/>
              <a:chExt cx="317" cy="91"/>
            </a:xfrm>
          </p:grpSpPr>
          <p:sp>
            <p:nvSpPr>
              <p:cNvPr id="11319" name="直接连接符 11318"/>
              <p:cNvSpPr/>
              <p:nvPr/>
            </p:nvSpPr>
            <p:spPr>
              <a:xfrm>
                <a:off x="0" y="0"/>
                <a:ext cx="227" cy="0"/>
              </a:xfrm>
              <a:prstGeom prst="line">
                <a:avLst/>
              </a:prstGeom>
              <a:ln w="9525">
                <a:noFill/>
              </a:ln>
            </p:spPr>
          </p:sp>
          <p:sp>
            <p:nvSpPr>
              <p:cNvPr id="11320" name="直接连接符 11319"/>
              <p:cNvSpPr/>
              <p:nvPr/>
            </p:nvSpPr>
            <p:spPr>
              <a:xfrm>
                <a:off x="227" y="0"/>
                <a:ext cx="90" cy="91"/>
              </a:xfrm>
              <a:prstGeom prst="line">
                <a:avLst/>
              </a:prstGeom>
              <a:ln w="9525">
                <a:noFill/>
              </a:ln>
            </p:spPr>
          </p:sp>
        </p:grpSp>
      </p:grpSp>
      <p:sp>
        <p:nvSpPr>
          <p:cNvPr id="11321" name="文本框 11320"/>
          <p:cNvSpPr txBox="1"/>
          <p:nvPr/>
        </p:nvSpPr>
        <p:spPr>
          <a:xfrm>
            <a:off x="1268095" y="5187315"/>
            <a:ext cx="9716135" cy="3067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1400">
                <a:solidFill>
                  <a:srgbClr val="0A81D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空间平面或直线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平行</a:t>
            </a:r>
            <a:r>
              <a:rPr lang="zh-CN" altLang="en-US" sz="1400">
                <a:solidFill>
                  <a:srgbClr val="0A81D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于投影面，其投影反映平面的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实形</a:t>
            </a:r>
            <a:r>
              <a:rPr lang="zh-CN" altLang="en-US" sz="1400">
                <a:solidFill>
                  <a:srgbClr val="0A81D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或线段的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实长</a:t>
            </a:r>
            <a:r>
              <a:rPr lang="zh-CN" altLang="en-US" sz="1400">
                <a:solidFill>
                  <a:srgbClr val="0A81D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grpSp>
        <p:nvGrpSpPr>
          <p:cNvPr id="11322" name="组合 11321"/>
          <p:cNvGrpSpPr/>
          <p:nvPr/>
        </p:nvGrpSpPr>
        <p:grpSpPr>
          <a:xfrm>
            <a:off x="7076758" y="2459990"/>
            <a:ext cx="1152525" cy="720725"/>
            <a:chOff x="0" y="0"/>
            <a:chExt cx="726" cy="454"/>
          </a:xfrm>
        </p:grpSpPr>
        <p:sp>
          <p:nvSpPr>
            <p:cNvPr id="11323" name="直接连接符 11322"/>
            <p:cNvSpPr/>
            <p:nvPr/>
          </p:nvSpPr>
          <p:spPr>
            <a:xfrm>
              <a:off x="726" y="0"/>
              <a:ext cx="0" cy="45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11324" name="组合 11323"/>
            <p:cNvGrpSpPr/>
            <p:nvPr/>
          </p:nvGrpSpPr>
          <p:grpSpPr>
            <a:xfrm>
              <a:off x="0" y="0"/>
              <a:ext cx="726" cy="454"/>
              <a:chOff x="0" y="0"/>
              <a:chExt cx="726" cy="454"/>
            </a:xfrm>
          </p:grpSpPr>
          <p:sp>
            <p:nvSpPr>
              <p:cNvPr id="11325" name="直接连接符 11324"/>
              <p:cNvSpPr/>
              <p:nvPr/>
            </p:nvSpPr>
            <p:spPr>
              <a:xfrm>
                <a:off x="182" y="0"/>
                <a:ext cx="0" cy="181"/>
              </a:xfrm>
              <a:prstGeom prst="line">
                <a:avLst/>
              </a:prstGeom>
              <a:ln w="38100" cap="flat" cmpd="sng">
                <a:solidFill>
                  <a:srgbClr val="FF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326" name="直接连接符 11325"/>
              <p:cNvSpPr/>
              <p:nvPr/>
            </p:nvSpPr>
            <p:spPr>
              <a:xfrm>
                <a:off x="454" y="0"/>
                <a:ext cx="27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327" name="直接连接符 11326"/>
              <p:cNvSpPr/>
              <p:nvPr/>
            </p:nvSpPr>
            <p:spPr>
              <a:xfrm>
                <a:off x="0" y="0"/>
                <a:ext cx="0" cy="454"/>
              </a:xfrm>
              <a:prstGeom prst="line">
                <a:avLst/>
              </a:prstGeom>
              <a:ln w="38100" cap="flat" cmpd="sng">
                <a:solidFill>
                  <a:srgbClr val="FF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328" name="直接连接符 11327"/>
              <p:cNvSpPr/>
              <p:nvPr/>
            </p:nvSpPr>
            <p:spPr>
              <a:xfrm>
                <a:off x="454" y="454"/>
                <a:ext cx="27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329" name="直接连接符 11328"/>
              <p:cNvSpPr/>
              <p:nvPr/>
            </p:nvSpPr>
            <p:spPr>
              <a:xfrm>
                <a:off x="182" y="181"/>
                <a:ext cx="136" cy="0"/>
              </a:xfrm>
              <a:prstGeom prst="line">
                <a:avLst/>
              </a:prstGeom>
              <a:ln w="38100" cap="flat" cmpd="sng">
                <a:solidFill>
                  <a:srgbClr val="FF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330" name="直接连接符 11329"/>
              <p:cNvSpPr/>
              <p:nvPr/>
            </p:nvSpPr>
            <p:spPr>
              <a:xfrm flipV="1">
                <a:off x="318" y="0"/>
                <a:ext cx="0" cy="181"/>
              </a:xfrm>
              <a:prstGeom prst="line">
                <a:avLst/>
              </a:prstGeom>
              <a:ln w="38100" cap="flat" cmpd="sng">
                <a:solidFill>
                  <a:srgbClr val="FF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331" name="直接连接符 11330"/>
              <p:cNvSpPr/>
              <p:nvPr/>
            </p:nvSpPr>
            <p:spPr>
              <a:xfrm>
                <a:off x="454" y="0"/>
                <a:ext cx="0" cy="454"/>
              </a:xfrm>
              <a:prstGeom prst="line">
                <a:avLst/>
              </a:prstGeom>
              <a:ln w="38100" cap="flat" cmpd="sng">
                <a:solidFill>
                  <a:srgbClr val="FF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332" name="直接连接符 11331"/>
              <p:cNvSpPr/>
              <p:nvPr/>
            </p:nvSpPr>
            <p:spPr>
              <a:xfrm>
                <a:off x="318" y="182"/>
                <a:ext cx="40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11333" name="直接连接符 11332"/>
              <p:cNvSpPr/>
              <p:nvPr/>
            </p:nvSpPr>
            <p:spPr>
              <a:xfrm>
                <a:off x="0" y="0"/>
                <a:ext cx="182" cy="0"/>
              </a:xfrm>
              <a:prstGeom prst="line">
                <a:avLst/>
              </a:prstGeom>
              <a:ln w="38100" cap="flat" cmpd="sng">
                <a:solidFill>
                  <a:srgbClr val="FF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334" name="直接连接符 11333"/>
              <p:cNvSpPr/>
              <p:nvPr/>
            </p:nvSpPr>
            <p:spPr>
              <a:xfrm>
                <a:off x="182" y="0"/>
                <a:ext cx="13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335" name="直接连接符 11334"/>
              <p:cNvSpPr/>
              <p:nvPr/>
            </p:nvSpPr>
            <p:spPr>
              <a:xfrm>
                <a:off x="318" y="0"/>
                <a:ext cx="136" cy="0"/>
              </a:xfrm>
              <a:prstGeom prst="line">
                <a:avLst/>
              </a:prstGeom>
              <a:ln w="38100" cap="flat" cmpd="sng">
                <a:solidFill>
                  <a:srgbClr val="FF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336" name="直接连接符 11335"/>
              <p:cNvSpPr/>
              <p:nvPr/>
            </p:nvSpPr>
            <p:spPr>
              <a:xfrm flipH="1">
                <a:off x="0" y="454"/>
                <a:ext cx="454" cy="0"/>
              </a:xfrm>
              <a:prstGeom prst="line">
                <a:avLst/>
              </a:prstGeom>
              <a:ln w="38100" cap="flat" cmpd="sng">
                <a:solidFill>
                  <a:srgbClr val="FF33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1337" name="组合 11336"/>
          <p:cNvGrpSpPr/>
          <p:nvPr/>
        </p:nvGrpSpPr>
        <p:grpSpPr>
          <a:xfrm>
            <a:off x="7076758" y="2431415"/>
            <a:ext cx="2851150" cy="1757363"/>
            <a:chOff x="0" y="0"/>
            <a:chExt cx="1796" cy="1107"/>
          </a:xfrm>
        </p:grpSpPr>
        <p:sp>
          <p:nvSpPr>
            <p:cNvPr id="11338" name="直接连接符 11337"/>
            <p:cNvSpPr/>
            <p:nvPr/>
          </p:nvSpPr>
          <p:spPr>
            <a:xfrm>
              <a:off x="0" y="472"/>
              <a:ext cx="771" cy="635"/>
            </a:xfrm>
            <a:prstGeom prst="line">
              <a:avLst/>
            </a:prstGeom>
            <a:ln w="9525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39" name="直接连接符 11338"/>
            <p:cNvSpPr/>
            <p:nvPr/>
          </p:nvSpPr>
          <p:spPr>
            <a:xfrm>
              <a:off x="0" y="18"/>
              <a:ext cx="771" cy="635"/>
            </a:xfrm>
            <a:prstGeom prst="line">
              <a:avLst/>
            </a:prstGeom>
            <a:ln w="9525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40" name="直接连接符 11339"/>
            <p:cNvSpPr/>
            <p:nvPr/>
          </p:nvSpPr>
          <p:spPr>
            <a:xfrm>
              <a:off x="154" y="18"/>
              <a:ext cx="843" cy="726"/>
            </a:xfrm>
            <a:prstGeom prst="line">
              <a:avLst/>
            </a:prstGeom>
            <a:ln w="9525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41" name="直接连接符 11340"/>
            <p:cNvSpPr/>
            <p:nvPr/>
          </p:nvSpPr>
          <p:spPr>
            <a:xfrm>
              <a:off x="317" y="18"/>
              <a:ext cx="925" cy="799"/>
            </a:xfrm>
            <a:prstGeom prst="line">
              <a:avLst/>
            </a:prstGeom>
            <a:ln w="9525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42" name="直接连接符 11341"/>
            <p:cNvSpPr/>
            <p:nvPr/>
          </p:nvSpPr>
          <p:spPr>
            <a:xfrm>
              <a:off x="453" y="18"/>
              <a:ext cx="1043" cy="871"/>
            </a:xfrm>
            <a:prstGeom prst="line">
              <a:avLst/>
            </a:prstGeom>
            <a:ln w="9525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43" name="直接连接符 11342"/>
            <p:cNvSpPr/>
            <p:nvPr/>
          </p:nvSpPr>
          <p:spPr>
            <a:xfrm>
              <a:off x="707" y="0"/>
              <a:ext cx="1089" cy="862"/>
            </a:xfrm>
            <a:prstGeom prst="line">
              <a:avLst/>
            </a:prstGeom>
            <a:ln w="9525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1344" name="组合 11343"/>
          <p:cNvGrpSpPr/>
          <p:nvPr/>
        </p:nvGrpSpPr>
        <p:grpSpPr>
          <a:xfrm>
            <a:off x="8284845" y="3468053"/>
            <a:ext cx="1657350" cy="1081087"/>
            <a:chOff x="0" y="0"/>
            <a:chExt cx="1044" cy="681"/>
          </a:xfrm>
        </p:grpSpPr>
        <p:sp>
          <p:nvSpPr>
            <p:cNvPr id="11345" name="直接连接符 11344"/>
            <p:cNvSpPr/>
            <p:nvPr/>
          </p:nvSpPr>
          <p:spPr>
            <a:xfrm>
              <a:off x="0" y="441"/>
              <a:ext cx="726" cy="24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11346" name="组合 11345"/>
            <p:cNvGrpSpPr/>
            <p:nvPr/>
          </p:nvGrpSpPr>
          <p:grpSpPr>
            <a:xfrm>
              <a:off x="0" y="0"/>
              <a:ext cx="1044" cy="681"/>
              <a:chOff x="0" y="0"/>
              <a:chExt cx="1044" cy="681"/>
            </a:xfrm>
          </p:grpSpPr>
          <p:sp>
            <p:nvSpPr>
              <p:cNvPr id="11347" name="直接连接符 11346"/>
              <p:cNvSpPr/>
              <p:nvPr/>
            </p:nvSpPr>
            <p:spPr>
              <a:xfrm>
                <a:off x="862" y="90"/>
                <a:ext cx="0" cy="46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grpSp>
            <p:nvGrpSpPr>
              <p:cNvPr id="11348" name="组合 11347"/>
              <p:cNvGrpSpPr/>
              <p:nvPr/>
            </p:nvGrpSpPr>
            <p:grpSpPr>
              <a:xfrm>
                <a:off x="0" y="0"/>
                <a:ext cx="1044" cy="681"/>
                <a:chOff x="0" y="0"/>
                <a:chExt cx="1044" cy="681"/>
              </a:xfrm>
            </p:grpSpPr>
            <p:sp>
              <p:nvSpPr>
                <p:cNvPr id="11349" name="直接连接符 11348"/>
                <p:cNvSpPr/>
                <p:nvPr/>
              </p:nvSpPr>
              <p:spPr>
                <a:xfrm>
                  <a:off x="953" y="136"/>
                  <a:ext cx="91" cy="91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1350" name="直接连接符 11349"/>
                <p:cNvSpPr/>
                <p:nvPr/>
              </p:nvSpPr>
              <p:spPr>
                <a:xfrm>
                  <a:off x="500" y="136"/>
                  <a:ext cx="453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1351" name="直接连接符 11350"/>
                <p:cNvSpPr/>
                <p:nvPr/>
              </p:nvSpPr>
              <p:spPr>
                <a:xfrm>
                  <a:off x="0" y="0"/>
                  <a:ext cx="242" cy="79"/>
                </a:xfrm>
                <a:prstGeom prst="line">
                  <a:avLst/>
                </a:prstGeom>
                <a:ln w="38100" cap="flat" cmpd="sng">
                  <a:solidFill>
                    <a:srgbClr val="FF33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1352" name="直接连接符 11351"/>
                <p:cNvSpPr/>
                <p:nvPr/>
              </p:nvSpPr>
              <p:spPr>
                <a:xfrm>
                  <a:off x="242" y="79"/>
                  <a:ext cx="0" cy="201"/>
                </a:xfrm>
                <a:prstGeom prst="line">
                  <a:avLst/>
                </a:prstGeom>
                <a:ln w="38100" cap="flat" cmpd="sng">
                  <a:solidFill>
                    <a:srgbClr val="FF33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1353" name="直接连接符 11352"/>
                <p:cNvSpPr/>
                <p:nvPr/>
              </p:nvSpPr>
              <p:spPr>
                <a:xfrm>
                  <a:off x="242" y="280"/>
                  <a:ext cx="242" cy="80"/>
                </a:xfrm>
                <a:prstGeom prst="line">
                  <a:avLst/>
                </a:prstGeom>
                <a:ln w="38100" cap="flat" cmpd="sng">
                  <a:solidFill>
                    <a:srgbClr val="FF33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1354" name="直接连接符 11353"/>
                <p:cNvSpPr/>
                <p:nvPr/>
              </p:nvSpPr>
              <p:spPr>
                <a:xfrm flipV="1">
                  <a:off x="484" y="160"/>
                  <a:ext cx="0" cy="200"/>
                </a:xfrm>
                <a:prstGeom prst="line">
                  <a:avLst/>
                </a:prstGeom>
                <a:ln w="38100" cap="flat" cmpd="sng">
                  <a:solidFill>
                    <a:srgbClr val="FF33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1355" name="直接连接符 11354"/>
                <p:cNvSpPr/>
                <p:nvPr/>
              </p:nvSpPr>
              <p:spPr>
                <a:xfrm>
                  <a:off x="484" y="161"/>
                  <a:ext cx="242" cy="79"/>
                </a:xfrm>
                <a:prstGeom prst="line">
                  <a:avLst/>
                </a:prstGeom>
                <a:ln w="38100" cap="flat" cmpd="sng">
                  <a:solidFill>
                    <a:srgbClr val="FF33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1356" name="直接连接符 11355"/>
                <p:cNvSpPr/>
                <p:nvPr/>
              </p:nvSpPr>
              <p:spPr>
                <a:xfrm>
                  <a:off x="0" y="0"/>
                  <a:ext cx="0" cy="441"/>
                </a:xfrm>
                <a:prstGeom prst="line">
                  <a:avLst/>
                </a:prstGeom>
                <a:ln w="38100" cap="flat" cmpd="sng">
                  <a:solidFill>
                    <a:srgbClr val="FF33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1357" name="直接连接符 11356"/>
                <p:cNvSpPr/>
                <p:nvPr/>
              </p:nvSpPr>
              <p:spPr>
                <a:xfrm>
                  <a:off x="726" y="240"/>
                  <a:ext cx="0" cy="441"/>
                </a:xfrm>
                <a:prstGeom prst="line">
                  <a:avLst/>
                </a:prstGeom>
                <a:ln w="38100" cap="flat" cmpd="sng">
                  <a:solidFill>
                    <a:srgbClr val="FF33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1358" name="直接连接符 11357"/>
                <p:cNvSpPr/>
                <p:nvPr/>
              </p:nvSpPr>
              <p:spPr>
                <a:xfrm>
                  <a:off x="727" y="681"/>
                  <a:ext cx="317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1359" name="直接连接符 11358"/>
                <p:cNvSpPr/>
                <p:nvPr/>
              </p:nvSpPr>
              <p:spPr>
                <a:xfrm>
                  <a:off x="718" y="236"/>
                  <a:ext cx="317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1360" name="直接连接符 11359"/>
                <p:cNvSpPr/>
                <p:nvPr/>
              </p:nvSpPr>
              <p:spPr>
                <a:xfrm>
                  <a:off x="1044" y="227"/>
                  <a:ext cx="0" cy="45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1361" name="直接连接符 11360"/>
                <p:cNvSpPr/>
                <p:nvPr/>
              </p:nvSpPr>
              <p:spPr>
                <a:xfrm>
                  <a:off x="0" y="0"/>
                  <a:ext cx="772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1362" name="直接连接符 11361"/>
                <p:cNvSpPr/>
                <p:nvPr/>
              </p:nvSpPr>
              <p:spPr>
                <a:xfrm>
                  <a:off x="227" y="81"/>
                  <a:ext cx="635" cy="1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1363" name="直接连接符 11362"/>
                <p:cNvSpPr/>
                <p:nvPr/>
              </p:nvSpPr>
              <p:spPr>
                <a:xfrm>
                  <a:off x="772" y="0"/>
                  <a:ext cx="90" cy="91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1364" name="直接连接符 11363"/>
                <p:cNvSpPr/>
                <p:nvPr/>
              </p:nvSpPr>
              <p:spPr>
                <a:xfrm>
                  <a:off x="245" y="273"/>
                  <a:ext cx="227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</p:grpSp>
      <p:sp>
        <p:nvSpPr>
          <p:cNvPr id="11365" name="文本框 11364"/>
          <p:cNvSpPr txBox="1"/>
          <p:nvPr/>
        </p:nvSpPr>
        <p:spPr>
          <a:xfrm>
            <a:off x="5506720" y="4704715"/>
            <a:ext cx="1439863" cy="3067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1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垂直</a:t>
            </a:r>
          </a:p>
        </p:txBody>
      </p:sp>
      <p:sp>
        <p:nvSpPr>
          <p:cNvPr id="11368" name="文本框 11367"/>
          <p:cNvSpPr txBox="1"/>
          <p:nvPr/>
        </p:nvSpPr>
        <p:spPr>
          <a:xfrm>
            <a:off x="8732520" y="3972878"/>
            <a:ext cx="36036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i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11369" name="文本框 11368"/>
          <p:cNvSpPr txBox="1"/>
          <p:nvPr/>
        </p:nvSpPr>
        <p:spPr>
          <a:xfrm>
            <a:off x="7292658" y="2748915"/>
            <a:ext cx="287337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i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11370" name="文本框 11369"/>
          <p:cNvSpPr txBox="1"/>
          <p:nvPr/>
        </p:nvSpPr>
        <p:spPr>
          <a:xfrm>
            <a:off x="7868920" y="4720590"/>
            <a:ext cx="1295400" cy="3067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1400" dirty="0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斜交</a:t>
            </a:r>
          </a:p>
        </p:txBody>
      </p:sp>
      <p:sp>
        <p:nvSpPr>
          <p:cNvPr id="11371" name="文本框 11370"/>
          <p:cNvSpPr txBox="1"/>
          <p:nvPr/>
        </p:nvSpPr>
        <p:spPr>
          <a:xfrm>
            <a:off x="1445260" y="5644515"/>
            <a:ext cx="9172575" cy="3067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1400">
                <a:solidFill>
                  <a:srgbClr val="FD480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空间平面或直线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垂直</a:t>
            </a:r>
            <a:r>
              <a:rPr lang="zh-CN" altLang="en-US" sz="1400">
                <a:solidFill>
                  <a:srgbClr val="FD480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于投影面，其投影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积聚</a:t>
            </a:r>
            <a:r>
              <a:rPr lang="zh-CN" altLang="en-US" sz="1400">
                <a:solidFill>
                  <a:srgbClr val="FD480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成一条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线段</a:t>
            </a:r>
            <a:r>
              <a:rPr lang="zh-CN" altLang="en-US" sz="1400">
                <a:solidFill>
                  <a:srgbClr val="FD480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或一个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点</a:t>
            </a:r>
            <a:r>
              <a:rPr lang="zh-CN" altLang="en-US" sz="1400">
                <a:solidFill>
                  <a:srgbClr val="FD480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sz="1400" dirty="0">
              <a:solidFill>
                <a:srgbClr val="FD480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1372" name="文本框 11371"/>
          <p:cNvSpPr txBox="1"/>
          <p:nvPr/>
        </p:nvSpPr>
        <p:spPr>
          <a:xfrm>
            <a:off x="1747203" y="6021070"/>
            <a:ext cx="8135937" cy="3067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1400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空间一平面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倾斜</a:t>
            </a:r>
            <a:r>
              <a:rPr lang="zh-CN" altLang="en-US" sz="1400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于投影面，其投影为空间图形的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类似形。</a:t>
            </a:r>
            <a:endParaRPr lang="zh-CN" altLang="en-US" sz="1400">
              <a:solidFill>
                <a:srgbClr val="0099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78" name="直接连接符 11377"/>
          <p:cNvSpPr/>
          <p:nvPr/>
        </p:nvSpPr>
        <p:spPr>
          <a:xfrm>
            <a:off x="4700270" y="2604453"/>
            <a:ext cx="215900" cy="287337"/>
          </a:xfrm>
          <a:prstGeom prst="line">
            <a:avLst/>
          </a:prstGeom>
          <a:ln w="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379" name="文本框 11378"/>
          <p:cNvSpPr txBox="1"/>
          <p:nvPr/>
        </p:nvSpPr>
        <p:spPr>
          <a:xfrm>
            <a:off x="4482783" y="1364615"/>
            <a:ext cx="12954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积聚性</a:t>
            </a:r>
          </a:p>
        </p:txBody>
      </p:sp>
      <p:sp>
        <p:nvSpPr>
          <p:cNvPr id="11380" name="文本框 11379"/>
          <p:cNvSpPr txBox="1"/>
          <p:nvPr/>
        </p:nvSpPr>
        <p:spPr>
          <a:xfrm>
            <a:off x="7003733" y="1364615"/>
            <a:ext cx="1296987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类似性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431925" y="645795"/>
            <a:ext cx="189992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正投影</a:t>
            </a:r>
            <a:endParaRPr lang="zh-CN" altLang="en-US" b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1000"/>
                                        <p:tgtEl>
                                          <p:spTgt spid="11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1000"/>
                                        <p:tgtEl>
                                          <p:spTgt spid="11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1000"/>
                                        <p:tgtEl>
                                          <p:spTgt spid="11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1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4" dur="500"/>
                                        <p:tgtEl>
                                          <p:spTgt spid="11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1000"/>
                                        <p:tgtEl>
                                          <p:spTgt spid="11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1000"/>
                                        <p:tgtEl>
                                          <p:spTgt spid="11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1000"/>
                                        <p:tgtEl>
                                          <p:spTgt spid="11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11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500"/>
                            </p:stCondLst>
                            <p:childTnLst>
                              <p:par>
                                <p:cTn id="7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11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000"/>
                            </p:stCondLst>
                            <p:childTnLst>
                              <p:par>
                                <p:cTn id="7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11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500"/>
                            </p:stCondLst>
                            <p:childTnLst>
                              <p:par>
                                <p:cTn id="7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11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11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1000"/>
                                        <p:tgtEl>
                                          <p:spTgt spid="11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11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4" grpId="0"/>
      <p:bldP spid="11275" grpId="0"/>
      <p:bldP spid="11313" grpId="0"/>
      <p:bldP spid="11315" grpId="0"/>
      <p:bldP spid="11321" grpId="0"/>
      <p:bldP spid="11365" grpId="0"/>
      <p:bldP spid="11368" grpId="0"/>
      <p:bldP spid="11369" grpId="0"/>
      <p:bldP spid="11370" grpId="0"/>
      <p:bldP spid="11371" grpId="0"/>
      <p:bldP spid="11372" grpId="0"/>
      <p:bldP spid="11379" grpId="0"/>
      <p:bldP spid="1138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588125" y="2394585"/>
            <a:ext cx="3878580" cy="119888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zh-CN" sz="3600" b="1" i="1" dirty="0">
                <a:solidFill>
                  <a:srgbClr val="FF6666"/>
                </a:solidFill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3600" b="1" i="1" dirty="0">
                <a:solidFill>
                  <a:srgbClr val="0066CC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  <a:sym typeface="+mn-ea"/>
              </a:rPr>
              <a:t>三视图的形成及其投影规律</a:t>
            </a:r>
            <a:endParaRPr lang="zh-CN" altLang="en-US" sz="3600" b="1" i="1" dirty="0">
              <a:solidFill>
                <a:srgbClr val="0066CC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43607" y="205040"/>
            <a:ext cx="3088640" cy="644715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en-US" altLang="zh-CN" sz="41300" dirty="0">
                <a:solidFill>
                  <a:srgbClr val="0066CC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3</a:t>
            </a:r>
            <a:endParaRPr lang="zh-CN" altLang="en-US" sz="4800" dirty="0">
              <a:solidFill>
                <a:srgbClr val="0066CC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239142" y="3853934"/>
            <a:ext cx="3434080" cy="10147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algn="l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2000">
                <a:sym typeface="+mn-ea"/>
              </a:rPr>
              <a:t>三投影面体系</a:t>
            </a:r>
            <a:endParaRPr lang="zh-CN" altLang="en-US" sz="2000"/>
          </a:p>
          <a:p>
            <a:pPr marL="457200" indent="-457200" algn="l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2000">
                <a:sym typeface="+mn-ea"/>
              </a:rPr>
              <a:t>三视图的形成及投影规律</a:t>
            </a:r>
          </a:p>
        </p:txBody>
      </p:sp>
      <p:sp>
        <p:nvSpPr>
          <p:cNvPr id="5" name="矩形 4"/>
          <p:cNvSpPr/>
          <p:nvPr/>
        </p:nvSpPr>
        <p:spPr>
          <a:xfrm>
            <a:off x="3385562" y="189165"/>
            <a:ext cx="3088640" cy="644715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en-US" sz="41300" dirty="0">
                <a:solidFill>
                  <a:srgbClr val="0066CC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2</a:t>
            </a:r>
            <a:endParaRPr lang="en-US" sz="4800" dirty="0">
              <a:solidFill>
                <a:srgbClr val="0066CC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454652" y="205675"/>
            <a:ext cx="1635760" cy="644715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en-US" sz="41300" dirty="0">
                <a:solidFill>
                  <a:srgbClr val="0066CC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.</a:t>
            </a:r>
            <a:endParaRPr lang="en-US" sz="4800" dirty="0">
              <a:solidFill>
                <a:srgbClr val="0066CC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699234" y="364233"/>
            <a:ext cx="3954780" cy="64516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l"/>
            <a:r>
              <a:rPr lang="zh-CN" altLang="en-US" sz="3600" b="1" i="1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3.</a:t>
            </a:r>
            <a:r>
              <a:rPr lang="en-US" altLang="zh-CN" sz="3600" b="1" i="1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2.</a:t>
            </a:r>
            <a:r>
              <a:rPr lang="zh-CN" altLang="en-US" sz="3600" b="1" i="1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1 三投影面体系</a:t>
            </a:r>
            <a:endParaRPr lang="zh-CN" altLang="en-US" sz="3600" b="1" i="1" dirty="0">
              <a:solidFill>
                <a:srgbClr val="0066CC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pic>
        <p:nvPicPr>
          <p:cNvPr id="14338" name="图片 14337"/>
          <p:cNvPicPr>
            <a:picLocks noChangeAspect="1"/>
          </p:cNvPicPr>
          <p:nvPr/>
        </p:nvPicPr>
        <p:blipFill>
          <a:blip r:embed="rId2">
            <a:grayscl/>
          </a:blip>
          <a:srcRect l="37451" t="46071" r="35970" b="32292"/>
          <a:stretch>
            <a:fillRect/>
          </a:stretch>
        </p:blipFill>
        <p:spPr>
          <a:xfrm>
            <a:off x="3789045" y="4045268"/>
            <a:ext cx="2592388" cy="15827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339" name="矩形 14338"/>
          <p:cNvSpPr/>
          <p:nvPr/>
        </p:nvSpPr>
        <p:spPr>
          <a:xfrm>
            <a:off x="2347595" y="2316480"/>
            <a:ext cx="7058025" cy="1728788"/>
          </a:xfrm>
          <a:prstGeom prst="rect">
            <a:avLst/>
          </a:prstGeom>
          <a:solidFill>
            <a:srgbClr val="FFFFFF"/>
          </a:solidFill>
          <a:ln w="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 lang="zh-CN" altLang="en-US" dirty="0">
              <a:solidFill>
                <a:srgbClr val="663300"/>
              </a:solidFill>
              <a:latin typeface="Arial" panose="020B0604020202020204" pitchFamily="34" charset="0"/>
            </a:endParaRPr>
          </a:p>
        </p:txBody>
      </p:sp>
      <p:sp>
        <p:nvSpPr>
          <p:cNvPr id="14343" name="未知"/>
          <p:cNvSpPr/>
          <p:nvPr/>
        </p:nvSpPr>
        <p:spPr>
          <a:xfrm>
            <a:off x="6121083" y="4978718"/>
            <a:ext cx="69850" cy="69850"/>
          </a:xfrm>
          <a:custGeom>
            <a:avLst/>
            <a:gdLst/>
            <a:ahLst/>
            <a:cxnLst/>
            <a:rect l="0" t="0" r="0" b="0"/>
            <a:pathLst>
              <a:path w="2567" h="1580">
                <a:moveTo>
                  <a:pt x="0" y="1435"/>
                </a:moveTo>
                <a:lnTo>
                  <a:pt x="42" y="1507"/>
                </a:lnTo>
                <a:lnTo>
                  <a:pt x="84" y="1580"/>
                </a:lnTo>
                <a:lnTo>
                  <a:pt x="2567" y="145"/>
                </a:lnTo>
                <a:lnTo>
                  <a:pt x="2525" y="72"/>
                </a:lnTo>
                <a:lnTo>
                  <a:pt x="2483" y="0"/>
                </a:lnTo>
                <a:lnTo>
                  <a:pt x="0" y="1435"/>
                </a:lnTo>
              </a:path>
            </a:pathLst>
          </a:custGeom>
          <a:solidFill>
            <a:srgbClr val="808000">
              <a:alpha val="100000"/>
            </a:srgbClr>
          </a:solidFill>
          <a:ln w="0" cap="flat" cmpd="sng">
            <a:solidFill>
              <a:srgbClr val="FFFF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4344" name="图片 14343"/>
          <p:cNvPicPr>
            <a:picLocks noChangeAspect="1"/>
          </p:cNvPicPr>
          <p:nvPr/>
        </p:nvPicPr>
        <p:blipFill>
          <a:blip r:embed="rId2">
            <a:grayscl/>
            <a:lum contrast="6000"/>
          </a:blip>
          <a:srcRect l="31543" t="20464" r="44824" b="56902"/>
          <a:stretch>
            <a:fillRect/>
          </a:stretch>
        </p:blipFill>
        <p:spPr>
          <a:xfrm>
            <a:off x="7245033" y="4116705"/>
            <a:ext cx="2305050" cy="1655763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</p:pic>
      <p:pic>
        <p:nvPicPr>
          <p:cNvPr id="14345" name="图片 14344"/>
          <p:cNvPicPr>
            <a:picLocks noChangeAspect="1"/>
          </p:cNvPicPr>
          <p:nvPr/>
        </p:nvPicPr>
        <p:blipFill>
          <a:blip r:embed="rId3">
            <a:grayscl/>
            <a:lum bright="6000" contrast="-12000"/>
          </a:blip>
          <a:srcRect l="64763" t="53929" r="13818" b="32291"/>
          <a:stretch>
            <a:fillRect/>
          </a:stretch>
        </p:blipFill>
        <p:spPr>
          <a:xfrm>
            <a:off x="2522220" y="2546668"/>
            <a:ext cx="2089150" cy="10080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346" name="图片 14345"/>
          <p:cNvPicPr>
            <a:picLocks noChangeAspect="1"/>
          </p:cNvPicPr>
          <p:nvPr/>
        </p:nvPicPr>
        <p:blipFill>
          <a:blip r:embed="rId3"/>
          <a:srcRect l="64763" t="53929" r="13818" b="32291"/>
          <a:stretch>
            <a:fillRect/>
          </a:stretch>
        </p:blipFill>
        <p:spPr>
          <a:xfrm>
            <a:off x="5960745" y="2532380"/>
            <a:ext cx="2089150" cy="1008063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4347" name="组合 14346"/>
          <p:cNvGrpSpPr/>
          <p:nvPr/>
        </p:nvGrpSpPr>
        <p:grpSpPr>
          <a:xfrm>
            <a:off x="2636520" y="2603818"/>
            <a:ext cx="3168650" cy="2449512"/>
            <a:chOff x="0" y="0"/>
            <a:chExt cx="1996" cy="1543"/>
          </a:xfrm>
        </p:grpSpPr>
        <p:sp>
          <p:nvSpPr>
            <p:cNvPr id="14348" name="直接连接符 14347"/>
            <p:cNvSpPr/>
            <p:nvPr/>
          </p:nvSpPr>
          <p:spPr>
            <a:xfrm flipH="1" flipV="1">
              <a:off x="0" y="0"/>
              <a:ext cx="817" cy="998"/>
            </a:xfrm>
            <a:prstGeom prst="line">
              <a:avLst/>
            </a:prstGeom>
            <a:ln w="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49" name="直接连接符 14348"/>
            <p:cNvSpPr/>
            <p:nvPr/>
          </p:nvSpPr>
          <p:spPr>
            <a:xfrm flipH="1" flipV="1">
              <a:off x="390" y="9"/>
              <a:ext cx="1016" cy="1171"/>
            </a:xfrm>
            <a:prstGeom prst="line">
              <a:avLst/>
            </a:prstGeom>
            <a:ln w="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50" name="直接连接符 14349"/>
            <p:cNvSpPr/>
            <p:nvPr/>
          </p:nvSpPr>
          <p:spPr>
            <a:xfrm flipH="1" flipV="1">
              <a:off x="772" y="10"/>
              <a:ext cx="952" cy="1124"/>
            </a:xfrm>
            <a:prstGeom prst="line">
              <a:avLst/>
            </a:prstGeom>
            <a:ln w="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51" name="直接连接符 14350"/>
            <p:cNvSpPr/>
            <p:nvPr/>
          </p:nvSpPr>
          <p:spPr>
            <a:xfrm flipH="1" flipV="1">
              <a:off x="1134" y="0"/>
              <a:ext cx="862" cy="998"/>
            </a:xfrm>
            <a:prstGeom prst="line">
              <a:avLst/>
            </a:prstGeom>
            <a:ln w="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52" name="直接连接符 14351"/>
            <p:cNvSpPr/>
            <p:nvPr/>
          </p:nvSpPr>
          <p:spPr>
            <a:xfrm flipH="1" flipV="1">
              <a:off x="0" y="545"/>
              <a:ext cx="817" cy="998"/>
            </a:xfrm>
            <a:prstGeom prst="line">
              <a:avLst/>
            </a:prstGeom>
            <a:ln w="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53" name="直接连接符 14352"/>
            <p:cNvSpPr/>
            <p:nvPr/>
          </p:nvSpPr>
          <p:spPr>
            <a:xfrm flipH="1" flipV="1">
              <a:off x="1161" y="563"/>
              <a:ext cx="336" cy="435"/>
            </a:xfrm>
            <a:prstGeom prst="line">
              <a:avLst/>
            </a:prstGeom>
            <a:ln w="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4354" name="组合 14353"/>
          <p:cNvGrpSpPr/>
          <p:nvPr/>
        </p:nvGrpSpPr>
        <p:grpSpPr>
          <a:xfrm>
            <a:off x="6092508" y="2603818"/>
            <a:ext cx="3097212" cy="2508250"/>
            <a:chOff x="0" y="0"/>
            <a:chExt cx="1951" cy="1580"/>
          </a:xfrm>
        </p:grpSpPr>
        <p:sp>
          <p:nvSpPr>
            <p:cNvPr id="14355" name="直接连接符 14354"/>
            <p:cNvSpPr/>
            <p:nvPr/>
          </p:nvSpPr>
          <p:spPr>
            <a:xfrm>
              <a:off x="0" y="0"/>
              <a:ext cx="817" cy="1044"/>
            </a:xfrm>
            <a:prstGeom prst="line">
              <a:avLst/>
            </a:prstGeom>
            <a:ln w="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56" name="直接连接符 14355"/>
            <p:cNvSpPr/>
            <p:nvPr/>
          </p:nvSpPr>
          <p:spPr>
            <a:xfrm>
              <a:off x="16" y="537"/>
              <a:ext cx="771" cy="1043"/>
            </a:xfrm>
            <a:prstGeom prst="line">
              <a:avLst/>
            </a:prstGeom>
            <a:ln w="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57" name="直接连接符 14356"/>
            <p:cNvSpPr/>
            <p:nvPr/>
          </p:nvSpPr>
          <p:spPr>
            <a:xfrm>
              <a:off x="363" y="0"/>
              <a:ext cx="989" cy="1189"/>
            </a:xfrm>
            <a:prstGeom prst="line">
              <a:avLst/>
            </a:prstGeom>
            <a:ln w="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58" name="直接连接符 14357"/>
            <p:cNvSpPr/>
            <p:nvPr/>
          </p:nvSpPr>
          <p:spPr>
            <a:xfrm>
              <a:off x="771" y="0"/>
              <a:ext cx="953" cy="1180"/>
            </a:xfrm>
            <a:prstGeom prst="line">
              <a:avLst/>
            </a:prstGeom>
            <a:ln w="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59" name="直接连接符 14358"/>
            <p:cNvSpPr/>
            <p:nvPr/>
          </p:nvSpPr>
          <p:spPr>
            <a:xfrm>
              <a:off x="1134" y="0"/>
              <a:ext cx="817" cy="1044"/>
            </a:xfrm>
            <a:prstGeom prst="line">
              <a:avLst/>
            </a:prstGeom>
            <a:ln w="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4360" name="文本框 14359"/>
          <p:cNvSpPr txBox="1"/>
          <p:nvPr/>
        </p:nvSpPr>
        <p:spPr>
          <a:xfrm>
            <a:off x="8972233" y="2532380"/>
            <a:ext cx="504825" cy="9220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投影面</a:t>
            </a:r>
          </a:p>
        </p:txBody>
      </p:sp>
      <p:sp>
        <p:nvSpPr>
          <p:cNvPr id="14362" name="文本框 14361"/>
          <p:cNvSpPr txBox="1"/>
          <p:nvPr/>
        </p:nvSpPr>
        <p:spPr>
          <a:xfrm>
            <a:off x="2047875" y="5772785"/>
            <a:ext cx="5845175" cy="3067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1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不同的实体在一个投影面中的投影可能相同</a:t>
            </a:r>
          </a:p>
        </p:txBody>
      </p:sp>
      <p:sp>
        <p:nvSpPr>
          <p:cNvPr id="14342" name="文本框 14341"/>
          <p:cNvSpPr txBox="1"/>
          <p:nvPr/>
        </p:nvSpPr>
        <p:spPr>
          <a:xfrm>
            <a:off x="1316990" y="6204585"/>
            <a:ext cx="10681335" cy="3067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一般情况下，在正投影法中仅用一个投影面，不能完全、准确地表达物体的全部形状和结构。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047875" y="1623060"/>
            <a:ext cx="8706485" cy="3067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在正投影法中仅用一个投影面，能否完全准确地表达物体的全部形状和结构？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995" y="1423670"/>
            <a:ext cx="1054735" cy="132524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075" y="4798695"/>
            <a:ext cx="1193800" cy="1405890"/>
          </a:xfrm>
          <a:prstGeom prst="rect">
            <a:avLst/>
          </a:prstGeom>
        </p:spPr>
      </p:pic>
      <p:sp>
        <p:nvSpPr>
          <p:cNvPr id="8" name="直接连接符 7"/>
          <p:cNvSpPr/>
          <p:nvPr/>
        </p:nvSpPr>
        <p:spPr>
          <a:xfrm flipH="1" flipV="1">
            <a:off x="7943533" y="3507105"/>
            <a:ext cx="533400" cy="690562"/>
          </a:xfrm>
          <a:prstGeom prst="line">
            <a:avLst/>
          </a:prstGeom>
          <a:ln w="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2000"/>
                                        <p:tgtEl>
                                          <p:spTgt spid="14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1000"/>
                                        <p:tgtEl>
                                          <p:spTgt spid="14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2000"/>
                                        <p:tgtEl>
                                          <p:spTgt spid="14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1000"/>
                                        <p:tgtEl>
                                          <p:spTgt spid="14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143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14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bldLvl="0" animBg="1"/>
      <p:bldP spid="14360" grpId="0"/>
      <p:bldP spid="14362" grpId="0" bldLvl="0" animBg="1"/>
      <p:bldP spid="14342" grpId="0"/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图片 54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01675" y="274955"/>
            <a:ext cx="6096000" cy="62896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5977255" y="4963160"/>
            <a:ext cx="339979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根据我国国家标准《技术制图》</a:t>
            </a:r>
            <a:r>
              <a:rPr lang="zh-CN" altLang="en-US" sz="1400">
                <a:solidFill>
                  <a:srgbClr val="FF0000"/>
                </a:solidFill>
              </a:rPr>
              <a:t>规定</a:t>
            </a:r>
            <a:r>
              <a:rPr lang="zh-CN" altLang="en-US" sz="1400"/>
              <a:t>，机械图样是按正投影法将物体放在</a:t>
            </a:r>
            <a:r>
              <a:rPr lang="zh-CN" altLang="en-US" sz="1400">
                <a:solidFill>
                  <a:srgbClr val="FF0000"/>
                </a:solidFill>
              </a:rPr>
              <a:t>第一分角进行投影</a:t>
            </a:r>
            <a:r>
              <a:rPr lang="zh-CN" altLang="en-US" sz="1400"/>
              <a:t>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977255" y="3127375"/>
            <a:ext cx="5308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rgbClr val="FF0000"/>
                </a:solidFill>
                <a:sym typeface="+mn-ea"/>
              </a:rPr>
              <a:t>相互垂直的三个投影面</a:t>
            </a:r>
            <a:r>
              <a:rPr lang="zh-CN" altLang="en-US" sz="1400">
                <a:sym typeface="+mn-ea"/>
              </a:rPr>
              <a:t>将空间分成</a:t>
            </a:r>
            <a:r>
              <a:rPr lang="zh-CN" altLang="en-US" sz="1400">
                <a:solidFill>
                  <a:srgbClr val="FF0000"/>
                </a:solidFill>
                <a:sym typeface="+mn-ea"/>
              </a:rPr>
              <a:t>八个</a:t>
            </a:r>
            <a:r>
              <a:rPr lang="zh-CN" altLang="en-US" sz="1400">
                <a:sym typeface="+mn-ea"/>
              </a:rPr>
              <a:t>分角。</a:t>
            </a:r>
          </a:p>
        </p:txBody>
      </p:sp>
      <p:sp>
        <p:nvSpPr>
          <p:cNvPr id="4" name="矩形 3"/>
          <p:cNvSpPr/>
          <p:nvPr/>
        </p:nvSpPr>
        <p:spPr>
          <a:xfrm>
            <a:off x="2623820" y="2350135"/>
            <a:ext cx="64643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  <a:scene3d>
              <a:camera prst="orthographicFront"/>
              <a:lightRig rig="threePt" dir="t">
                <a:rot lat="0" lon="0" rev="0"/>
              </a:lightRig>
            </a:scene3d>
            <a:sp3d extrusionH="120650" prstMaterial="matte"/>
          </a:bodyPr>
          <a:lstStyle/>
          <a:p>
            <a:pPr algn="ctr"/>
            <a:r>
              <a:rPr lang="en-US" altLang="zh-CN" sz="7200" b="1">
                <a:ln>
                  <a:gradFill>
                    <a:gsLst>
                      <a:gs pos="98000">
                        <a:srgbClr val="F88C89"/>
                      </a:gs>
                      <a:gs pos="86000">
                        <a:srgbClr val="F8D078"/>
                      </a:gs>
                      <a:gs pos="73000">
                        <a:srgbClr val="BAD172"/>
                      </a:gs>
                      <a:gs pos="62000">
                        <a:srgbClr val="BEC7AF"/>
                      </a:gs>
                      <a:gs pos="50000">
                        <a:srgbClr val="83D9E3"/>
                      </a:gs>
                      <a:gs pos="37000">
                        <a:srgbClr val="9C61DF"/>
                      </a:gs>
                      <a:gs pos="24000">
                        <a:srgbClr val="CA78E1"/>
                      </a:gs>
                      <a:gs pos="12000">
                        <a:srgbClr val="E564DF"/>
                      </a:gs>
                      <a:gs pos="0">
                        <a:srgbClr val="F86CC0"/>
                      </a:gs>
                    </a:gsLst>
                    <a:lin ang="0"/>
                  </a:gradFill>
                </a:ln>
                <a:solidFill>
                  <a:srgbClr val="FF0000"/>
                </a:solidFill>
                <a:effectLst>
                  <a:outerShdw blurRad="50800" dist="38100" algn="l" rotWithShape="0">
                    <a:srgbClr val="CC00CC">
                      <a:alpha val="40000"/>
                    </a:srgbClr>
                  </a:outerShdw>
                </a:effectLst>
              </a:rPr>
              <a:t>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5361"/>
          <p:cNvSpPr txBox="1"/>
          <p:nvPr/>
        </p:nvSpPr>
        <p:spPr>
          <a:xfrm>
            <a:off x="7004050" y="1703070"/>
            <a:ext cx="130111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投影面</a:t>
            </a:r>
          </a:p>
        </p:txBody>
      </p:sp>
      <p:sp>
        <p:nvSpPr>
          <p:cNvPr id="15363" name="未知"/>
          <p:cNvSpPr/>
          <p:nvPr/>
        </p:nvSpPr>
        <p:spPr>
          <a:xfrm>
            <a:off x="2129155" y="4102735"/>
            <a:ext cx="4003675" cy="1295400"/>
          </a:xfrm>
          <a:custGeom>
            <a:avLst/>
            <a:gdLst/>
            <a:ahLst/>
            <a:cxnLst/>
            <a:rect l="0" t="0" r="0" b="0"/>
            <a:pathLst>
              <a:path w="2522" h="816">
                <a:moveTo>
                  <a:pt x="0" y="0"/>
                </a:moveTo>
                <a:lnTo>
                  <a:pt x="1700" y="0"/>
                </a:lnTo>
                <a:lnTo>
                  <a:pt x="2522" y="816"/>
                </a:lnTo>
                <a:lnTo>
                  <a:pt x="818" y="813"/>
                </a:lnTo>
                <a:lnTo>
                  <a:pt x="0" y="0"/>
                </a:lnTo>
                <a:close/>
              </a:path>
            </a:pathLst>
          </a:cu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364" name="矩形 15363"/>
          <p:cNvSpPr/>
          <p:nvPr/>
        </p:nvSpPr>
        <p:spPr>
          <a:xfrm>
            <a:off x="2129155" y="2435860"/>
            <a:ext cx="2711450" cy="1666875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365" name="未知"/>
          <p:cNvSpPr/>
          <p:nvPr/>
        </p:nvSpPr>
        <p:spPr>
          <a:xfrm>
            <a:off x="4826318" y="2435860"/>
            <a:ext cx="1290637" cy="2965450"/>
          </a:xfrm>
          <a:custGeom>
            <a:avLst/>
            <a:gdLst/>
            <a:ahLst/>
            <a:cxnLst/>
            <a:rect l="0" t="0" r="0" b="0"/>
            <a:pathLst>
              <a:path w="813" h="1868">
                <a:moveTo>
                  <a:pt x="0" y="1052"/>
                </a:moveTo>
                <a:lnTo>
                  <a:pt x="813" y="1868"/>
                </a:lnTo>
                <a:lnTo>
                  <a:pt x="813" y="813"/>
                </a:lnTo>
                <a:lnTo>
                  <a:pt x="0" y="0"/>
                </a:lnTo>
                <a:lnTo>
                  <a:pt x="0" y="1052"/>
                </a:lnTo>
                <a:close/>
              </a:path>
            </a:pathLst>
          </a:cu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366" name="文本框 15365"/>
          <p:cNvSpPr txBox="1"/>
          <p:nvPr/>
        </p:nvSpPr>
        <p:spPr>
          <a:xfrm>
            <a:off x="2200593" y="2580323"/>
            <a:ext cx="441325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800" b="1">
                <a:latin typeface="Times New Roman" panose="02020603050405020304" pitchFamily="18" charset="0"/>
              </a:rPr>
              <a:t>V</a:t>
            </a:r>
          </a:p>
        </p:txBody>
      </p:sp>
      <p:sp>
        <p:nvSpPr>
          <p:cNvPr id="15367" name="文本框 15366"/>
          <p:cNvSpPr txBox="1"/>
          <p:nvPr/>
        </p:nvSpPr>
        <p:spPr>
          <a:xfrm rot="1190633">
            <a:off x="5585143" y="3516948"/>
            <a:ext cx="439737" cy="519112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algn="ctr"/>
            <a:r>
              <a:rPr lang="en-US" altLang="zh-CN" sz="2800" b="1">
                <a:latin typeface="Times New Roman" panose="02020603050405020304" pitchFamily="18" charset="0"/>
              </a:rPr>
              <a:t>W</a:t>
            </a:r>
          </a:p>
        </p:txBody>
      </p:sp>
      <p:sp>
        <p:nvSpPr>
          <p:cNvPr id="15368" name="文本框 15367"/>
          <p:cNvSpPr txBox="1"/>
          <p:nvPr/>
        </p:nvSpPr>
        <p:spPr>
          <a:xfrm rot="19156190">
            <a:off x="3353118" y="4883785"/>
            <a:ext cx="46037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800" b="1">
                <a:latin typeface="Times New Roman" panose="02020603050405020304" pitchFamily="18" charset="0"/>
              </a:rPr>
              <a:t>H</a:t>
            </a:r>
          </a:p>
        </p:txBody>
      </p:sp>
      <p:grpSp>
        <p:nvGrpSpPr>
          <p:cNvPr id="15370" name="组合 15369"/>
          <p:cNvGrpSpPr/>
          <p:nvPr/>
        </p:nvGrpSpPr>
        <p:grpSpPr>
          <a:xfrm>
            <a:off x="2129155" y="2431098"/>
            <a:ext cx="4003675" cy="2989263"/>
            <a:chOff x="0" y="-3"/>
            <a:chExt cx="2522" cy="1883"/>
          </a:xfrm>
        </p:grpSpPr>
        <p:sp>
          <p:nvSpPr>
            <p:cNvPr id="15371" name="未知"/>
            <p:cNvSpPr/>
            <p:nvPr/>
          </p:nvSpPr>
          <p:spPr>
            <a:xfrm>
              <a:off x="0" y="1059"/>
              <a:ext cx="2522" cy="816"/>
            </a:xfrm>
            <a:custGeom>
              <a:avLst/>
              <a:gdLst/>
              <a:ahLst/>
              <a:cxnLst/>
              <a:rect l="0" t="0" r="0" b="0"/>
              <a:pathLst>
                <a:path w="2522" h="816">
                  <a:moveTo>
                    <a:pt x="0" y="0"/>
                  </a:moveTo>
                  <a:lnTo>
                    <a:pt x="1700" y="0"/>
                  </a:lnTo>
                  <a:lnTo>
                    <a:pt x="2522" y="816"/>
                  </a:lnTo>
                  <a:lnTo>
                    <a:pt x="818" y="8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CC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2" name="矩形 15371"/>
            <p:cNvSpPr/>
            <p:nvPr/>
          </p:nvSpPr>
          <p:spPr>
            <a:xfrm>
              <a:off x="0" y="-3"/>
              <a:ext cx="1708" cy="1050"/>
            </a:xfrm>
            <a:prstGeom prst="rect">
              <a:avLst/>
            </a:prstGeom>
            <a:solidFill>
              <a:srgbClr val="FFFF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3" name="未知"/>
            <p:cNvSpPr/>
            <p:nvPr/>
          </p:nvSpPr>
          <p:spPr>
            <a:xfrm>
              <a:off x="1699" y="0"/>
              <a:ext cx="813" cy="1868"/>
            </a:xfrm>
            <a:custGeom>
              <a:avLst/>
              <a:gdLst/>
              <a:ahLst/>
              <a:cxnLst/>
              <a:rect l="0" t="0" r="0" b="0"/>
              <a:pathLst>
                <a:path w="813" h="1868">
                  <a:moveTo>
                    <a:pt x="0" y="1052"/>
                  </a:moveTo>
                  <a:lnTo>
                    <a:pt x="813" y="1868"/>
                  </a:lnTo>
                  <a:lnTo>
                    <a:pt x="813" y="813"/>
                  </a:lnTo>
                  <a:lnTo>
                    <a:pt x="0" y="0"/>
                  </a:lnTo>
                  <a:lnTo>
                    <a:pt x="0" y="1052"/>
                  </a:lnTo>
                  <a:close/>
                </a:path>
              </a:pathLst>
            </a:custGeom>
            <a:solidFill>
              <a:srgbClr val="FFFFCC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4" name="文本框 15373"/>
            <p:cNvSpPr txBox="1"/>
            <p:nvPr/>
          </p:nvSpPr>
          <p:spPr>
            <a:xfrm>
              <a:off x="51" y="85"/>
              <a:ext cx="21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1" i="1">
                  <a:latin typeface="Times New Roman" panose="02020603050405020304" pitchFamily="18" charset="0"/>
                </a:rPr>
                <a:t>V</a:t>
              </a:r>
            </a:p>
          </p:txBody>
        </p:sp>
        <p:sp>
          <p:nvSpPr>
            <p:cNvPr id="15375" name="文本框 15374"/>
            <p:cNvSpPr txBox="1"/>
            <p:nvPr/>
          </p:nvSpPr>
          <p:spPr>
            <a:xfrm rot="21567590">
              <a:off x="2224" y="744"/>
              <a:ext cx="277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b="1" i="1">
                  <a:latin typeface="Times New Roman" panose="02020603050405020304" pitchFamily="18" charset="0"/>
                </a:rPr>
                <a:t>W</a:t>
              </a:r>
            </a:p>
          </p:txBody>
        </p:sp>
        <p:sp>
          <p:nvSpPr>
            <p:cNvPr id="15376" name="文本框 15375"/>
            <p:cNvSpPr txBox="1"/>
            <p:nvPr/>
          </p:nvSpPr>
          <p:spPr>
            <a:xfrm rot="21443091">
              <a:off x="802" y="1649"/>
              <a:ext cx="22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1" i="1">
                  <a:latin typeface="Times New Roman" panose="02020603050405020304" pitchFamily="18" charset="0"/>
                </a:rPr>
                <a:t>H</a:t>
              </a:r>
            </a:p>
          </p:txBody>
        </p:sp>
      </p:grpSp>
      <p:grpSp>
        <p:nvGrpSpPr>
          <p:cNvPr id="15377" name="组合 15376"/>
          <p:cNvGrpSpPr/>
          <p:nvPr/>
        </p:nvGrpSpPr>
        <p:grpSpPr>
          <a:xfrm>
            <a:off x="2573655" y="2769235"/>
            <a:ext cx="1658938" cy="847725"/>
            <a:chOff x="0" y="0"/>
            <a:chExt cx="1045" cy="534"/>
          </a:xfrm>
        </p:grpSpPr>
        <p:grpSp>
          <p:nvGrpSpPr>
            <p:cNvPr id="15378" name="组合 15377"/>
            <p:cNvGrpSpPr/>
            <p:nvPr/>
          </p:nvGrpSpPr>
          <p:grpSpPr>
            <a:xfrm>
              <a:off x="0" y="5"/>
              <a:ext cx="791" cy="305"/>
              <a:chOff x="0" y="0"/>
              <a:chExt cx="791" cy="305"/>
            </a:xfrm>
          </p:grpSpPr>
          <p:sp>
            <p:nvSpPr>
              <p:cNvPr id="15379" name="直接连接符 15378"/>
              <p:cNvSpPr/>
              <p:nvPr/>
            </p:nvSpPr>
            <p:spPr>
              <a:xfrm flipH="1">
                <a:off x="0" y="298"/>
                <a:ext cx="79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380" name="直接连接符 15379"/>
              <p:cNvSpPr/>
              <p:nvPr/>
            </p:nvSpPr>
            <p:spPr>
              <a:xfrm flipV="1">
                <a:off x="7" y="211"/>
                <a:ext cx="0" cy="87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381" name="直接连接符 15380"/>
              <p:cNvSpPr/>
              <p:nvPr/>
            </p:nvSpPr>
            <p:spPr>
              <a:xfrm flipV="1">
                <a:off x="783" y="0"/>
                <a:ext cx="0" cy="30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382" name="直接连接符 15381"/>
              <p:cNvSpPr/>
              <p:nvPr/>
            </p:nvSpPr>
            <p:spPr>
              <a:xfrm flipH="1">
                <a:off x="464" y="7"/>
                <a:ext cx="31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383" name="直接连接符 15382"/>
              <p:cNvSpPr/>
              <p:nvPr/>
            </p:nvSpPr>
            <p:spPr>
              <a:xfrm flipV="1">
                <a:off x="312" y="73"/>
                <a:ext cx="0" cy="13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384" name="未知"/>
              <p:cNvSpPr/>
              <p:nvPr/>
            </p:nvSpPr>
            <p:spPr>
              <a:xfrm>
                <a:off x="321" y="3"/>
                <a:ext cx="144" cy="67"/>
              </a:xfrm>
              <a:custGeom>
                <a:avLst/>
                <a:gdLst/>
                <a:ahLst/>
                <a:cxnLst/>
                <a:rect l="0" t="0" r="0" b="0"/>
                <a:pathLst>
                  <a:path w="144" h="67">
                    <a:moveTo>
                      <a:pt x="0" y="67"/>
                    </a:moveTo>
                    <a:lnTo>
                      <a:pt x="144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85" name="未知"/>
              <p:cNvSpPr/>
              <p:nvPr/>
            </p:nvSpPr>
            <p:spPr>
              <a:xfrm>
                <a:off x="1" y="208"/>
                <a:ext cx="786" cy="1"/>
              </a:xfrm>
              <a:custGeom>
                <a:avLst/>
                <a:gdLst/>
                <a:ahLst/>
                <a:cxnLst/>
                <a:rect l="0" t="0" r="0" b="0"/>
                <a:pathLst>
                  <a:path w="786" h="1">
                    <a:moveTo>
                      <a:pt x="0" y="0"/>
                    </a:moveTo>
                    <a:lnTo>
                      <a:pt x="786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5386" name="组合 15385"/>
            <p:cNvGrpSpPr/>
            <p:nvPr/>
          </p:nvGrpSpPr>
          <p:grpSpPr>
            <a:xfrm>
              <a:off x="1" y="0"/>
              <a:ext cx="1044" cy="534"/>
              <a:chOff x="0" y="0"/>
              <a:chExt cx="1044" cy="534"/>
            </a:xfrm>
          </p:grpSpPr>
          <p:sp>
            <p:nvSpPr>
              <p:cNvPr id="15387" name="未知"/>
              <p:cNvSpPr/>
              <p:nvPr/>
            </p:nvSpPr>
            <p:spPr>
              <a:xfrm>
                <a:off x="11" y="305"/>
                <a:ext cx="228" cy="229"/>
              </a:xfrm>
              <a:custGeom>
                <a:avLst/>
                <a:gdLst/>
                <a:ahLst/>
                <a:cxnLst/>
                <a:rect l="0" t="0" r="0" b="0"/>
                <a:pathLst>
                  <a:path w="228" h="229">
                    <a:moveTo>
                      <a:pt x="228" y="229"/>
                    </a:moveTo>
                    <a:lnTo>
                      <a:pt x="0" y="0"/>
                    </a:lnTo>
                  </a:path>
                </a:pathLst>
              </a:custGeom>
              <a:noFill/>
              <a:ln w="12700" cap="flat" cmpd="sng">
                <a:solidFill>
                  <a:srgbClr val="9900CC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88" name="直接连接符 15387"/>
              <p:cNvSpPr/>
              <p:nvPr/>
            </p:nvSpPr>
            <p:spPr>
              <a:xfrm flipH="1" flipV="1">
                <a:off x="0" y="197"/>
                <a:ext cx="241" cy="241"/>
              </a:xfrm>
              <a:prstGeom prst="line">
                <a:avLst/>
              </a:prstGeom>
              <a:ln w="12700" cap="flat" cmpd="sng">
                <a:solidFill>
                  <a:srgbClr val="9900CC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389" name="直接连接符 15388"/>
              <p:cNvSpPr/>
              <p:nvPr/>
            </p:nvSpPr>
            <p:spPr>
              <a:xfrm flipH="1" flipV="1">
                <a:off x="480" y="23"/>
                <a:ext cx="226" cy="226"/>
              </a:xfrm>
              <a:prstGeom prst="line">
                <a:avLst/>
              </a:prstGeom>
              <a:ln w="12700" cap="flat" cmpd="sng">
                <a:solidFill>
                  <a:srgbClr val="9900CC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390" name="未知"/>
              <p:cNvSpPr/>
              <p:nvPr/>
            </p:nvSpPr>
            <p:spPr>
              <a:xfrm>
                <a:off x="782" y="0"/>
                <a:ext cx="262" cy="262"/>
              </a:xfrm>
              <a:custGeom>
                <a:avLst/>
                <a:gdLst/>
                <a:ahLst/>
                <a:cxnLst/>
                <a:rect l="0" t="0" r="0" b="0"/>
                <a:pathLst>
                  <a:path w="262" h="262">
                    <a:moveTo>
                      <a:pt x="262" y="262"/>
                    </a:moveTo>
                    <a:lnTo>
                      <a:pt x="0" y="0"/>
                    </a:lnTo>
                  </a:path>
                </a:pathLst>
              </a:custGeom>
              <a:noFill/>
              <a:ln w="12700" cap="flat" cmpd="sng">
                <a:solidFill>
                  <a:srgbClr val="9900CC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91" name="直接连接符 15390"/>
              <p:cNvSpPr/>
              <p:nvPr/>
            </p:nvSpPr>
            <p:spPr>
              <a:xfrm flipH="1" flipV="1">
                <a:off x="313" y="198"/>
                <a:ext cx="240" cy="240"/>
              </a:xfrm>
              <a:prstGeom prst="line">
                <a:avLst/>
              </a:prstGeom>
              <a:ln w="12700" cap="flat" cmpd="sng">
                <a:solidFill>
                  <a:srgbClr val="9900CC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392" name="直接连接符 15391"/>
              <p:cNvSpPr/>
              <p:nvPr/>
            </p:nvSpPr>
            <p:spPr>
              <a:xfrm flipH="1" flipV="1">
                <a:off x="298" y="67"/>
                <a:ext cx="255" cy="255"/>
              </a:xfrm>
              <a:prstGeom prst="line">
                <a:avLst/>
              </a:prstGeom>
              <a:ln w="12700" cap="flat" cmpd="sng">
                <a:solidFill>
                  <a:srgbClr val="9900CC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5393" name="组合 15392"/>
          <p:cNvGrpSpPr/>
          <p:nvPr/>
        </p:nvGrpSpPr>
        <p:grpSpPr>
          <a:xfrm>
            <a:off x="2962593" y="3164523"/>
            <a:ext cx="1685925" cy="889000"/>
            <a:chOff x="0" y="0"/>
            <a:chExt cx="1062" cy="560"/>
          </a:xfrm>
        </p:grpSpPr>
        <p:sp>
          <p:nvSpPr>
            <p:cNvPr id="15394" name="未知"/>
            <p:cNvSpPr/>
            <p:nvPr/>
          </p:nvSpPr>
          <p:spPr>
            <a:xfrm>
              <a:off x="2" y="8"/>
              <a:ext cx="1060" cy="545"/>
            </a:xfrm>
            <a:custGeom>
              <a:avLst/>
              <a:gdLst/>
              <a:ahLst/>
              <a:cxnLst/>
              <a:rect l="0" t="0" r="0" b="0"/>
              <a:pathLst>
                <a:path w="1060" h="545">
                  <a:moveTo>
                    <a:pt x="0" y="181"/>
                  </a:moveTo>
                  <a:lnTo>
                    <a:pt x="298" y="181"/>
                  </a:lnTo>
                  <a:lnTo>
                    <a:pt x="312" y="65"/>
                  </a:lnTo>
                  <a:lnTo>
                    <a:pt x="443" y="0"/>
                  </a:lnTo>
                  <a:lnTo>
                    <a:pt x="771" y="0"/>
                  </a:lnTo>
                  <a:lnTo>
                    <a:pt x="843" y="58"/>
                  </a:lnTo>
                  <a:lnTo>
                    <a:pt x="843" y="254"/>
                  </a:lnTo>
                  <a:lnTo>
                    <a:pt x="1060" y="474"/>
                  </a:lnTo>
                  <a:lnTo>
                    <a:pt x="1054" y="545"/>
                  </a:lnTo>
                  <a:lnTo>
                    <a:pt x="283" y="545"/>
                  </a:lnTo>
                  <a:lnTo>
                    <a:pt x="0" y="283"/>
                  </a:lnTo>
                  <a:lnTo>
                    <a:pt x="0" y="181"/>
                  </a:lnTo>
                  <a:close/>
                </a:path>
              </a:pathLst>
            </a:custGeom>
            <a:gradFill rotWithShape="1">
              <a:gsLst>
                <a:gs pos="0">
                  <a:srgbClr val="669900">
                    <a:alpha val="70999"/>
                  </a:srgbClr>
                </a:gs>
                <a:gs pos="100000">
                  <a:srgbClr val="669900">
                    <a:gamma/>
                    <a:tint val="0"/>
                    <a:invGamma/>
                    <a:alpha val="87000"/>
                  </a:srgbClr>
                </a:gs>
              </a:gsLst>
              <a:lin ang="5400000" scaled="1"/>
              <a:tileRect/>
            </a:gradFill>
            <a:ln w="12700" cap="flat" cmpd="sng">
              <a:solidFill>
                <a:srgbClr val="FF505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5395" name="组合 15394"/>
            <p:cNvGrpSpPr/>
            <p:nvPr/>
          </p:nvGrpSpPr>
          <p:grpSpPr>
            <a:xfrm>
              <a:off x="0" y="0"/>
              <a:ext cx="1062" cy="560"/>
              <a:chOff x="0" y="0"/>
              <a:chExt cx="1062" cy="560"/>
            </a:xfrm>
          </p:grpSpPr>
          <p:sp>
            <p:nvSpPr>
              <p:cNvPr id="15396" name="直接连接符 15395"/>
              <p:cNvSpPr/>
              <p:nvPr/>
            </p:nvSpPr>
            <p:spPr>
              <a:xfrm flipH="1" flipV="1">
                <a:off x="452" y="0"/>
                <a:ext cx="66" cy="66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397" name="未知"/>
              <p:cNvSpPr/>
              <p:nvPr/>
            </p:nvSpPr>
            <p:spPr>
              <a:xfrm>
                <a:off x="280" y="468"/>
                <a:ext cx="3" cy="85"/>
              </a:xfrm>
              <a:custGeom>
                <a:avLst/>
                <a:gdLst/>
                <a:ahLst/>
                <a:cxnLst/>
                <a:rect l="0" t="0" r="0" b="0"/>
                <a:pathLst>
                  <a:path w="3" h="85">
                    <a:moveTo>
                      <a:pt x="3" y="0"/>
                    </a:moveTo>
                    <a:lnTo>
                      <a:pt x="0" y="85"/>
                    </a:lnTo>
                  </a:path>
                </a:pathLst>
              </a:custGeom>
              <a:gradFill rotWithShape="1">
                <a:gsLst>
                  <a:gs pos="0">
                    <a:srgbClr val="669900">
                      <a:alpha val="70999"/>
                    </a:srgbClr>
                  </a:gs>
                  <a:gs pos="100000">
                    <a:srgbClr val="669900">
                      <a:gamma/>
                      <a:tint val="0"/>
                      <a:invGamma/>
                      <a:alpha val="87000"/>
                    </a:srgbClr>
                  </a:gs>
                </a:gsLst>
                <a:lin ang="5400000" scaled="1"/>
                <a:tileRect/>
              </a:gradFill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98" name="未知"/>
              <p:cNvSpPr/>
              <p:nvPr/>
            </p:nvSpPr>
            <p:spPr>
              <a:xfrm>
                <a:off x="5" y="184"/>
                <a:ext cx="2" cy="106"/>
              </a:xfrm>
              <a:custGeom>
                <a:avLst/>
                <a:gdLst/>
                <a:ahLst/>
                <a:cxnLst/>
                <a:rect l="0" t="0" r="0" b="0"/>
                <a:pathLst>
                  <a:path w="2" h="106">
                    <a:moveTo>
                      <a:pt x="0" y="106"/>
                    </a:moveTo>
                    <a:lnTo>
                      <a:pt x="2" y="0"/>
                    </a:lnTo>
                  </a:path>
                </a:pathLst>
              </a:custGeom>
              <a:gradFill rotWithShape="1">
                <a:gsLst>
                  <a:gs pos="0">
                    <a:srgbClr val="669900">
                      <a:alpha val="70999"/>
                    </a:srgbClr>
                  </a:gs>
                  <a:gs pos="100000">
                    <a:srgbClr val="669900">
                      <a:gamma/>
                      <a:tint val="0"/>
                      <a:invGamma/>
                      <a:alpha val="87000"/>
                    </a:srgbClr>
                  </a:gs>
                </a:gsLst>
                <a:lin ang="5400000" scaled="1"/>
                <a:tileRect/>
              </a:gradFill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99" name="直接连接符 15398"/>
              <p:cNvSpPr/>
              <p:nvPr/>
            </p:nvSpPr>
            <p:spPr>
              <a:xfrm>
                <a:off x="383" y="258"/>
                <a:ext cx="47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400" name="直接连接符 15399"/>
              <p:cNvSpPr/>
              <p:nvPr/>
            </p:nvSpPr>
            <p:spPr>
              <a:xfrm flipV="1">
                <a:off x="848" y="64"/>
                <a:ext cx="0" cy="201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401" name="未知"/>
              <p:cNvSpPr/>
              <p:nvPr/>
            </p:nvSpPr>
            <p:spPr>
              <a:xfrm>
                <a:off x="387" y="59"/>
                <a:ext cx="124" cy="65"/>
              </a:xfrm>
              <a:custGeom>
                <a:avLst/>
                <a:gdLst/>
                <a:ahLst/>
                <a:cxnLst/>
                <a:rect l="0" t="0" r="0" b="0"/>
                <a:pathLst>
                  <a:path w="124" h="65">
                    <a:moveTo>
                      <a:pt x="124" y="0"/>
                    </a:moveTo>
                    <a:lnTo>
                      <a:pt x="0" y="65"/>
                    </a:lnTo>
                  </a:path>
                </a:pathLst>
              </a:custGeom>
              <a:gradFill rotWithShape="1">
                <a:gsLst>
                  <a:gs pos="0">
                    <a:srgbClr val="669900">
                      <a:alpha val="70999"/>
                    </a:srgbClr>
                  </a:gs>
                  <a:gs pos="100000">
                    <a:srgbClr val="669900">
                      <a:gamma/>
                      <a:tint val="0"/>
                      <a:invGamma/>
                      <a:alpha val="87000"/>
                    </a:srgbClr>
                  </a:gs>
                </a:gsLst>
                <a:lin ang="5400000" scaled="1"/>
                <a:tileRect/>
              </a:gradFill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02" name="未知"/>
              <p:cNvSpPr/>
              <p:nvPr/>
            </p:nvSpPr>
            <p:spPr>
              <a:xfrm>
                <a:off x="314" y="0"/>
                <a:ext cx="139" cy="66"/>
              </a:xfrm>
              <a:custGeom>
                <a:avLst/>
                <a:gdLst/>
                <a:ahLst/>
                <a:cxnLst/>
                <a:rect l="0" t="0" r="0" b="0"/>
                <a:pathLst>
                  <a:path w="139" h="66">
                    <a:moveTo>
                      <a:pt x="139" y="0"/>
                    </a:moveTo>
                    <a:lnTo>
                      <a:pt x="0" y="66"/>
                    </a:lnTo>
                  </a:path>
                </a:pathLst>
              </a:custGeom>
              <a:gradFill rotWithShape="1">
                <a:gsLst>
                  <a:gs pos="0">
                    <a:srgbClr val="669900">
                      <a:alpha val="70999"/>
                    </a:srgbClr>
                  </a:gs>
                  <a:gs pos="100000">
                    <a:srgbClr val="669900">
                      <a:gamma/>
                      <a:tint val="0"/>
                      <a:invGamma/>
                      <a:alpha val="87000"/>
                    </a:srgbClr>
                  </a:gs>
                </a:gsLst>
                <a:lin ang="5400000" scaled="1"/>
                <a:tileRect/>
              </a:gradFill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03" name="直接连接符 15402"/>
              <p:cNvSpPr/>
              <p:nvPr/>
            </p:nvSpPr>
            <p:spPr>
              <a:xfrm>
                <a:off x="450" y="2"/>
                <a:ext cx="33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404" name="直接连接符 15403"/>
              <p:cNvSpPr/>
              <p:nvPr/>
            </p:nvSpPr>
            <p:spPr>
              <a:xfrm>
                <a:off x="519" y="64"/>
                <a:ext cx="33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405" name="未知"/>
              <p:cNvSpPr/>
              <p:nvPr/>
            </p:nvSpPr>
            <p:spPr>
              <a:xfrm>
                <a:off x="380" y="117"/>
                <a:ext cx="1" cy="152"/>
              </a:xfrm>
              <a:custGeom>
                <a:avLst/>
                <a:gdLst/>
                <a:ahLst/>
                <a:cxnLst/>
                <a:rect l="0" t="0" r="0" b="0"/>
                <a:pathLst>
                  <a:path w="1" h="152">
                    <a:moveTo>
                      <a:pt x="0" y="0"/>
                    </a:moveTo>
                    <a:lnTo>
                      <a:pt x="0" y="152"/>
                    </a:lnTo>
                  </a:path>
                </a:pathLst>
              </a:custGeom>
              <a:gradFill rotWithShape="1">
                <a:gsLst>
                  <a:gs pos="0">
                    <a:srgbClr val="669900">
                      <a:alpha val="70999"/>
                    </a:srgbClr>
                  </a:gs>
                  <a:gs pos="100000">
                    <a:srgbClr val="669900">
                      <a:gamma/>
                      <a:tint val="0"/>
                      <a:invGamma/>
                      <a:alpha val="87000"/>
                    </a:srgbClr>
                  </a:gs>
                </a:gsLst>
                <a:lin ang="5400000" scaled="1"/>
                <a:tileRect/>
              </a:gradFill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06" name="未知"/>
              <p:cNvSpPr/>
              <p:nvPr/>
            </p:nvSpPr>
            <p:spPr>
              <a:xfrm>
                <a:off x="307" y="66"/>
                <a:ext cx="1" cy="122"/>
              </a:xfrm>
              <a:custGeom>
                <a:avLst/>
                <a:gdLst/>
                <a:ahLst/>
                <a:cxnLst/>
                <a:rect l="0" t="0" r="0" b="0"/>
                <a:pathLst>
                  <a:path w="1" h="122">
                    <a:moveTo>
                      <a:pt x="0" y="0"/>
                    </a:moveTo>
                    <a:lnTo>
                      <a:pt x="1" y="122"/>
                    </a:lnTo>
                  </a:path>
                </a:pathLst>
              </a:custGeom>
              <a:gradFill rotWithShape="1">
                <a:gsLst>
                  <a:gs pos="0">
                    <a:srgbClr val="669900">
                      <a:alpha val="70999"/>
                    </a:srgbClr>
                  </a:gs>
                  <a:gs pos="100000">
                    <a:srgbClr val="669900">
                      <a:gamma/>
                      <a:tint val="0"/>
                      <a:invGamma/>
                      <a:alpha val="87000"/>
                    </a:srgbClr>
                  </a:gs>
                </a:gsLst>
                <a:lin ang="5400000" scaled="1"/>
                <a:tileRect/>
              </a:gradFill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07" name="未知"/>
              <p:cNvSpPr/>
              <p:nvPr/>
            </p:nvSpPr>
            <p:spPr>
              <a:xfrm>
                <a:off x="0" y="279"/>
                <a:ext cx="284" cy="276"/>
              </a:xfrm>
              <a:custGeom>
                <a:avLst/>
                <a:gdLst/>
                <a:ahLst/>
                <a:cxnLst/>
                <a:rect l="0" t="0" r="0" b="0"/>
                <a:pathLst>
                  <a:path w="284" h="276">
                    <a:moveTo>
                      <a:pt x="0" y="0"/>
                    </a:moveTo>
                    <a:lnTo>
                      <a:pt x="284" y="276"/>
                    </a:lnTo>
                  </a:path>
                </a:pathLst>
              </a:custGeom>
              <a:gradFill rotWithShape="1">
                <a:gsLst>
                  <a:gs pos="0">
                    <a:srgbClr val="669900">
                      <a:alpha val="70999"/>
                    </a:srgbClr>
                  </a:gs>
                  <a:gs pos="100000">
                    <a:srgbClr val="669900">
                      <a:gamma/>
                      <a:tint val="0"/>
                      <a:invGamma/>
                      <a:alpha val="87000"/>
                    </a:srgbClr>
                  </a:gs>
                </a:gsLst>
                <a:lin ang="5400000" scaled="1"/>
                <a:tileRect/>
              </a:gradFill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08" name="直接连接符 15407"/>
              <p:cNvSpPr/>
              <p:nvPr/>
            </p:nvSpPr>
            <p:spPr>
              <a:xfrm>
                <a:off x="278" y="473"/>
                <a:ext cx="77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409" name="直接连接符 15408"/>
              <p:cNvSpPr/>
              <p:nvPr/>
            </p:nvSpPr>
            <p:spPr>
              <a:xfrm>
                <a:off x="1056" y="473"/>
                <a:ext cx="0" cy="87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410" name="未知"/>
              <p:cNvSpPr/>
              <p:nvPr/>
            </p:nvSpPr>
            <p:spPr>
              <a:xfrm>
                <a:off x="271" y="553"/>
                <a:ext cx="787" cy="1"/>
              </a:xfrm>
              <a:custGeom>
                <a:avLst/>
                <a:gdLst/>
                <a:ahLst/>
                <a:cxnLst/>
                <a:rect l="0" t="0" r="0" b="0"/>
                <a:pathLst>
                  <a:path w="787" h="1">
                    <a:moveTo>
                      <a:pt x="0" y="0"/>
                    </a:moveTo>
                    <a:lnTo>
                      <a:pt x="787" y="0"/>
                    </a:lnTo>
                  </a:path>
                </a:pathLst>
              </a:custGeom>
              <a:gradFill rotWithShape="1">
                <a:gsLst>
                  <a:gs pos="0">
                    <a:srgbClr val="669900">
                      <a:alpha val="70999"/>
                    </a:srgbClr>
                  </a:gs>
                  <a:gs pos="100000">
                    <a:srgbClr val="669900">
                      <a:gamma/>
                      <a:tint val="0"/>
                      <a:invGamma/>
                      <a:alpha val="87000"/>
                    </a:srgbClr>
                  </a:gs>
                </a:gsLst>
                <a:lin ang="5400000" scaled="1"/>
                <a:tileRect/>
              </a:gradFill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11" name="未知"/>
              <p:cNvSpPr/>
              <p:nvPr/>
            </p:nvSpPr>
            <p:spPr>
              <a:xfrm>
                <a:off x="9" y="189"/>
                <a:ext cx="278" cy="276"/>
              </a:xfrm>
              <a:custGeom>
                <a:avLst/>
                <a:gdLst/>
                <a:ahLst/>
                <a:cxnLst/>
                <a:rect l="0" t="0" r="0" b="0"/>
                <a:pathLst>
                  <a:path w="278" h="276">
                    <a:moveTo>
                      <a:pt x="0" y="0"/>
                    </a:moveTo>
                    <a:lnTo>
                      <a:pt x="278" y="276"/>
                    </a:lnTo>
                  </a:path>
                </a:pathLst>
              </a:custGeom>
              <a:gradFill rotWithShape="1">
                <a:gsLst>
                  <a:gs pos="0">
                    <a:srgbClr val="669900">
                      <a:alpha val="70999"/>
                    </a:srgbClr>
                  </a:gs>
                  <a:gs pos="100000">
                    <a:srgbClr val="669900">
                      <a:gamma/>
                      <a:tint val="0"/>
                      <a:invGamma/>
                      <a:alpha val="87000"/>
                    </a:srgbClr>
                  </a:gs>
                </a:gsLst>
                <a:lin ang="5400000" scaled="1"/>
                <a:tileRect/>
              </a:gradFill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12" name="未知"/>
              <p:cNvSpPr/>
              <p:nvPr/>
            </p:nvSpPr>
            <p:spPr>
              <a:xfrm>
                <a:off x="845" y="255"/>
                <a:ext cx="217" cy="220"/>
              </a:xfrm>
              <a:custGeom>
                <a:avLst/>
                <a:gdLst/>
                <a:ahLst/>
                <a:cxnLst/>
                <a:rect l="0" t="0" r="0" b="0"/>
                <a:pathLst>
                  <a:path w="217" h="220">
                    <a:moveTo>
                      <a:pt x="217" y="220"/>
                    </a:moveTo>
                    <a:lnTo>
                      <a:pt x="0" y="0"/>
                    </a:lnTo>
                  </a:path>
                </a:pathLst>
              </a:custGeom>
              <a:gradFill rotWithShape="1">
                <a:gsLst>
                  <a:gs pos="0">
                    <a:srgbClr val="669900">
                      <a:alpha val="70999"/>
                    </a:srgbClr>
                  </a:gs>
                  <a:gs pos="100000">
                    <a:srgbClr val="669900">
                      <a:gamma/>
                      <a:tint val="0"/>
                      <a:invGamma/>
                      <a:alpha val="87000"/>
                    </a:srgbClr>
                  </a:gs>
                </a:gsLst>
                <a:lin ang="5400000" scaled="1"/>
                <a:tileRect/>
              </a:gradFill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13" name="未知"/>
              <p:cNvSpPr/>
              <p:nvPr/>
            </p:nvSpPr>
            <p:spPr>
              <a:xfrm>
                <a:off x="300" y="182"/>
                <a:ext cx="77" cy="77"/>
              </a:xfrm>
              <a:custGeom>
                <a:avLst/>
                <a:gdLst/>
                <a:ahLst/>
                <a:cxnLst/>
                <a:rect l="0" t="0" r="0" b="0"/>
                <a:pathLst>
                  <a:path w="77" h="77">
                    <a:moveTo>
                      <a:pt x="77" y="77"/>
                    </a:moveTo>
                    <a:lnTo>
                      <a:pt x="0" y="0"/>
                    </a:lnTo>
                  </a:path>
                </a:pathLst>
              </a:custGeom>
              <a:gradFill rotWithShape="1">
                <a:gsLst>
                  <a:gs pos="0">
                    <a:srgbClr val="669900">
                      <a:alpha val="70999"/>
                    </a:srgbClr>
                  </a:gs>
                  <a:gs pos="100000">
                    <a:srgbClr val="669900">
                      <a:gamma/>
                      <a:tint val="0"/>
                      <a:invGamma/>
                      <a:alpha val="87000"/>
                    </a:srgbClr>
                  </a:gs>
                </a:gsLst>
                <a:lin ang="5400000" scaled="1"/>
                <a:tileRect/>
              </a:gradFill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14" name="未知"/>
              <p:cNvSpPr/>
              <p:nvPr/>
            </p:nvSpPr>
            <p:spPr>
              <a:xfrm>
                <a:off x="5" y="188"/>
                <a:ext cx="302" cy="2"/>
              </a:xfrm>
              <a:custGeom>
                <a:avLst/>
                <a:gdLst/>
                <a:ahLst/>
                <a:cxnLst/>
                <a:rect l="0" t="0" r="0" b="0"/>
                <a:pathLst>
                  <a:path w="302" h="2">
                    <a:moveTo>
                      <a:pt x="0" y="0"/>
                    </a:moveTo>
                    <a:lnTo>
                      <a:pt x="302" y="2"/>
                    </a:lnTo>
                  </a:path>
                </a:pathLst>
              </a:custGeom>
              <a:gradFill rotWithShape="1">
                <a:gsLst>
                  <a:gs pos="0">
                    <a:srgbClr val="669900">
                      <a:alpha val="70999"/>
                    </a:srgbClr>
                  </a:gs>
                  <a:gs pos="100000">
                    <a:srgbClr val="669900">
                      <a:gamma/>
                      <a:tint val="0"/>
                      <a:invGamma/>
                      <a:alpha val="87000"/>
                    </a:srgbClr>
                  </a:gs>
                </a:gsLst>
                <a:lin ang="5400000" scaled="1"/>
                <a:tileRect/>
              </a:gradFill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15" name="未知"/>
              <p:cNvSpPr/>
              <p:nvPr/>
            </p:nvSpPr>
            <p:spPr>
              <a:xfrm>
                <a:off x="780" y="0"/>
                <a:ext cx="73" cy="66"/>
              </a:xfrm>
              <a:custGeom>
                <a:avLst/>
                <a:gdLst/>
                <a:ahLst/>
                <a:cxnLst/>
                <a:rect l="0" t="0" r="0" b="0"/>
                <a:pathLst>
                  <a:path w="73" h="66">
                    <a:moveTo>
                      <a:pt x="73" y="66"/>
                    </a:moveTo>
                    <a:lnTo>
                      <a:pt x="0" y="0"/>
                    </a:lnTo>
                  </a:path>
                </a:pathLst>
              </a:custGeom>
              <a:gradFill rotWithShape="1">
                <a:gsLst>
                  <a:gs pos="0">
                    <a:srgbClr val="669900">
                      <a:alpha val="70999"/>
                    </a:srgbClr>
                  </a:gs>
                  <a:gs pos="100000">
                    <a:srgbClr val="669900">
                      <a:gamma/>
                      <a:tint val="0"/>
                      <a:invGamma/>
                      <a:alpha val="87000"/>
                    </a:srgbClr>
                  </a:gs>
                </a:gsLst>
                <a:lin ang="5400000" scaled="1"/>
                <a:tileRect/>
              </a:gradFill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16" name="未知"/>
              <p:cNvSpPr/>
              <p:nvPr/>
            </p:nvSpPr>
            <p:spPr>
              <a:xfrm>
                <a:off x="322" y="73"/>
                <a:ext cx="59" cy="59"/>
              </a:xfrm>
              <a:custGeom>
                <a:avLst/>
                <a:gdLst/>
                <a:ahLst/>
                <a:cxnLst/>
                <a:rect l="0" t="0" r="0" b="0"/>
                <a:pathLst>
                  <a:path w="59" h="59">
                    <a:moveTo>
                      <a:pt x="59" y="59"/>
                    </a:moveTo>
                    <a:lnTo>
                      <a:pt x="0" y="0"/>
                    </a:lnTo>
                  </a:path>
                </a:pathLst>
              </a:custGeom>
              <a:gradFill rotWithShape="1">
                <a:gsLst>
                  <a:gs pos="0">
                    <a:srgbClr val="669900">
                      <a:alpha val="70999"/>
                    </a:srgbClr>
                  </a:gs>
                  <a:gs pos="100000">
                    <a:srgbClr val="669900">
                      <a:gamma/>
                      <a:tint val="0"/>
                      <a:invGamma/>
                      <a:alpha val="87000"/>
                    </a:srgbClr>
                  </a:gs>
                </a:gsLst>
                <a:lin ang="5400000" scaled="1"/>
                <a:tileRect/>
              </a:gradFill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5417" name="组合 15416"/>
          <p:cNvGrpSpPr/>
          <p:nvPr/>
        </p:nvGrpSpPr>
        <p:grpSpPr>
          <a:xfrm>
            <a:off x="2946718" y="3280410"/>
            <a:ext cx="1697037" cy="1619250"/>
            <a:chOff x="0" y="0"/>
            <a:chExt cx="1069" cy="1020"/>
          </a:xfrm>
        </p:grpSpPr>
        <p:grpSp>
          <p:nvGrpSpPr>
            <p:cNvPr id="15418" name="组合 15417"/>
            <p:cNvGrpSpPr/>
            <p:nvPr/>
          </p:nvGrpSpPr>
          <p:grpSpPr>
            <a:xfrm>
              <a:off x="0" y="739"/>
              <a:ext cx="1069" cy="281"/>
              <a:chOff x="0" y="0"/>
              <a:chExt cx="1069" cy="281"/>
            </a:xfrm>
          </p:grpSpPr>
          <p:sp>
            <p:nvSpPr>
              <p:cNvPr id="15419" name="直接连接符 15418"/>
              <p:cNvSpPr/>
              <p:nvPr/>
            </p:nvSpPr>
            <p:spPr>
              <a:xfrm>
                <a:off x="285" y="274"/>
                <a:ext cx="784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420" name="直接连接符 15419"/>
              <p:cNvSpPr/>
              <p:nvPr/>
            </p:nvSpPr>
            <p:spPr>
              <a:xfrm>
                <a:off x="0" y="0"/>
                <a:ext cx="79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421" name="未知"/>
              <p:cNvSpPr/>
              <p:nvPr/>
            </p:nvSpPr>
            <p:spPr>
              <a:xfrm>
                <a:off x="7" y="2"/>
                <a:ext cx="282" cy="279"/>
              </a:xfrm>
              <a:custGeom>
                <a:avLst/>
                <a:gdLst/>
                <a:ahLst/>
                <a:cxnLst/>
                <a:rect l="0" t="0" r="0" b="0"/>
                <a:pathLst>
                  <a:path w="282" h="279">
                    <a:moveTo>
                      <a:pt x="0" y="0"/>
                    </a:moveTo>
                    <a:lnTo>
                      <a:pt x="282" y="279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22" name="未知"/>
              <p:cNvSpPr/>
              <p:nvPr/>
            </p:nvSpPr>
            <p:spPr>
              <a:xfrm>
                <a:off x="795" y="1"/>
                <a:ext cx="272" cy="273"/>
              </a:xfrm>
              <a:custGeom>
                <a:avLst/>
                <a:gdLst/>
                <a:ahLst/>
                <a:cxnLst/>
                <a:rect l="0" t="0" r="0" b="0"/>
                <a:pathLst>
                  <a:path w="272" h="273">
                    <a:moveTo>
                      <a:pt x="0" y="0"/>
                    </a:moveTo>
                    <a:lnTo>
                      <a:pt x="272" y="273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23" name="直接连接符 15422"/>
              <p:cNvSpPr/>
              <p:nvPr/>
            </p:nvSpPr>
            <p:spPr>
              <a:xfrm>
                <a:off x="319" y="2"/>
                <a:ext cx="80" cy="8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424" name="直接连接符 15423"/>
              <p:cNvSpPr/>
              <p:nvPr/>
            </p:nvSpPr>
            <p:spPr>
              <a:xfrm>
                <a:off x="392" y="75"/>
                <a:ext cx="480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425" name="未知"/>
              <p:cNvSpPr/>
              <p:nvPr/>
            </p:nvSpPr>
            <p:spPr>
              <a:xfrm>
                <a:off x="457" y="2"/>
                <a:ext cx="75" cy="74"/>
              </a:xfrm>
              <a:custGeom>
                <a:avLst/>
                <a:gdLst/>
                <a:ahLst/>
                <a:cxnLst/>
                <a:rect l="0" t="0" r="0" b="0"/>
                <a:pathLst>
                  <a:path w="75" h="74">
                    <a:moveTo>
                      <a:pt x="0" y="0"/>
                    </a:moveTo>
                    <a:lnTo>
                      <a:pt x="75" y="74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5426" name="组合 15425"/>
            <p:cNvGrpSpPr/>
            <p:nvPr/>
          </p:nvGrpSpPr>
          <p:grpSpPr>
            <a:xfrm>
              <a:off x="7" y="0"/>
              <a:ext cx="1062" cy="1018"/>
              <a:chOff x="0" y="0"/>
              <a:chExt cx="1062" cy="1018"/>
            </a:xfrm>
          </p:grpSpPr>
          <p:sp>
            <p:nvSpPr>
              <p:cNvPr id="15427" name="直接连接符 15426"/>
              <p:cNvSpPr/>
              <p:nvPr/>
            </p:nvSpPr>
            <p:spPr>
              <a:xfrm>
                <a:off x="0" y="189"/>
                <a:ext cx="0" cy="560"/>
              </a:xfrm>
              <a:prstGeom prst="line">
                <a:avLst/>
              </a:prstGeom>
              <a:ln w="12700" cap="flat" cmpd="sng">
                <a:solidFill>
                  <a:srgbClr val="9900CC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428" name="直接连接符 15427"/>
              <p:cNvSpPr/>
              <p:nvPr/>
            </p:nvSpPr>
            <p:spPr>
              <a:xfrm>
                <a:off x="276" y="487"/>
                <a:ext cx="0" cy="531"/>
              </a:xfrm>
              <a:prstGeom prst="line">
                <a:avLst/>
              </a:prstGeom>
              <a:ln w="12700" cap="flat" cmpd="sng">
                <a:solidFill>
                  <a:srgbClr val="9900CC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429" name="直接连接符 15428"/>
              <p:cNvSpPr/>
              <p:nvPr/>
            </p:nvSpPr>
            <p:spPr>
              <a:xfrm>
                <a:off x="1062" y="480"/>
                <a:ext cx="0" cy="538"/>
              </a:xfrm>
              <a:prstGeom prst="line">
                <a:avLst/>
              </a:prstGeom>
              <a:ln w="12700" cap="flat" cmpd="sng">
                <a:solidFill>
                  <a:srgbClr val="9900CC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430" name="直接连接符 15429"/>
              <p:cNvSpPr/>
              <p:nvPr/>
            </p:nvSpPr>
            <p:spPr>
              <a:xfrm>
                <a:off x="784" y="487"/>
                <a:ext cx="0" cy="248"/>
              </a:xfrm>
              <a:prstGeom prst="line">
                <a:avLst/>
              </a:prstGeom>
              <a:ln w="12700" cap="flat" cmpd="sng">
                <a:solidFill>
                  <a:srgbClr val="9900CC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431" name="直接连接符 15430"/>
              <p:cNvSpPr/>
              <p:nvPr/>
            </p:nvSpPr>
            <p:spPr>
              <a:xfrm>
                <a:off x="312" y="479"/>
                <a:ext cx="0" cy="262"/>
              </a:xfrm>
              <a:prstGeom prst="line">
                <a:avLst/>
              </a:prstGeom>
              <a:ln w="12700" cap="flat" cmpd="sng">
                <a:solidFill>
                  <a:srgbClr val="9900CC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432" name="直接连接符 15431"/>
              <p:cNvSpPr/>
              <p:nvPr/>
            </p:nvSpPr>
            <p:spPr>
              <a:xfrm>
                <a:off x="385" y="181"/>
                <a:ext cx="0" cy="633"/>
              </a:xfrm>
              <a:prstGeom prst="line">
                <a:avLst/>
              </a:prstGeom>
              <a:ln w="12700" cap="flat" cmpd="sng">
                <a:solidFill>
                  <a:srgbClr val="9900CC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433" name="直接连接符 15432"/>
              <p:cNvSpPr/>
              <p:nvPr/>
            </p:nvSpPr>
            <p:spPr>
              <a:xfrm>
                <a:off x="516" y="0"/>
                <a:ext cx="0" cy="813"/>
              </a:xfrm>
              <a:prstGeom prst="line">
                <a:avLst/>
              </a:prstGeom>
              <a:ln w="12700" cap="flat" cmpd="sng">
                <a:solidFill>
                  <a:srgbClr val="9900CC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434" name="直接连接符 15433"/>
              <p:cNvSpPr/>
              <p:nvPr/>
            </p:nvSpPr>
            <p:spPr>
              <a:xfrm>
                <a:off x="854" y="180"/>
                <a:ext cx="0" cy="640"/>
              </a:xfrm>
              <a:prstGeom prst="line">
                <a:avLst/>
              </a:prstGeom>
              <a:ln w="12700" cap="flat" cmpd="sng">
                <a:solidFill>
                  <a:srgbClr val="9900CC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5435" name="组合 15434"/>
          <p:cNvGrpSpPr/>
          <p:nvPr/>
        </p:nvGrpSpPr>
        <p:grpSpPr>
          <a:xfrm>
            <a:off x="3557905" y="3129598"/>
            <a:ext cx="1951038" cy="912812"/>
            <a:chOff x="0" y="0"/>
            <a:chExt cx="1229" cy="575"/>
          </a:xfrm>
        </p:grpSpPr>
        <p:grpSp>
          <p:nvGrpSpPr>
            <p:cNvPr id="15436" name="组合 15435"/>
            <p:cNvGrpSpPr/>
            <p:nvPr/>
          </p:nvGrpSpPr>
          <p:grpSpPr>
            <a:xfrm>
              <a:off x="938" y="0"/>
              <a:ext cx="289" cy="575"/>
              <a:chOff x="0" y="0"/>
              <a:chExt cx="289" cy="575"/>
            </a:xfrm>
          </p:grpSpPr>
          <p:sp>
            <p:nvSpPr>
              <p:cNvPr id="15437" name="未知"/>
              <p:cNvSpPr/>
              <p:nvPr/>
            </p:nvSpPr>
            <p:spPr>
              <a:xfrm>
                <a:off x="6" y="301"/>
                <a:ext cx="276" cy="269"/>
              </a:xfrm>
              <a:custGeom>
                <a:avLst/>
                <a:gdLst/>
                <a:ahLst/>
                <a:cxnLst/>
                <a:rect l="0" t="0" r="0" b="0"/>
                <a:pathLst>
                  <a:path w="276" h="269">
                    <a:moveTo>
                      <a:pt x="0" y="0"/>
                    </a:moveTo>
                    <a:lnTo>
                      <a:pt x="276" y="269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38" name="未知"/>
              <p:cNvSpPr/>
              <p:nvPr/>
            </p:nvSpPr>
            <p:spPr>
              <a:xfrm>
                <a:off x="6" y="213"/>
                <a:ext cx="283" cy="284"/>
              </a:xfrm>
              <a:custGeom>
                <a:avLst/>
                <a:gdLst/>
                <a:ahLst/>
                <a:cxnLst/>
                <a:rect l="0" t="0" r="0" b="0"/>
                <a:pathLst>
                  <a:path w="283" h="284">
                    <a:moveTo>
                      <a:pt x="0" y="0"/>
                    </a:moveTo>
                    <a:lnTo>
                      <a:pt x="283" y="284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39" name="直接连接符 15438"/>
              <p:cNvSpPr/>
              <p:nvPr/>
            </p:nvSpPr>
            <p:spPr>
              <a:xfrm>
                <a:off x="7" y="7"/>
                <a:ext cx="0" cy="291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440" name="直接连接符 15439"/>
              <p:cNvSpPr/>
              <p:nvPr/>
            </p:nvSpPr>
            <p:spPr>
              <a:xfrm>
                <a:off x="80" y="80"/>
                <a:ext cx="0" cy="21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441" name="直接连接符 15440"/>
              <p:cNvSpPr/>
              <p:nvPr/>
            </p:nvSpPr>
            <p:spPr>
              <a:xfrm>
                <a:off x="283" y="488"/>
                <a:ext cx="0" cy="87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442" name="直接连接符 15441"/>
              <p:cNvSpPr/>
              <p:nvPr/>
            </p:nvSpPr>
            <p:spPr>
              <a:xfrm>
                <a:off x="7" y="0"/>
                <a:ext cx="87" cy="87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443" name="直接连接符 15442"/>
              <p:cNvSpPr/>
              <p:nvPr/>
            </p:nvSpPr>
            <p:spPr>
              <a:xfrm flipH="1" flipV="1">
                <a:off x="0" y="66"/>
                <a:ext cx="94" cy="9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5444" name="组合 15443"/>
            <p:cNvGrpSpPr/>
            <p:nvPr/>
          </p:nvGrpSpPr>
          <p:grpSpPr>
            <a:xfrm>
              <a:off x="0" y="22"/>
              <a:ext cx="1229" cy="553"/>
              <a:chOff x="0" y="0"/>
              <a:chExt cx="1229" cy="553"/>
            </a:xfrm>
          </p:grpSpPr>
          <p:sp>
            <p:nvSpPr>
              <p:cNvPr id="15445" name="直接连接符 15444"/>
              <p:cNvSpPr/>
              <p:nvPr/>
            </p:nvSpPr>
            <p:spPr>
              <a:xfrm>
                <a:off x="683" y="553"/>
                <a:ext cx="546" cy="0"/>
              </a:xfrm>
              <a:prstGeom prst="line">
                <a:avLst/>
              </a:prstGeom>
              <a:ln w="12700" cap="flat" cmpd="sng">
                <a:solidFill>
                  <a:srgbClr val="9900CC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446" name="直接连接符 15445"/>
              <p:cNvSpPr/>
              <p:nvPr/>
            </p:nvSpPr>
            <p:spPr>
              <a:xfrm>
                <a:off x="480" y="276"/>
                <a:ext cx="472" cy="0"/>
              </a:xfrm>
              <a:prstGeom prst="line">
                <a:avLst/>
              </a:prstGeom>
              <a:ln w="12700" cap="flat" cmpd="sng">
                <a:solidFill>
                  <a:srgbClr val="9900CC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447" name="直接连接符 15446"/>
              <p:cNvSpPr/>
              <p:nvPr/>
            </p:nvSpPr>
            <p:spPr>
              <a:xfrm>
                <a:off x="625" y="473"/>
                <a:ext cx="596" cy="0"/>
              </a:xfrm>
              <a:prstGeom prst="line">
                <a:avLst/>
              </a:prstGeom>
              <a:ln w="12700" cap="flat" cmpd="sng">
                <a:solidFill>
                  <a:srgbClr val="9900CC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448" name="直接连接符 15447"/>
              <p:cNvSpPr/>
              <p:nvPr/>
            </p:nvSpPr>
            <p:spPr>
              <a:xfrm>
                <a:off x="0" y="131"/>
                <a:ext cx="1032" cy="0"/>
              </a:xfrm>
              <a:prstGeom prst="line">
                <a:avLst/>
              </a:prstGeom>
              <a:ln w="12700" cap="flat" cmpd="sng">
                <a:solidFill>
                  <a:srgbClr val="9900CC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449" name="直接连接符 15448"/>
              <p:cNvSpPr/>
              <p:nvPr/>
            </p:nvSpPr>
            <p:spPr>
              <a:xfrm>
                <a:off x="400" y="0"/>
                <a:ext cx="552" cy="0"/>
              </a:xfrm>
              <a:prstGeom prst="line">
                <a:avLst/>
              </a:prstGeom>
              <a:ln w="12700" cap="flat" cmpd="sng">
                <a:solidFill>
                  <a:srgbClr val="9900CC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450" name="直接连接符 15449"/>
              <p:cNvSpPr/>
              <p:nvPr/>
            </p:nvSpPr>
            <p:spPr>
              <a:xfrm>
                <a:off x="472" y="65"/>
                <a:ext cx="546" cy="0"/>
              </a:xfrm>
              <a:prstGeom prst="line">
                <a:avLst/>
              </a:prstGeom>
              <a:ln w="12700" cap="flat" cmpd="sng">
                <a:solidFill>
                  <a:srgbClr val="9900CC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451" name="直接连接符 15450"/>
              <p:cNvSpPr/>
              <p:nvPr/>
            </p:nvSpPr>
            <p:spPr>
              <a:xfrm>
                <a:off x="476" y="260"/>
                <a:ext cx="552" cy="0"/>
              </a:xfrm>
              <a:prstGeom prst="line">
                <a:avLst/>
              </a:prstGeom>
              <a:ln w="12700" cap="flat" cmpd="sng">
                <a:solidFill>
                  <a:srgbClr val="9900CC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5455" name="组合 15454"/>
          <p:cNvGrpSpPr/>
          <p:nvPr/>
        </p:nvGrpSpPr>
        <p:grpSpPr>
          <a:xfrm>
            <a:off x="1768793" y="2004060"/>
            <a:ext cx="4608512" cy="3600450"/>
            <a:chOff x="0" y="0"/>
            <a:chExt cx="2903" cy="2268"/>
          </a:xfrm>
        </p:grpSpPr>
        <p:sp>
          <p:nvSpPr>
            <p:cNvPr id="15456" name="直接连接符 15455"/>
            <p:cNvSpPr/>
            <p:nvPr/>
          </p:nvSpPr>
          <p:spPr>
            <a:xfrm flipV="1">
              <a:off x="1914" y="0"/>
              <a:ext cx="0" cy="1316"/>
            </a:xfrm>
            <a:prstGeom prst="line">
              <a:avLst/>
            </a:prstGeom>
            <a:ln w="38100" cap="flat" cmpd="sng">
              <a:solidFill>
                <a:srgbClr val="66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457" name="直接连接符 15456"/>
            <p:cNvSpPr/>
            <p:nvPr/>
          </p:nvSpPr>
          <p:spPr>
            <a:xfrm flipH="1">
              <a:off x="0" y="1316"/>
              <a:ext cx="1905" cy="0"/>
            </a:xfrm>
            <a:prstGeom prst="line">
              <a:avLst/>
            </a:prstGeom>
            <a:ln w="38100" cap="flat" cmpd="sng">
              <a:solidFill>
                <a:srgbClr val="66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458" name="直接连接符 15457"/>
            <p:cNvSpPr/>
            <p:nvPr/>
          </p:nvSpPr>
          <p:spPr>
            <a:xfrm>
              <a:off x="1905" y="1316"/>
              <a:ext cx="998" cy="952"/>
            </a:xfrm>
            <a:prstGeom prst="line">
              <a:avLst/>
            </a:prstGeom>
            <a:ln w="38100" cap="flat" cmpd="sng">
              <a:solidFill>
                <a:srgbClr val="6633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5459" name="文本框 15458"/>
          <p:cNvSpPr txBox="1"/>
          <p:nvPr/>
        </p:nvSpPr>
        <p:spPr>
          <a:xfrm>
            <a:off x="7003733" y="4093210"/>
            <a:ext cx="1439862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5460" name="文本框 15459"/>
          <p:cNvSpPr txBox="1"/>
          <p:nvPr/>
        </p:nvSpPr>
        <p:spPr>
          <a:xfrm>
            <a:off x="7147560" y="4034155"/>
            <a:ext cx="115189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投影轴</a:t>
            </a:r>
          </a:p>
        </p:txBody>
      </p:sp>
      <p:grpSp>
        <p:nvGrpSpPr>
          <p:cNvPr id="15461" name="组合 15460"/>
          <p:cNvGrpSpPr/>
          <p:nvPr/>
        </p:nvGrpSpPr>
        <p:grpSpPr>
          <a:xfrm>
            <a:off x="6967220" y="4525010"/>
            <a:ext cx="3724275" cy="1104900"/>
            <a:chOff x="68" y="0"/>
            <a:chExt cx="2346" cy="696"/>
          </a:xfrm>
        </p:grpSpPr>
        <p:sp>
          <p:nvSpPr>
            <p:cNvPr id="15462" name="文本框 15461"/>
            <p:cNvSpPr txBox="1"/>
            <p:nvPr/>
          </p:nvSpPr>
          <p:spPr>
            <a:xfrm>
              <a:off x="192" y="0"/>
              <a:ext cx="2222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sz="14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OX</a:t>
              </a:r>
              <a:r>
                <a: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轴   </a:t>
              </a:r>
              <a:r>
                <a:rPr lang="en-US" altLang="zh-CN" sz="14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V</a:t>
              </a:r>
              <a:r>
                <a: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面与</a:t>
              </a:r>
              <a:r>
                <a:rPr lang="en-US" altLang="zh-CN" sz="14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H</a:t>
              </a:r>
              <a:r>
                <a: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面的交线</a:t>
              </a:r>
            </a:p>
          </p:txBody>
        </p:sp>
        <p:sp>
          <p:nvSpPr>
            <p:cNvPr id="15463" name="文本框 15462"/>
            <p:cNvSpPr txBox="1"/>
            <p:nvPr/>
          </p:nvSpPr>
          <p:spPr>
            <a:xfrm>
              <a:off x="68" y="236"/>
              <a:ext cx="2086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  </a:t>
              </a:r>
              <a:r>
                <a:rPr lang="en-US" altLang="zh-CN" sz="14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OY</a:t>
              </a:r>
              <a:r>
                <a: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轴   </a:t>
              </a:r>
              <a:r>
                <a:rPr lang="en-US" altLang="zh-CN" sz="14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H</a:t>
              </a:r>
              <a:r>
                <a: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面与</a:t>
              </a:r>
              <a:r>
                <a:rPr lang="en-US" altLang="zh-CN" sz="14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W</a:t>
              </a:r>
              <a:r>
                <a: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面的交线</a:t>
              </a:r>
            </a:p>
          </p:txBody>
        </p:sp>
        <p:sp>
          <p:nvSpPr>
            <p:cNvPr id="15464" name="文本框 15463"/>
            <p:cNvSpPr txBox="1"/>
            <p:nvPr/>
          </p:nvSpPr>
          <p:spPr>
            <a:xfrm>
              <a:off x="152" y="503"/>
              <a:ext cx="1769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</a:t>
              </a:r>
              <a:r>
                <a:rPr lang="en-US" altLang="zh-CN" sz="14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OZ</a:t>
              </a:r>
              <a:r>
                <a: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轴   </a:t>
              </a:r>
              <a:r>
                <a:rPr lang="en-US" altLang="zh-CN" sz="14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V</a:t>
              </a:r>
              <a:r>
                <a: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面与</a:t>
              </a:r>
              <a:r>
                <a:rPr lang="en-US" altLang="zh-CN" sz="14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W</a:t>
              </a:r>
              <a:r>
                <a: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面的交线</a:t>
              </a:r>
            </a:p>
          </p:txBody>
        </p:sp>
      </p:grpSp>
      <p:grpSp>
        <p:nvGrpSpPr>
          <p:cNvPr id="15465" name="组合 15464"/>
          <p:cNvGrpSpPr/>
          <p:nvPr/>
        </p:nvGrpSpPr>
        <p:grpSpPr>
          <a:xfrm>
            <a:off x="1481455" y="1932623"/>
            <a:ext cx="4824413" cy="3967162"/>
            <a:chOff x="0" y="0"/>
            <a:chExt cx="3039" cy="2499"/>
          </a:xfrm>
        </p:grpSpPr>
        <p:grpSp>
          <p:nvGrpSpPr>
            <p:cNvPr id="15466" name="组合 15465"/>
            <p:cNvGrpSpPr/>
            <p:nvPr/>
          </p:nvGrpSpPr>
          <p:grpSpPr>
            <a:xfrm>
              <a:off x="0" y="0"/>
              <a:ext cx="3039" cy="2499"/>
              <a:chOff x="0" y="0"/>
              <a:chExt cx="3039" cy="2499"/>
            </a:xfrm>
          </p:grpSpPr>
          <p:sp>
            <p:nvSpPr>
              <p:cNvPr id="15467" name="文本框 15466"/>
              <p:cNvSpPr txBox="1"/>
              <p:nvPr/>
            </p:nvSpPr>
            <p:spPr>
              <a:xfrm>
                <a:off x="1905" y="0"/>
                <a:ext cx="136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b="1" i="1">
                    <a:latin typeface="Arial" panose="020B0604020202020204" pitchFamily="34" charset="0"/>
                  </a:rPr>
                  <a:t>Z</a:t>
                </a:r>
              </a:p>
            </p:txBody>
          </p:sp>
          <p:sp>
            <p:nvSpPr>
              <p:cNvPr id="15468" name="文本框 15467"/>
              <p:cNvSpPr txBox="1"/>
              <p:nvPr/>
            </p:nvSpPr>
            <p:spPr>
              <a:xfrm>
                <a:off x="0" y="1179"/>
                <a:ext cx="136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b="1" i="1">
                    <a:latin typeface="Arial" panose="020B0604020202020204" pitchFamily="34" charset="0"/>
                  </a:rPr>
                  <a:t>X</a:t>
                </a:r>
              </a:p>
            </p:txBody>
          </p:sp>
          <p:sp>
            <p:nvSpPr>
              <p:cNvPr id="15469" name="文本框 15468"/>
              <p:cNvSpPr txBox="1"/>
              <p:nvPr/>
            </p:nvSpPr>
            <p:spPr>
              <a:xfrm>
                <a:off x="2857" y="2268"/>
                <a:ext cx="182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b="1" i="1">
                    <a:latin typeface="Arial" panose="020B0604020202020204" pitchFamily="34" charset="0"/>
                  </a:rPr>
                  <a:t>Y</a:t>
                </a:r>
              </a:p>
            </p:txBody>
          </p:sp>
        </p:grpSp>
        <p:sp>
          <p:nvSpPr>
            <p:cNvPr id="15470" name="文本框 15469"/>
            <p:cNvSpPr txBox="1"/>
            <p:nvPr/>
          </p:nvSpPr>
          <p:spPr>
            <a:xfrm>
              <a:off x="2087" y="1224"/>
              <a:ext cx="181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 i="1">
                  <a:latin typeface="Arial" panose="020B0604020202020204" pitchFamily="34" charset="0"/>
                </a:rPr>
                <a:t>O</a:t>
              </a:r>
            </a:p>
          </p:txBody>
        </p:sp>
      </p:grpSp>
      <p:sp>
        <p:nvSpPr>
          <p:cNvPr id="15471" name="文本框 15470"/>
          <p:cNvSpPr txBox="1"/>
          <p:nvPr/>
        </p:nvSpPr>
        <p:spPr>
          <a:xfrm>
            <a:off x="3310255" y="643255"/>
            <a:ext cx="756285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将物体置于三个相互垂直的投影面内，从不同的方向向三个投影面</a:t>
            </a:r>
          </a:p>
          <a:p>
            <a:pPr eaLnBrk="0" hangingPunct="0"/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进行投影，这三个相互垂直的投影面构成的体系。</a:t>
            </a:r>
          </a:p>
        </p:txBody>
      </p:sp>
      <p:sp>
        <p:nvSpPr>
          <p:cNvPr id="15452" name="文本框 15451"/>
          <p:cNvSpPr txBox="1"/>
          <p:nvPr/>
        </p:nvSpPr>
        <p:spPr>
          <a:xfrm>
            <a:off x="7073900" y="2136775"/>
            <a:ext cx="4537075" cy="3067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正立投影面（简称正面或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面）</a:t>
            </a:r>
          </a:p>
        </p:txBody>
      </p:sp>
      <p:sp>
        <p:nvSpPr>
          <p:cNvPr id="15453" name="文本框 15452"/>
          <p:cNvSpPr txBox="1"/>
          <p:nvPr/>
        </p:nvSpPr>
        <p:spPr>
          <a:xfrm>
            <a:off x="7083743" y="2524443"/>
            <a:ext cx="4895850" cy="3067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水平投影面（简称水平面或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面）</a:t>
            </a:r>
          </a:p>
        </p:txBody>
      </p:sp>
      <p:sp>
        <p:nvSpPr>
          <p:cNvPr id="15454" name="文本框 15453"/>
          <p:cNvSpPr txBox="1"/>
          <p:nvPr/>
        </p:nvSpPr>
        <p:spPr>
          <a:xfrm>
            <a:off x="7058978" y="2868613"/>
            <a:ext cx="4679950" cy="3067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侧立投影面（简称侧面或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面）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697355" y="643255"/>
            <a:ext cx="161099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三投影面体系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1">
                                            <p:txEl>
                                              <p:charRg st="0" end="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5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5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153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3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53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53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5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1" dur="500"/>
                                        <p:tgtEl>
                                          <p:spTgt spid="15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15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15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15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5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/>
      <p:bldP spid="15366" grpId="0"/>
      <p:bldP spid="15367" grpId="0"/>
      <p:bldP spid="15368" grpId="0"/>
      <p:bldP spid="15460" grpId="0"/>
      <p:bldP spid="15452" grpId="1"/>
      <p:bldP spid="15453" grpId="1"/>
      <p:bldP spid="15454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699234" y="364233"/>
            <a:ext cx="6240780" cy="64516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l"/>
            <a:r>
              <a:rPr lang="zh-CN" altLang="en-US" sz="3600" b="1" i="1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3.</a:t>
            </a:r>
            <a:r>
              <a:rPr lang="en-US" altLang="zh-CN" sz="3600" b="1" i="1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2.2</a:t>
            </a:r>
            <a:r>
              <a:rPr lang="zh-CN" altLang="en-US" sz="3600" b="1" i="1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三视图的形成及投影规律</a:t>
            </a:r>
            <a:endParaRPr lang="zh-CN" altLang="en-US" sz="3600" b="1" i="1" dirty="0">
              <a:solidFill>
                <a:srgbClr val="0066CC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sp>
        <p:nvSpPr>
          <p:cNvPr id="16387" name="未知"/>
          <p:cNvSpPr/>
          <p:nvPr/>
        </p:nvSpPr>
        <p:spPr>
          <a:xfrm>
            <a:off x="5694998" y="5360988"/>
            <a:ext cx="69850" cy="69850"/>
          </a:xfrm>
          <a:custGeom>
            <a:avLst/>
            <a:gdLst/>
            <a:ahLst/>
            <a:cxnLst/>
            <a:rect l="0" t="0" r="0" b="0"/>
            <a:pathLst>
              <a:path w="2567" h="1580">
                <a:moveTo>
                  <a:pt x="0" y="1435"/>
                </a:moveTo>
                <a:lnTo>
                  <a:pt x="42" y="1507"/>
                </a:lnTo>
                <a:lnTo>
                  <a:pt x="84" y="1580"/>
                </a:lnTo>
                <a:lnTo>
                  <a:pt x="2567" y="145"/>
                </a:lnTo>
                <a:lnTo>
                  <a:pt x="2525" y="72"/>
                </a:lnTo>
                <a:lnTo>
                  <a:pt x="2483" y="0"/>
                </a:lnTo>
                <a:lnTo>
                  <a:pt x="0" y="1435"/>
                </a:lnTo>
              </a:path>
            </a:pathLst>
          </a:custGeom>
          <a:solidFill>
            <a:srgbClr val="808000">
              <a:alpha val="100000"/>
            </a:srgbClr>
          </a:solidFill>
          <a:ln w="0" cap="flat" cmpd="sng">
            <a:solidFill>
              <a:srgbClr val="FFFF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448" name="矩形 16447"/>
          <p:cNvSpPr/>
          <p:nvPr/>
        </p:nvSpPr>
        <p:spPr>
          <a:xfrm>
            <a:off x="1346835" y="3059113"/>
            <a:ext cx="2736850" cy="166687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449" name="矩形 16448"/>
          <p:cNvSpPr/>
          <p:nvPr/>
        </p:nvSpPr>
        <p:spPr>
          <a:xfrm>
            <a:off x="1346835" y="4714875"/>
            <a:ext cx="2736850" cy="1800225"/>
          </a:xfrm>
          <a:prstGeom prst="rect">
            <a:avLst/>
          </a:prstGeom>
          <a:solidFill>
            <a:srgbClr val="FFFFFF"/>
          </a:solidFill>
          <a:ln w="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450" name="矩形 16449"/>
          <p:cNvSpPr/>
          <p:nvPr/>
        </p:nvSpPr>
        <p:spPr>
          <a:xfrm>
            <a:off x="4082098" y="3059113"/>
            <a:ext cx="2663825" cy="1657350"/>
          </a:xfrm>
          <a:prstGeom prst="rect">
            <a:avLst/>
          </a:prstGeom>
          <a:solidFill>
            <a:srgbClr val="FFFFFF"/>
          </a:solidFill>
          <a:ln w="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451" name="矩形标注 16450"/>
          <p:cNvSpPr/>
          <p:nvPr/>
        </p:nvSpPr>
        <p:spPr>
          <a:xfrm>
            <a:off x="6388100" y="1470025"/>
            <a:ext cx="546100" cy="865505"/>
          </a:xfrm>
          <a:prstGeom prst="wedgeRectCallout">
            <a:avLst>
              <a:gd name="adj1" fmla="val 116958"/>
              <a:gd name="adj2" fmla="val 21560"/>
            </a:avLst>
          </a:prstGeom>
          <a:noFill/>
          <a:ln w="0" cap="flat" cmpd="sng">
            <a:solidFill>
              <a:srgbClr val="3366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algn="ctr"/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</a:t>
            </a:r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面不动</a:t>
            </a:r>
          </a:p>
        </p:txBody>
      </p:sp>
      <p:sp>
        <p:nvSpPr>
          <p:cNvPr id="16452" name="矩形标注 16451"/>
          <p:cNvSpPr/>
          <p:nvPr/>
        </p:nvSpPr>
        <p:spPr>
          <a:xfrm>
            <a:off x="9430385" y="4803775"/>
            <a:ext cx="1835150" cy="433388"/>
          </a:xfrm>
          <a:prstGeom prst="wedgeRectCallout">
            <a:avLst>
              <a:gd name="adj1" fmla="val -42472"/>
              <a:gd name="adj2" fmla="val -140843"/>
            </a:avLst>
          </a:prstGeom>
          <a:noFill/>
          <a:ln w="0" cap="flat" cmpd="sng">
            <a:solidFill>
              <a:srgbClr val="3366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algn="ctr"/>
            <a:r>
              <a:rPr lang="en-US" altLang="zh-CN" sz="1400" b="1">
                <a:latin typeface="+mn-ea"/>
                <a:cs typeface="+mn-ea"/>
              </a:rPr>
              <a:t>H</a:t>
            </a:r>
            <a:r>
              <a:rPr lang="zh-CN" altLang="en-US" sz="1400" b="1">
                <a:latin typeface="+mn-ea"/>
                <a:cs typeface="+mn-ea"/>
              </a:rPr>
              <a:t>面向下旋转</a:t>
            </a:r>
          </a:p>
        </p:txBody>
      </p:sp>
      <p:sp>
        <p:nvSpPr>
          <p:cNvPr id="16453" name="矩形标注 16452"/>
          <p:cNvSpPr/>
          <p:nvPr/>
        </p:nvSpPr>
        <p:spPr>
          <a:xfrm>
            <a:off x="10990898" y="1071563"/>
            <a:ext cx="755650" cy="1052512"/>
          </a:xfrm>
          <a:prstGeom prst="wedgeRectCallout">
            <a:avLst>
              <a:gd name="adj1" fmla="val -12815"/>
              <a:gd name="adj2" fmla="val 89218"/>
            </a:avLst>
          </a:prstGeom>
          <a:noFill/>
          <a:ln w="0" cap="flat" cmpd="sng">
            <a:solidFill>
              <a:srgbClr val="3366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algn="ctr"/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</a:t>
            </a:r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面向右旋转</a:t>
            </a:r>
          </a:p>
        </p:txBody>
      </p:sp>
      <p:sp>
        <p:nvSpPr>
          <p:cNvPr id="16454" name="文本框 16453"/>
          <p:cNvSpPr txBox="1"/>
          <p:nvPr/>
        </p:nvSpPr>
        <p:spPr>
          <a:xfrm>
            <a:off x="1275398" y="3059113"/>
            <a:ext cx="360362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000" b="1" i="1">
                <a:latin typeface="宋体" panose="02010600030101010101" pitchFamily="2" charset="-122"/>
              </a:rPr>
              <a:t>V</a:t>
            </a:r>
          </a:p>
        </p:txBody>
      </p:sp>
      <p:sp>
        <p:nvSpPr>
          <p:cNvPr id="16455" name="文本框 16454"/>
          <p:cNvSpPr txBox="1"/>
          <p:nvPr/>
        </p:nvSpPr>
        <p:spPr>
          <a:xfrm>
            <a:off x="1346835" y="6154738"/>
            <a:ext cx="28892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000" b="1" i="1">
                <a:latin typeface="宋体" panose="02010600030101010101" pitchFamily="2" charset="-122"/>
              </a:rPr>
              <a:t>H</a:t>
            </a:r>
          </a:p>
        </p:txBody>
      </p:sp>
      <p:sp>
        <p:nvSpPr>
          <p:cNvPr id="16456" name="文本框 16455"/>
          <p:cNvSpPr txBox="1"/>
          <p:nvPr/>
        </p:nvSpPr>
        <p:spPr>
          <a:xfrm>
            <a:off x="6387148" y="2986088"/>
            <a:ext cx="28892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000" b="1" i="1">
                <a:latin typeface="宋体" panose="02010600030101010101" pitchFamily="2" charset="-122"/>
              </a:rPr>
              <a:t>W</a:t>
            </a:r>
          </a:p>
        </p:txBody>
      </p:sp>
      <p:graphicFrame>
        <p:nvGraphicFramePr>
          <p:cNvPr id="16457" name="对象 16456"/>
          <p:cNvGraphicFramePr>
            <a:graphicFrameLocks noChangeAspect="1"/>
          </p:cNvGraphicFramePr>
          <p:nvPr/>
        </p:nvGraphicFramePr>
        <p:xfrm>
          <a:off x="2065973" y="3419475"/>
          <a:ext cx="1466850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466850" imgH="1047750" progId="Paint.Picture">
                  <p:embed/>
                </p:oleObj>
              </mc:Choice>
              <mc:Fallback>
                <p:oleObj r:id="rId2" imgW="1466850" imgH="1047750" progId="Paint.Picture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3">
                        <a:grayscl/>
                        <a:lum contrast="36000"/>
                      </a:blip>
                      <a:stretch>
                        <a:fillRect/>
                      </a:stretch>
                    </p:blipFill>
                    <p:spPr>
                      <a:xfrm>
                        <a:off x="2065973" y="3419475"/>
                        <a:ext cx="1466850" cy="1047750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58" name="对象 16457"/>
          <p:cNvGraphicFramePr>
            <a:graphicFrameLocks noChangeAspect="1"/>
          </p:cNvGraphicFramePr>
          <p:nvPr/>
        </p:nvGraphicFramePr>
        <p:xfrm>
          <a:off x="2067560" y="5249863"/>
          <a:ext cx="1457325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457325" imgH="904875" progId="Paint.Picture">
                  <p:embed/>
                </p:oleObj>
              </mc:Choice>
              <mc:Fallback>
                <p:oleObj r:id="rId4" imgW="1457325" imgH="904875" progId="Paint.Picture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067560" y="5249863"/>
                        <a:ext cx="1457325" cy="904875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59" name="对象 16458"/>
          <p:cNvGraphicFramePr>
            <a:graphicFrameLocks noChangeAspect="1"/>
          </p:cNvGraphicFramePr>
          <p:nvPr/>
        </p:nvGraphicFramePr>
        <p:xfrm>
          <a:off x="4586923" y="3419475"/>
          <a:ext cx="990600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990600" imgH="1133475" progId="Paint.Picture">
                  <p:embed/>
                </p:oleObj>
              </mc:Choice>
              <mc:Fallback>
                <p:oleObj r:id="rId6" imgW="990600" imgH="1133475" progId="Paint.Picture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7">
                        <a:lum bright="12000" contrast="36000"/>
                      </a:blip>
                      <a:stretch>
                        <a:fillRect/>
                      </a:stretch>
                    </p:blipFill>
                    <p:spPr>
                      <a:xfrm>
                        <a:off x="4586923" y="3419475"/>
                        <a:ext cx="990600" cy="113347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FFCC99">
                              <a:alpha val="0"/>
                            </a:srgbClr>
                          </a:gs>
                          <a:gs pos="100000">
                            <a:srgbClr val="FFCC99">
                              <a:gamma/>
                              <a:shade val="46275"/>
                              <a:invGamma/>
                              <a:alpha val="0"/>
                            </a:srgbClr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60" name="直接连接符 16459"/>
          <p:cNvSpPr/>
          <p:nvPr/>
        </p:nvSpPr>
        <p:spPr>
          <a:xfrm flipV="1">
            <a:off x="4083685" y="2627313"/>
            <a:ext cx="0" cy="2087562"/>
          </a:xfrm>
          <a:prstGeom prst="line">
            <a:avLst/>
          </a:prstGeom>
          <a:ln w="2857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6461" name="直接连接符 16460"/>
          <p:cNvSpPr/>
          <p:nvPr/>
        </p:nvSpPr>
        <p:spPr>
          <a:xfrm flipH="1">
            <a:off x="1167448" y="4714875"/>
            <a:ext cx="2916237" cy="0"/>
          </a:xfrm>
          <a:prstGeom prst="line">
            <a:avLst/>
          </a:prstGeom>
          <a:ln w="2857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6462" name="直接连接符 16461"/>
          <p:cNvSpPr/>
          <p:nvPr/>
        </p:nvSpPr>
        <p:spPr>
          <a:xfrm>
            <a:off x="4083685" y="4606925"/>
            <a:ext cx="0" cy="2016125"/>
          </a:xfrm>
          <a:prstGeom prst="line">
            <a:avLst/>
          </a:prstGeom>
          <a:ln w="2857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6463" name="直接连接符 16462"/>
          <p:cNvSpPr/>
          <p:nvPr/>
        </p:nvSpPr>
        <p:spPr>
          <a:xfrm>
            <a:off x="4082098" y="4714875"/>
            <a:ext cx="2951162" cy="0"/>
          </a:xfrm>
          <a:prstGeom prst="line">
            <a:avLst/>
          </a:prstGeom>
          <a:ln w="2857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6464" name="文本框 16463"/>
          <p:cNvSpPr txBox="1"/>
          <p:nvPr/>
        </p:nvSpPr>
        <p:spPr>
          <a:xfrm>
            <a:off x="4155123" y="2555875"/>
            <a:ext cx="288925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 i="1">
                <a:latin typeface="Arial" panose="020B0604020202020204" pitchFamily="34" charset="0"/>
              </a:rPr>
              <a:t>Z</a:t>
            </a:r>
          </a:p>
        </p:txBody>
      </p:sp>
      <p:sp>
        <p:nvSpPr>
          <p:cNvPr id="16465" name="文本框 16464"/>
          <p:cNvSpPr txBox="1"/>
          <p:nvPr/>
        </p:nvSpPr>
        <p:spPr>
          <a:xfrm>
            <a:off x="6818948" y="4283075"/>
            <a:ext cx="288925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 i="1">
                <a:latin typeface="Arial" panose="020B0604020202020204" pitchFamily="34" charset="0"/>
              </a:rPr>
              <a:t>Y</a:t>
            </a:r>
          </a:p>
        </p:txBody>
      </p:sp>
      <p:sp>
        <p:nvSpPr>
          <p:cNvPr id="16466" name="文本框 16465"/>
          <p:cNvSpPr txBox="1"/>
          <p:nvPr/>
        </p:nvSpPr>
        <p:spPr>
          <a:xfrm>
            <a:off x="3794760" y="4354513"/>
            <a:ext cx="288925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 i="1">
                <a:latin typeface="Arial" panose="020B0604020202020204" pitchFamily="34" charset="0"/>
              </a:rPr>
              <a:t>O</a:t>
            </a:r>
          </a:p>
        </p:txBody>
      </p:sp>
      <p:sp>
        <p:nvSpPr>
          <p:cNvPr id="16467" name="文本框 16466"/>
          <p:cNvSpPr txBox="1"/>
          <p:nvPr/>
        </p:nvSpPr>
        <p:spPr>
          <a:xfrm>
            <a:off x="1059498" y="4786313"/>
            <a:ext cx="288925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 i="1">
                <a:latin typeface="Arial" panose="020B0604020202020204" pitchFamily="34" charset="0"/>
              </a:rPr>
              <a:t>X</a:t>
            </a:r>
          </a:p>
        </p:txBody>
      </p:sp>
      <p:sp>
        <p:nvSpPr>
          <p:cNvPr id="16470" name="文本框 16469"/>
          <p:cNvSpPr txBox="1"/>
          <p:nvPr/>
        </p:nvSpPr>
        <p:spPr>
          <a:xfrm>
            <a:off x="963295" y="1832293"/>
            <a:ext cx="4972050" cy="33972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视图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就是将物体向投影面投射所得的图形。</a:t>
            </a:r>
          </a:p>
        </p:txBody>
      </p:sp>
      <p:sp>
        <p:nvSpPr>
          <p:cNvPr id="16476" name="文本框 16475"/>
          <p:cNvSpPr txBox="1"/>
          <p:nvPr/>
        </p:nvSpPr>
        <p:spPr>
          <a:xfrm>
            <a:off x="4083685" y="6156325"/>
            <a:ext cx="288925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 i="1">
                <a:latin typeface="Arial" panose="020B0604020202020204" pitchFamily="34" charset="0"/>
              </a:rPr>
              <a:t>Y</a:t>
            </a:r>
          </a:p>
        </p:txBody>
      </p:sp>
      <p:grpSp>
        <p:nvGrpSpPr>
          <p:cNvPr id="16388" name="组合 16387"/>
          <p:cNvGrpSpPr/>
          <p:nvPr/>
        </p:nvGrpSpPr>
        <p:grpSpPr>
          <a:xfrm>
            <a:off x="7061835" y="1060768"/>
            <a:ext cx="4760913" cy="3671887"/>
            <a:chOff x="-14" y="0"/>
            <a:chExt cx="2999" cy="2313"/>
          </a:xfrm>
        </p:grpSpPr>
        <p:sp>
          <p:nvSpPr>
            <p:cNvPr id="16389" name="未知"/>
            <p:cNvSpPr/>
            <p:nvPr/>
          </p:nvSpPr>
          <p:spPr>
            <a:xfrm>
              <a:off x="226" y="1284"/>
              <a:ext cx="2522" cy="816"/>
            </a:xfrm>
            <a:custGeom>
              <a:avLst/>
              <a:gdLst/>
              <a:ahLst/>
              <a:cxnLst/>
              <a:rect l="0" t="0" r="0" b="0"/>
              <a:pathLst>
                <a:path w="2522" h="816">
                  <a:moveTo>
                    <a:pt x="0" y="0"/>
                  </a:moveTo>
                  <a:lnTo>
                    <a:pt x="1700" y="0"/>
                  </a:lnTo>
                  <a:lnTo>
                    <a:pt x="2522" y="816"/>
                  </a:lnTo>
                  <a:lnTo>
                    <a:pt x="818" y="8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CC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90" name="矩形 16389"/>
            <p:cNvSpPr/>
            <p:nvPr/>
          </p:nvSpPr>
          <p:spPr>
            <a:xfrm>
              <a:off x="226" y="240"/>
              <a:ext cx="1708" cy="1050"/>
            </a:xfrm>
            <a:prstGeom prst="rect">
              <a:avLst/>
            </a:prstGeom>
            <a:solidFill>
              <a:srgbClr val="FFFF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91" name="未知"/>
            <p:cNvSpPr/>
            <p:nvPr/>
          </p:nvSpPr>
          <p:spPr>
            <a:xfrm>
              <a:off x="1925" y="240"/>
              <a:ext cx="813" cy="1868"/>
            </a:xfrm>
            <a:custGeom>
              <a:avLst/>
              <a:gdLst/>
              <a:ahLst/>
              <a:cxnLst/>
              <a:rect l="0" t="0" r="0" b="0"/>
              <a:pathLst>
                <a:path w="813" h="1868">
                  <a:moveTo>
                    <a:pt x="0" y="1052"/>
                  </a:moveTo>
                  <a:lnTo>
                    <a:pt x="813" y="1868"/>
                  </a:lnTo>
                  <a:lnTo>
                    <a:pt x="813" y="813"/>
                  </a:lnTo>
                  <a:lnTo>
                    <a:pt x="0" y="0"/>
                  </a:lnTo>
                  <a:lnTo>
                    <a:pt x="0" y="1052"/>
                  </a:lnTo>
                  <a:close/>
                </a:path>
              </a:pathLst>
            </a:custGeom>
            <a:solidFill>
              <a:srgbClr val="FFFFCC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92" name="文本框 16391"/>
            <p:cNvSpPr txBox="1"/>
            <p:nvPr/>
          </p:nvSpPr>
          <p:spPr>
            <a:xfrm>
              <a:off x="277" y="325"/>
              <a:ext cx="21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1" i="1">
                  <a:latin typeface="Times New Roman" panose="02020603050405020304" pitchFamily="18" charset="0"/>
                </a:rPr>
                <a:t>V</a:t>
              </a:r>
            </a:p>
          </p:txBody>
        </p:sp>
        <p:sp>
          <p:nvSpPr>
            <p:cNvPr id="16393" name="文本框 16392"/>
            <p:cNvSpPr txBox="1"/>
            <p:nvPr/>
          </p:nvSpPr>
          <p:spPr>
            <a:xfrm rot="21567590">
              <a:off x="2450" y="984"/>
              <a:ext cx="277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b="1" i="1">
                  <a:latin typeface="Times New Roman" panose="02020603050405020304" pitchFamily="18" charset="0"/>
                </a:rPr>
                <a:t>W</a:t>
              </a:r>
            </a:p>
          </p:txBody>
        </p:sp>
        <p:sp>
          <p:nvSpPr>
            <p:cNvPr id="16394" name="文本框 16393"/>
            <p:cNvSpPr txBox="1"/>
            <p:nvPr/>
          </p:nvSpPr>
          <p:spPr>
            <a:xfrm rot="21443091">
              <a:off x="1028" y="1889"/>
              <a:ext cx="22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1" i="1">
                  <a:latin typeface="Times New Roman" panose="02020603050405020304" pitchFamily="18" charset="0"/>
                </a:rPr>
                <a:t>H</a:t>
              </a:r>
            </a:p>
          </p:txBody>
        </p:sp>
        <p:grpSp>
          <p:nvGrpSpPr>
            <p:cNvPr id="16395" name="组合 16394"/>
            <p:cNvGrpSpPr/>
            <p:nvPr/>
          </p:nvGrpSpPr>
          <p:grpSpPr>
            <a:xfrm>
              <a:off x="499" y="466"/>
              <a:ext cx="791" cy="305"/>
              <a:chOff x="0" y="0"/>
              <a:chExt cx="791" cy="305"/>
            </a:xfrm>
          </p:grpSpPr>
          <p:sp>
            <p:nvSpPr>
              <p:cNvPr id="16396" name="直接连接符 16395"/>
              <p:cNvSpPr/>
              <p:nvPr/>
            </p:nvSpPr>
            <p:spPr>
              <a:xfrm flipH="1">
                <a:off x="0" y="298"/>
                <a:ext cx="79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397" name="直接连接符 16396"/>
              <p:cNvSpPr/>
              <p:nvPr/>
            </p:nvSpPr>
            <p:spPr>
              <a:xfrm flipV="1">
                <a:off x="7" y="211"/>
                <a:ext cx="0" cy="87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398" name="直接连接符 16397"/>
              <p:cNvSpPr/>
              <p:nvPr/>
            </p:nvSpPr>
            <p:spPr>
              <a:xfrm flipV="1">
                <a:off x="783" y="0"/>
                <a:ext cx="0" cy="30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399" name="直接连接符 16398"/>
              <p:cNvSpPr/>
              <p:nvPr/>
            </p:nvSpPr>
            <p:spPr>
              <a:xfrm flipH="1">
                <a:off x="464" y="7"/>
                <a:ext cx="31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400" name="直接连接符 16399"/>
              <p:cNvSpPr/>
              <p:nvPr/>
            </p:nvSpPr>
            <p:spPr>
              <a:xfrm flipV="1">
                <a:off x="312" y="73"/>
                <a:ext cx="0" cy="13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401" name="未知"/>
              <p:cNvSpPr/>
              <p:nvPr/>
            </p:nvSpPr>
            <p:spPr>
              <a:xfrm>
                <a:off x="321" y="3"/>
                <a:ext cx="144" cy="67"/>
              </a:xfrm>
              <a:custGeom>
                <a:avLst/>
                <a:gdLst/>
                <a:ahLst/>
                <a:cxnLst/>
                <a:rect l="0" t="0" r="0" b="0"/>
                <a:pathLst>
                  <a:path w="144" h="67">
                    <a:moveTo>
                      <a:pt x="0" y="67"/>
                    </a:moveTo>
                    <a:lnTo>
                      <a:pt x="144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02" name="未知"/>
              <p:cNvSpPr/>
              <p:nvPr/>
            </p:nvSpPr>
            <p:spPr>
              <a:xfrm>
                <a:off x="1" y="208"/>
                <a:ext cx="786" cy="1"/>
              </a:xfrm>
              <a:custGeom>
                <a:avLst/>
                <a:gdLst/>
                <a:ahLst/>
                <a:cxnLst/>
                <a:rect l="0" t="0" r="0" b="0"/>
                <a:pathLst>
                  <a:path w="786" h="1">
                    <a:moveTo>
                      <a:pt x="0" y="0"/>
                    </a:moveTo>
                    <a:lnTo>
                      <a:pt x="786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6403" name="组合 16402"/>
            <p:cNvGrpSpPr/>
            <p:nvPr/>
          </p:nvGrpSpPr>
          <p:grpSpPr>
            <a:xfrm>
              <a:off x="806" y="1597"/>
              <a:ext cx="1069" cy="281"/>
              <a:chOff x="0" y="0"/>
              <a:chExt cx="1069" cy="281"/>
            </a:xfrm>
          </p:grpSpPr>
          <p:sp>
            <p:nvSpPr>
              <p:cNvPr id="16404" name="直接连接符 16403"/>
              <p:cNvSpPr/>
              <p:nvPr/>
            </p:nvSpPr>
            <p:spPr>
              <a:xfrm>
                <a:off x="285" y="274"/>
                <a:ext cx="784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405" name="直接连接符 16404"/>
              <p:cNvSpPr/>
              <p:nvPr/>
            </p:nvSpPr>
            <p:spPr>
              <a:xfrm>
                <a:off x="0" y="0"/>
                <a:ext cx="79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406" name="未知"/>
              <p:cNvSpPr/>
              <p:nvPr/>
            </p:nvSpPr>
            <p:spPr>
              <a:xfrm>
                <a:off x="7" y="2"/>
                <a:ext cx="282" cy="279"/>
              </a:xfrm>
              <a:custGeom>
                <a:avLst/>
                <a:gdLst/>
                <a:ahLst/>
                <a:cxnLst/>
                <a:rect l="0" t="0" r="0" b="0"/>
                <a:pathLst>
                  <a:path w="282" h="279">
                    <a:moveTo>
                      <a:pt x="0" y="0"/>
                    </a:moveTo>
                    <a:lnTo>
                      <a:pt x="282" y="279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07" name="未知"/>
              <p:cNvSpPr/>
              <p:nvPr/>
            </p:nvSpPr>
            <p:spPr>
              <a:xfrm>
                <a:off x="795" y="1"/>
                <a:ext cx="272" cy="273"/>
              </a:xfrm>
              <a:custGeom>
                <a:avLst/>
                <a:gdLst/>
                <a:ahLst/>
                <a:cxnLst/>
                <a:rect l="0" t="0" r="0" b="0"/>
                <a:pathLst>
                  <a:path w="272" h="273">
                    <a:moveTo>
                      <a:pt x="0" y="0"/>
                    </a:moveTo>
                    <a:lnTo>
                      <a:pt x="272" y="273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08" name="直接连接符 16407"/>
              <p:cNvSpPr/>
              <p:nvPr/>
            </p:nvSpPr>
            <p:spPr>
              <a:xfrm>
                <a:off x="319" y="2"/>
                <a:ext cx="80" cy="8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409" name="直接连接符 16408"/>
              <p:cNvSpPr/>
              <p:nvPr/>
            </p:nvSpPr>
            <p:spPr>
              <a:xfrm>
                <a:off x="392" y="75"/>
                <a:ext cx="480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410" name="未知"/>
              <p:cNvSpPr/>
              <p:nvPr/>
            </p:nvSpPr>
            <p:spPr>
              <a:xfrm>
                <a:off x="457" y="2"/>
                <a:ext cx="75" cy="74"/>
              </a:xfrm>
              <a:custGeom>
                <a:avLst/>
                <a:gdLst/>
                <a:ahLst/>
                <a:cxnLst/>
                <a:rect l="0" t="0" r="0" b="0"/>
                <a:pathLst>
                  <a:path w="75" h="74">
                    <a:moveTo>
                      <a:pt x="0" y="0"/>
                    </a:moveTo>
                    <a:lnTo>
                      <a:pt x="75" y="74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6411" name="组合 16410"/>
            <p:cNvGrpSpPr/>
            <p:nvPr/>
          </p:nvGrpSpPr>
          <p:grpSpPr>
            <a:xfrm>
              <a:off x="2129" y="763"/>
              <a:ext cx="289" cy="575"/>
              <a:chOff x="0" y="0"/>
              <a:chExt cx="289" cy="575"/>
            </a:xfrm>
          </p:grpSpPr>
          <p:sp>
            <p:nvSpPr>
              <p:cNvPr id="16412" name="未知"/>
              <p:cNvSpPr/>
              <p:nvPr/>
            </p:nvSpPr>
            <p:spPr>
              <a:xfrm>
                <a:off x="6" y="301"/>
                <a:ext cx="276" cy="269"/>
              </a:xfrm>
              <a:custGeom>
                <a:avLst/>
                <a:gdLst/>
                <a:ahLst/>
                <a:cxnLst/>
                <a:rect l="0" t="0" r="0" b="0"/>
                <a:pathLst>
                  <a:path w="276" h="269">
                    <a:moveTo>
                      <a:pt x="0" y="0"/>
                    </a:moveTo>
                    <a:lnTo>
                      <a:pt x="276" y="269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13" name="未知"/>
              <p:cNvSpPr/>
              <p:nvPr/>
            </p:nvSpPr>
            <p:spPr>
              <a:xfrm>
                <a:off x="6" y="213"/>
                <a:ext cx="283" cy="284"/>
              </a:xfrm>
              <a:custGeom>
                <a:avLst/>
                <a:gdLst/>
                <a:ahLst/>
                <a:cxnLst/>
                <a:rect l="0" t="0" r="0" b="0"/>
                <a:pathLst>
                  <a:path w="283" h="284">
                    <a:moveTo>
                      <a:pt x="0" y="0"/>
                    </a:moveTo>
                    <a:lnTo>
                      <a:pt x="283" y="284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14" name="直接连接符 16413"/>
              <p:cNvSpPr/>
              <p:nvPr/>
            </p:nvSpPr>
            <p:spPr>
              <a:xfrm>
                <a:off x="7" y="7"/>
                <a:ext cx="0" cy="291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415" name="直接连接符 16414"/>
              <p:cNvSpPr/>
              <p:nvPr/>
            </p:nvSpPr>
            <p:spPr>
              <a:xfrm>
                <a:off x="80" y="80"/>
                <a:ext cx="0" cy="21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416" name="直接连接符 16415"/>
              <p:cNvSpPr/>
              <p:nvPr/>
            </p:nvSpPr>
            <p:spPr>
              <a:xfrm>
                <a:off x="283" y="488"/>
                <a:ext cx="0" cy="87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417" name="直接连接符 16416"/>
              <p:cNvSpPr/>
              <p:nvPr/>
            </p:nvSpPr>
            <p:spPr>
              <a:xfrm>
                <a:off x="7" y="0"/>
                <a:ext cx="87" cy="87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418" name="直接连接符 16417"/>
              <p:cNvSpPr/>
              <p:nvPr/>
            </p:nvSpPr>
            <p:spPr>
              <a:xfrm flipH="1" flipV="1">
                <a:off x="0" y="66"/>
                <a:ext cx="94" cy="9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6419" name="组合 16418"/>
            <p:cNvGrpSpPr/>
            <p:nvPr/>
          </p:nvGrpSpPr>
          <p:grpSpPr>
            <a:xfrm>
              <a:off x="816" y="785"/>
              <a:ext cx="1062" cy="560"/>
              <a:chOff x="0" y="0"/>
              <a:chExt cx="1062" cy="560"/>
            </a:xfrm>
          </p:grpSpPr>
          <p:sp>
            <p:nvSpPr>
              <p:cNvPr id="16420" name="未知"/>
              <p:cNvSpPr/>
              <p:nvPr/>
            </p:nvSpPr>
            <p:spPr>
              <a:xfrm>
                <a:off x="2" y="8"/>
                <a:ext cx="1060" cy="545"/>
              </a:xfrm>
              <a:custGeom>
                <a:avLst/>
                <a:gdLst/>
                <a:ahLst/>
                <a:cxnLst/>
                <a:rect l="0" t="0" r="0" b="0"/>
                <a:pathLst>
                  <a:path w="1060" h="545">
                    <a:moveTo>
                      <a:pt x="0" y="181"/>
                    </a:moveTo>
                    <a:lnTo>
                      <a:pt x="298" y="181"/>
                    </a:lnTo>
                    <a:lnTo>
                      <a:pt x="312" y="65"/>
                    </a:lnTo>
                    <a:lnTo>
                      <a:pt x="443" y="0"/>
                    </a:lnTo>
                    <a:lnTo>
                      <a:pt x="771" y="0"/>
                    </a:lnTo>
                    <a:lnTo>
                      <a:pt x="843" y="58"/>
                    </a:lnTo>
                    <a:lnTo>
                      <a:pt x="843" y="254"/>
                    </a:lnTo>
                    <a:lnTo>
                      <a:pt x="1060" y="474"/>
                    </a:lnTo>
                    <a:lnTo>
                      <a:pt x="1054" y="545"/>
                    </a:lnTo>
                    <a:lnTo>
                      <a:pt x="283" y="545"/>
                    </a:lnTo>
                    <a:lnTo>
                      <a:pt x="0" y="283"/>
                    </a:lnTo>
                    <a:lnTo>
                      <a:pt x="0" y="18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9CC00">
                      <a:alpha val="70000"/>
                    </a:srgbClr>
                  </a:gs>
                  <a:gs pos="100000">
                    <a:srgbClr val="99CC00">
                      <a:gamma/>
                      <a:tint val="0"/>
                      <a:invGamma/>
                      <a:alpha val="100000"/>
                    </a:srgbClr>
                  </a:gs>
                </a:gsLst>
                <a:lin ang="5400000" scaled="1"/>
                <a:tileRect/>
              </a:gradFill>
              <a:ln w="12700" cap="flat" cmpd="sng">
                <a:solidFill>
                  <a:srgbClr val="FF505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6421" name="组合 16420"/>
              <p:cNvGrpSpPr/>
              <p:nvPr/>
            </p:nvGrpSpPr>
            <p:grpSpPr>
              <a:xfrm>
                <a:off x="0" y="0"/>
                <a:ext cx="1062" cy="560"/>
                <a:chOff x="0" y="0"/>
                <a:chExt cx="1062" cy="560"/>
              </a:xfrm>
            </p:grpSpPr>
            <p:sp>
              <p:nvSpPr>
                <p:cNvPr id="16422" name="直接连接符 16421"/>
                <p:cNvSpPr/>
                <p:nvPr/>
              </p:nvSpPr>
              <p:spPr>
                <a:xfrm flipH="1" flipV="1">
                  <a:off x="452" y="0"/>
                  <a:ext cx="66" cy="66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6423" name="未知"/>
                <p:cNvSpPr/>
                <p:nvPr/>
              </p:nvSpPr>
              <p:spPr>
                <a:xfrm>
                  <a:off x="280" y="468"/>
                  <a:ext cx="3" cy="8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" h="85">
                      <a:moveTo>
                        <a:pt x="3" y="0"/>
                      </a:moveTo>
                      <a:lnTo>
                        <a:pt x="0" y="85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424" name="未知"/>
                <p:cNvSpPr/>
                <p:nvPr/>
              </p:nvSpPr>
              <p:spPr>
                <a:xfrm>
                  <a:off x="5" y="184"/>
                  <a:ext cx="2" cy="10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" h="106">
                      <a:moveTo>
                        <a:pt x="0" y="106"/>
                      </a:moveTo>
                      <a:lnTo>
                        <a:pt x="2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425" name="直接连接符 16424"/>
                <p:cNvSpPr/>
                <p:nvPr/>
              </p:nvSpPr>
              <p:spPr>
                <a:xfrm>
                  <a:off x="383" y="258"/>
                  <a:ext cx="47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6426" name="直接连接符 16425"/>
                <p:cNvSpPr/>
                <p:nvPr/>
              </p:nvSpPr>
              <p:spPr>
                <a:xfrm flipV="1">
                  <a:off x="848" y="64"/>
                  <a:ext cx="0" cy="201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6427" name="未知"/>
                <p:cNvSpPr/>
                <p:nvPr/>
              </p:nvSpPr>
              <p:spPr>
                <a:xfrm>
                  <a:off x="387" y="59"/>
                  <a:ext cx="124" cy="6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24" h="65">
                      <a:moveTo>
                        <a:pt x="124" y="0"/>
                      </a:moveTo>
                      <a:lnTo>
                        <a:pt x="0" y="65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428" name="未知"/>
                <p:cNvSpPr/>
                <p:nvPr/>
              </p:nvSpPr>
              <p:spPr>
                <a:xfrm>
                  <a:off x="314" y="0"/>
                  <a:ext cx="139" cy="6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39" h="66">
                      <a:moveTo>
                        <a:pt x="139" y="0"/>
                      </a:moveTo>
                      <a:lnTo>
                        <a:pt x="0" y="66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429" name="直接连接符 16428"/>
                <p:cNvSpPr/>
                <p:nvPr/>
              </p:nvSpPr>
              <p:spPr>
                <a:xfrm>
                  <a:off x="450" y="2"/>
                  <a:ext cx="33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6430" name="直接连接符 16429"/>
                <p:cNvSpPr/>
                <p:nvPr/>
              </p:nvSpPr>
              <p:spPr>
                <a:xfrm>
                  <a:off x="519" y="64"/>
                  <a:ext cx="33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6431" name="未知"/>
                <p:cNvSpPr/>
                <p:nvPr/>
              </p:nvSpPr>
              <p:spPr>
                <a:xfrm>
                  <a:off x="380" y="117"/>
                  <a:ext cx="1" cy="152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" h="152">
                      <a:moveTo>
                        <a:pt x="0" y="0"/>
                      </a:moveTo>
                      <a:lnTo>
                        <a:pt x="0" y="152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432" name="未知"/>
                <p:cNvSpPr/>
                <p:nvPr/>
              </p:nvSpPr>
              <p:spPr>
                <a:xfrm>
                  <a:off x="307" y="66"/>
                  <a:ext cx="1" cy="122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" h="122">
                      <a:moveTo>
                        <a:pt x="0" y="0"/>
                      </a:moveTo>
                      <a:lnTo>
                        <a:pt x="1" y="122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433" name="未知"/>
                <p:cNvSpPr/>
                <p:nvPr/>
              </p:nvSpPr>
              <p:spPr>
                <a:xfrm>
                  <a:off x="0" y="279"/>
                  <a:ext cx="284" cy="27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84" h="276">
                      <a:moveTo>
                        <a:pt x="0" y="0"/>
                      </a:moveTo>
                      <a:lnTo>
                        <a:pt x="284" y="276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434" name="直接连接符 16433"/>
                <p:cNvSpPr/>
                <p:nvPr/>
              </p:nvSpPr>
              <p:spPr>
                <a:xfrm>
                  <a:off x="278" y="473"/>
                  <a:ext cx="77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6435" name="直接连接符 16434"/>
                <p:cNvSpPr/>
                <p:nvPr/>
              </p:nvSpPr>
              <p:spPr>
                <a:xfrm>
                  <a:off x="1056" y="473"/>
                  <a:ext cx="0" cy="87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6436" name="未知"/>
                <p:cNvSpPr/>
                <p:nvPr/>
              </p:nvSpPr>
              <p:spPr>
                <a:xfrm>
                  <a:off x="271" y="553"/>
                  <a:ext cx="787" cy="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787" h="1">
                      <a:moveTo>
                        <a:pt x="0" y="0"/>
                      </a:moveTo>
                      <a:lnTo>
                        <a:pt x="787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437" name="未知"/>
                <p:cNvSpPr/>
                <p:nvPr/>
              </p:nvSpPr>
              <p:spPr>
                <a:xfrm>
                  <a:off x="9" y="189"/>
                  <a:ext cx="278" cy="27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78" h="276">
                      <a:moveTo>
                        <a:pt x="0" y="0"/>
                      </a:moveTo>
                      <a:lnTo>
                        <a:pt x="278" y="276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438" name="未知"/>
                <p:cNvSpPr/>
                <p:nvPr/>
              </p:nvSpPr>
              <p:spPr>
                <a:xfrm>
                  <a:off x="845" y="255"/>
                  <a:ext cx="217" cy="22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17" h="220">
                      <a:moveTo>
                        <a:pt x="217" y="22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439" name="未知"/>
                <p:cNvSpPr/>
                <p:nvPr/>
              </p:nvSpPr>
              <p:spPr>
                <a:xfrm>
                  <a:off x="300" y="182"/>
                  <a:ext cx="77" cy="7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77" h="77">
                      <a:moveTo>
                        <a:pt x="77" y="77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440" name="未知"/>
                <p:cNvSpPr/>
                <p:nvPr/>
              </p:nvSpPr>
              <p:spPr>
                <a:xfrm>
                  <a:off x="5" y="188"/>
                  <a:ext cx="302" cy="2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02" h="2">
                      <a:moveTo>
                        <a:pt x="0" y="0"/>
                      </a:moveTo>
                      <a:lnTo>
                        <a:pt x="302" y="2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441" name="未知"/>
                <p:cNvSpPr/>
                <p:nvPr/>
              </p:nvSpPr>
              <p:spPr>
                <a:xfrm>
                  <a:off x="780" y="0"/>
                  <a:ext cx="73" cy="6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73" h="66">
                      <a:moveTo>
                        <a:pt x="73" y="66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442" name="未知"/>
                <p:cNvSpPr/>
                <p:nvPr/>
              </p:nvSpPr>
              <p:spPr>
                <a:xfrm>
                  <a:off x="322" y="73"/>
                  <a:ext cx="59" cy="59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59" h="59">
                      <a:moveTo>
                        <a:pt x="59" y="59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6443" name="文本框 16442"/>
            <p:cNvSpPr txBox="1"/>
            <p:nvPr/>
          </p:nvSpPr>
          <p:spPr>
            <a:xfrm>
              <a:off x="1905" y="0"/>
              <a:ext cx="27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 i="1">
                  <a:latin typeface="Arial" panose="020B0604020202020204" pitchFamily="34" charset="0"/>
                </a:rPr>
                <a:t>Z</a:t>
              </a:r>
            </a:p>
          </p:txBody>
        </p:sp>
        <p:sp>
          <p:nvSpPr>
            <p:cNvPr id="16444" name="文本框 16443"/>
            <p:cNvSpPr txBox="1"/>
            <p:nvPr/>
          </p:nvSpPr>
          <p:spPr>
            <a:xfrm>
              <a:off x="-14" y="1212"/>
              <a:ext cx="22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 i="1">
                  <a:latin typeface="Arial" panose="020B0604020202020204" pitchFamily="34" charset="0"/>
                </a:rPr>
                <a:t>X</a:t>
              </a:r>
            </a:p>
          </p:txBody>
        </p:sp>
        <p:sp>
          <p:nvSpPr>
            <p:cNvPr id="16445" name="文本框 16444"/>
            <p:cNvSpPr txBox="1"/>
            <p:nvPr/>
          </p:nvSpPr>
          <p:spPr>
            <a:xfrm>
              <a:off x="2713" y="2082"/>
              <a:ext cx="27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 i="1">
                  <a:latin typeface="Arial" panose="020B0604020202020204" pitchFamily="34" charset="0"/>
                </a:rPr>
                <a:t>Y</a:t>
              </a:r>
            </a:p>
          </p:txBody>
        </p:sp>
        <p:sp>
          <p:nvSpPr>
            <p:cNvPr id="16446" name="文本框 16445"/>
            <p:cNvSpPr txBox="1"/>
            <p:nvPr/>
          </p:nvSpPr>
          <p:spPr>
            <a:xfrm>
              <a:off x="1887" y="1157"/>
              <a:ext cx="22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>
                  <a:latin typeface="Arial" panose="020B0604020202020204" pitchFamily="34" charset="0"/>
                </a:rPr>
                <a:t>O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6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6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50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500"/>
                            </p:stCondLst>
                            <p:childTnLst>
                              <p:par>
                                <p:cTn id="5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51" grpId="0" bldLvl="0" animBg="1"/>
      <p:bldP spid="16451" grpId="1" bldLvl="0" animBg="1"/>
      <p:bldP spid="16452" grpId="0" bldLvl="0" animBg="1"/>
      <p:bldP spid="16452" grpId="1" bldLvl="0" animBg="1"/>
      <p:bldP spid="16453" grpId="0" bldLvl="0" animBg="1"/>
      <p:bldP spid="16453" grpId="1" bldLvl="0" animBg="1"/>
      <p:bldP spid="16454" grpId="0"/>
      <p:bldP spid="16455" grpId="0"/>
      <p:bldP spid="16464" grpId="0"/>
      <p:bldP spid="16465" grpId="0"/>
      <p:bldP spid="16466" grpId="0"/>
      <p:bldP spid="16467" grpId="0"/>
      <p:bldP spid="16470" grpId="2"/>
      <p:bldP spid="1647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文本框 17409"/>
          <p:cNvSpPr txBox="1"/>
          <p:nvPr/>
        </p:nvSpPr>
        <p:spPr>
          <a:xfrm>
            <a:off x="1276350" y="1484313"/>
            <a:ext cx="5040313" cy="3067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140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主视图 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立体的正面投影</a:t>
            </a:r>
          </a:p>
        </p:txBody>
      </p:sp>
      <p:sp>
        <p:nvSpPr>
          <p:cNvPr id="17411" name="文本框 17410"/>
          <p:cNvSpPr txBox="1"/>
          <p:nvPr/>
        </p:nvSpPr>
        <p:spPr>
          <a:xfrm>
            <a:off x="1276350" y="2060575"/>
            <a:ext cx="5184775" cy="3067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1400">
                <a:solidFill>
                  <a:schemeClr val="hlin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俯视图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立体的水平投影</a:t>
            </a:r>
          </a:p>
        </p:txBody>
      </p:sp>
      <p:sp>
        <p:nvSpPr>
          <p:cNvPr id="17412" name="文本框 17411"/>
          <p:cNvSpPr txBox="1"/>
          <p:nvPr/>
        </p:nvSpPr>
        <p:spPr>
          <a:xfrm>
            <a:off x="1276350" y="2622550"/>
            <a:ext cx="5040313" cy="3067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1400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左视图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立体的侧面投影</a:t>
            </a:r>
          </a:p>
        </p:txBody>
      </p:sp>
      <p:sp>
        <p:nvSpPr>
          <p:cNvPr id="17413" name="文本框 17412"/>
          <p:cNvSpPr txBox="1"/>
          <p:nvPr/>
        </p:nvSpPr>
        <p:spPr>
          <a:xfrm>
            <a:off x="606108" y="3386455"/>
            <a:ext cx="4608512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三视图之间的度量对应关系</a:t>
            </a: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</a:t>
            </a:r>
          </a:p>
        </p:txBody>
      </p:sp>
      <p:grpSp>
        <p:nvGrpSpPr>
          <p:cNvPr id="17414" name="组合 17413"/>
          <p:cNvGrpSpPr/>
          <p:nvPr/>
        </p:nvGrpSpPr>
        <p:grpSpPr>
          <a:xfrm>
            <a:off x="1189038" y="4214495"/>
            <a:ext cx="4818062" cy="1476375"/>
            <a:chOff x="0" y="0"/>
            <a:chExt cx="3035" cy="930"/>
          </a:xfrm>
        </p:grpSpPr>
        <p:sp>
          <p:nvSpPr>
            <p:cNvPr id="17415" name="缺角矩形 17414"/>
            <p:cNvSpPr/>
            <p:nvPr/>
          </p:nvSpPr>
          <p:spPr>
            <a:xfrm>
              <a:off x="0" y="41"/>
              <a:ext cx="2945" cy="889"/>
            </a:xfrm>
            <a:prstGeom prst="plaque">
              <a:avLst>
                <a:gd name="adj" fmla="val 16667"/>
              </a:avLst>
            </a:prstGeom>
            <a:noFill/>
            <a:ln w="9525">
              <a:noFill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7416" name="文本框 17415"/>
            <p:cNvSpPr txBox="1"/>
            <p:nvPr/>
          </p:nvSpPr>
          <p:spPr>
            <a:xfrm>
              <a:off x="92" y="0"/>
              <a:ext cx="2943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主、俯视图</a:t>
              </a:r>
              <a:r>
                <a:rPr lang="zh-CN" altLang="en-US" sz="14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长相等</a:t>
              </a:r>
              <a:r>
                <a:rPr lang="zh-CN" altLang="en-US" sz="1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且对正</a:t>
              </a:r>
            </a:p>
          </p:txBody>
        </p:sp>
      </p:grpSp>
      <p:sp>
        <p:nvSpPr>
          <p:cNvPr id="17417" name="文本框 17416"/>
          <p:cNvSpPr txBox="1"/>
          <p:nvPr/>
        </p:nvSpPr>
        <p:spPr>
          <a:xfrm>
            <a:off x="1276350" y="4933633"/>
            <a:ext cx="4737100" cy="3067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主、左视图</a:t>
            </a:r>
            <a:r>
              <a:rPr lang="zh-CN" altLang="en-US" sz="1400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高相等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且平齐</a:t>
            </a:r>
          </a:p>
        </p:txBody>
      </p:sp>
      <p:sp>
        <p:nvSpPr>
          <p:cNvPr id="17418" name="文本框 17417"/>
          <p:cNvSpPr txBox="1"/>
          <p:nvPr/>
        </p:nvSpPr>
        <p:spPr>
          <a:xfrm>
            <a:off x="1290638" y="5694045"/>
            <a:ext cx="4722812" cy="3067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俯、左视图</a:t>
            </a:r>
            <a:r>
              <a:rPr lang="zh-CN" altLang="en-US" sz="1400">
                <a:solidFill>
                  <a:srgbClr val="7021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宽相等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且对应</a:t>
            </a:r>
          </a:p>
        </p:txBody>
      </p:sp>
      <p:grpSp>
        <p:nvGrpSpPr>
          <p:cNvPr id="17419" name="组合 17418"/>
          <p:cNvGrpSpPr/>
          <p:nvPr/>
        </p:nvGrpSpPr>
        <p:grpSpPr>
          <a:xfrm>
            <a:off x="6100763" y="2046288"/>
            <a:ext cx="1925637" cy="881062"/>
            <a:chOff x="0" y="0"/>
            <a:chExt cx="1082" cy="555"/>
          </a:xfrm>
        </p:grpSpPr>
        <p:sp>
          <p:nvSpPr>
            <p:cNvPr id="17420" name="未知"/>
            <p:cNvSpPr/>
            <p:nvPr/>
          </p:nvSpPr>
          <p:spPr>
            <a:xfrm>
              <a:off x="0" y="0"/>
              <a:ext cx="1" cy="555"/>
            </a:xfrm>
            <a:custGeom>
              <a:avLst/>
              <a:gdLst/>
              <a:ahLst/>
              <a:cxnLst/>
              <a:rect l="0" t="0" r="0" b="0"/>
              <a:pathLst>
                <a:path w="1" h="371">
                  <a:moveTo>
                    <a:pt x="0" y="0"/>
                  </a:moveTo>
                  <a:lnTo>
                    <a:pt x="0" y="371"/>
                  </a:lnTo>
                </a:path>
              </a:pathLst>
            </a:custGeom>
            <a:noFill/>
            <a:ln w="9525" cap="flat" cmpd="sng">
              <a:solidFill>
                <a:srgbClr val="D60093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1" name="未知"/>
            <p:cNvSpPr/>
            <p:nvPr/>
          </p:nvSpPr>
          <p:spPr>
            <a:xfrm>
              <a:off x="1073" y="12"/>
              <a:ext cx="1" cy="512"/>
            </a:xfrm>
            <a:custGeom>
              <a:avLst/>
              <a:gdLst/>
              <a:ahLst/>
              <a:cxnLst/>
              <a:rect l="0" t="0" r="0" b="0"/>
              <a:pathLst>
                <a:path w="1" h="342">
                  <a:moveTo>
                    <a:pt x="1" y="0"/>
                  </a:moveTo>
                  <a:lnTo>
                    <a:pt x="0" y="342"/>
                  </a:lnTo>
                </a:path>
              </a:pathLst>
            </a:custGeom>
            <a:noFill/>
            <a:ln w="9525" cap="flat" cmpd="sng">
              <a:solidFill>
                <a:srgbClr val="D60093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2" name="未知"/>
            <p:cNvSpPr/>
            <p:nvPr/>
          </p:nvSpPr>
          <p:spPr>
            <a:xfrm>
              <a:off x="0" y="251"/>
              <a:ext cx="1082" cy="1"/>
            </a:xfrm>
            <a:custGeom>
              <a:avLst/>
              <a:gdLst/>
              <a:ahLst/>
              <a:cxnLst/>
              <a:rect l="0" t="0" r="0" b="0"/>
              <a:pathLst>
                <a:path w="1082" h="1">
                  <a:moveTo>
                    <a:pt x="0" y="1"/>
                  </a:moveTo>
                  <a:lnTo>
                    <a:pt x="1082" y="0"/>
                  </a:lnTo>
                </a:path>
              </a:pathLst>
            </a:custGeom>
            <a:noFill/>
            <a:ln w="9525" cap="flat" cmpd="sng">
              <a:solidFill>
                <a:srgbClr val="D60093"/>
              </a:solidFill>
              <a:prstDash val="solid"/>
              <a:headEnd type="triangle" w="sm" len="lg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3" name="文本框 17422"/>
            <p:cNvSpPr txBox="1"/>
            <p:nvPr/>
          </p:nvSpPr>
          <p:spPr>
            <a:xfrm>
              <a:off x="430" y="78"/>
              <a:ext cx="21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sz="1600" b="1">
                  <a:solidFill>
                    <a:srgbClr val="D6009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长</a:t>
              </a:r>
              <a:endParaRPr lang="zh-CN" altLang="en-US" b="1">
                <a:solidFill>
                  <a:srgbClr val="D6009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7424" name="组合 17423"/>
          <p:cNvGrpSpPr/>
          <p:nvPr/>
        </p:nvGrpSpPr>
        <p:grpSpPr>
          <a:xfrm>
            <a:off x="8020050" y="950913"/>
            <a:ext cx="889000" cy="1074737"/>
            <a:chOff x="0" y="0"/>
            <a:chExt cx="560" cy="491"/>
          </a:xfrm>
        </p:grpSpPr>
        <p:sp>
          <p:nvSpPr>
            <p:cNvPr id="17425" name="直接连接符 17424"/>
            <p:cNvSpPr/>
            <p:nvPr/>
          </p:nvSpPr>
          <p:spPr>
            <a:xfrm>
              <a:off x="14" y="473"/>
              <a:ext cx="539" cy="0"/>
            </a:xfrm>
            <a:prstGeom prst="line">
              <a:avLst/>
            </a:prstGeom>
            <a:ln w="9525" cap="flat" cmpd="sng">
              <a:solidFill>
                <a:srgbClr val="D60093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426" name="直接连接符 17425"/>
            <p:cNvSpPr/>
            <p:nvPr/>
          </p:nvSpPr>
          <p:spPr>
            <a:xfrm>
              <a:off x="0" y="18"/>
              <a:ext cx="560" cy="0"/>
            </a:xfrm>
            <a:prstGeom prst="line">
              <a:avLst/>
            </a:prstGeom>
            <a:ln w="9525" cap="flat" cmpd="sng">
              <a:solidFill>
                <a:srgbClr val="D60093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427" name="文本框 17426"/>
            <p:cNvSpPr txBox="1"/>
            <p:nvPr/>
          </p:nvSpPr>
          <p:spPr>
            <a:xfrm rot="16200000">
              <a:off x="200" y="194"/>
              <a:ext cx="17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sz="1600" b="1">
                  <a:solidFill>
                    <a:srgbClr val="D60093"/>
                  </a:solidFill>
                  <a:latin typeface="Times New Roman" panose="02020603050405020304" pitchFamily="18" charset="0"/>
                </a:rPr>
                <a:t>高</a:t>
              </a:r>
              <a:endParaRPr lang="zh-CN" altLang="en-US" b="1">
                <a:solidFill>
                  <a:srgbClr val="D60093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7428" name="未知"/>
            <p:cNvSpPr/>
            <p:nvPr/>
          </p:nvSpPr>
          <p:spPr>
            <a:xfrm>
              <a:off x="377" y="0"/>
              <a:ext cx="1" cy="491"/>
            </a:xfrm>
            <a:custGeom>
              <a:avLst/>
              <a:gdLst/>
              <a:ahLst/>
              <a:cxnLst/>
              <a:rect l="0" t="0" r="0" b="0"/>
              <a:pathLst>
                <a:path w="1" h="328">
                  <a:moveTo>
                    <a:pt x="0" y="0"/>
                  </a:moveTo>
                  <a:lnTo>
                    <a:pt x="0" y="328"/>
                  </a:lnTo>
                </a:path>
              </a:pathLst>
            </a:custGeom>
            <a:noFill/>
            <a:ln w="9525" cap="flat" cmpd="sng">
              <a:solidFill>
                <a:srgbClr val="D60093"/>
              </a:solidFill>
              <a:prstDash val="solid"/>
              <a:headEnd type="triangle" w="sm" len="lg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429" name="组合 17428"/>
          <p:cNvGrpSpPr/>
          <p:nvPr/>
        </p:nvGrpSpPr>
        <p:grpSpPr>
          <a:xfrm>
            <a:off x="7958138" y="1987550"/>
            <a:ext cx="2016125" cy="1862138"/>
            <a:chOff x="0" y="0"/>
            <a:chExt cx="1118" cy="1127"/>
          </a:xfrm>
        </p:grpSpPr>
        <p:sp>
          <p:nvSpPr>
            <p:cNvPr id="17430" name="直接连接符 17429"/>
            <p:cNvSpPr/>
            <p:nvPr/>
          </p:nvSpPr>
          <p:spPr>
            <a:xfrm>
              <a:off x="18" y="528"/>
              <a:ext cx="298" cy="0"/>
            </a:xfrm>
            <a:prstGeom prst="line">
              <a:avLst/>
            </a:prstGeom>
            <a:ln w="9525" cap="flat" cmpd="sng">
              <a:solidFill>
                <a:srgbClr val="D60093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431" name="直接连接符 17430"/>
            <p:cNvSpPr/>
            <p:nvPr/>
          </p:nvSpPr>
          <p:spPr>
            <a:xfrm>
              <a:off x="0" y="1108"/>
              <a:ext cx="298" cy="0"/>
            </a:xfrm>
            <a:prstGeom prst="line">
              <a:avLst/>
            </a:prstGeom>
            <a:ln w="9525" cap="flat" cmpd="sng">
              <a:solidFill>
                <a:srgbClr val="D60093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432" name="直接连接符 17431"/>
            <p:cNvSpPr/>
            <p:nvPr/>
          </p:nvSpPr>
          <p:spPr>
            <a:xfrm flipV="1">
              <a:off x="565" y="7"/>
              <a:ext cx="0" cy="317"/>
            </a:xfrm>
            <a:prstGeom prst="line">
              <a:avLst/>
            </a:prstGeom>
            <a:ln w="9525" cap="flat" cmpd="sng">
              <a:solidFill>
                <a:srgbClr val="D60093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433" name="未知"/>
            <p:cNvSpPr/>
            <p:nvPr/>
          </p:nvSpPr>
          <p:spPr>
            <a:xfrm>
              <a:off x="1117" y="0"/>
              <a:ext cx="1" cy="290"/>
            </a:xfrm>
            <a:custGeom>
              <a:avLst/>
              <a:gdLst/>
              <a:ahLst/>
              <a:cxnLst/>
              <a:rect l="0" t="0" r="0" b="0"/>
              <a:pathLst>
                <a:path w="1" h="290">
                  <a:moveTo>
                    <a:pt x="0" y="29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D60093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4" name="未知"/>
            <p:cNvSpPr/>
            <p:nvPr/>
          </p:nvSpPr>
          <p:spPr>
            <a:xfrm>
              <a:off x="259" y="514"/>
              <a:ext cx="1" cy="613"/>
            </a:xfrm>
            <a:custGeom>
              <a:avLst/>
              <a:gdLst/>
              <a:ahLst/>
              <a:cxnLst/>
              <a:rect l="0" t="0" r="0" b="0"/>
              <a:pathLst>
                <a:path w="1" h="613">
                  <a:moveTo>
                    <a:pt x="0" y="0"/>
                  </a:moveTo>
                  <a:lnTo>
                    <a:pt x="0" y="613"/>
                  </a:lnTo>
                </a:path>
              </a:pathLst>
            </a:custGeom>
            <a:noFill/>
            <a:ln w="9525" cap="flat" cmpd="sng">
              <a:solidFill>
                <a:srgbClr val="D60093"/>
              </a:solidFill>
              <a:prstDash val="solid"/>
              <a:headEnd type="triangle" w="sm" len="lg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5" name="文本框 17434"/>
            <p:cNvSpPr txBox="1"/>
            <p:nvPr/>
          </p:nvSpPr>
          <p:spPr>
            <a:xfrm rot="16200000">
              <a:off x="-42" y="652"/>
              <a:ext cx="412" cy="18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zh-CN" altLang="en-US" sz="1600" b="1">
                  <a:solidFill>
                    <a:srgbClr val="D60093"/>
                  </a:solidFill>
                  <a:latin typeface="Times New Roman" panose="02020603050405020304" pitchFamily="18" charset="0"/>
                </a:rPr>
                <a:t>宽</a:t>
              </a:r>
            </a:p>
          </p:txBody>
        </p:sp>
        <p:sp>
          <p:nvSpPr>
            <p:cNvPr id="17436" name="直接连接符 17435"/>
            <p:cNvSpPr/>
            <p:nvPr/>
          </p:nvSpPr>
          <p:spPr>
            <a:xfrm>
              <a:off x="565" y="272"/>
              <a:ext cx="546" cy="0"/>
            </a:xfrm>
            <a:prstGeom prst="line">
              <a:avLst/>
            </a:prstGeom>
            <a:ln w="9525" cap="flat" cmpd="sng">
              <a:solidFill>
                <a:srgbClr val="D60093"/>
              </a:solidFill>
              <a:prstDash val="solid"/>
              <a:headEnd type="triangle" w="sm" len="lg"/>
              <a:tailEnd type="triangle" w="sm" len="lg"/>
            </a:ln>
          </p:spPr>
        </p:sp>
        <p:sp>
          <p:nvSpPr>
            <p:cNvPr id="17437" name="文本框 17436"/>
            <p:cNvSpPr txBox="1"/>
            <p:nvPr/>
          </p:nvSpPr>
          <p:spPr>
            <a:xfrm>
              <a:off x="729" y="74"/>
              <a:ext cx="342" cy="20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zh-CN" altLang="en-US" sz="1600" b="1">
                  <a:solidFill>
                    <a:srgbClr val="D60093"/>
                  </a:solidFill>
                  <a:latin typeface="Times New Roman" panose="02020603050405020304" pitchFamily="18" charset="0"/>
                </a:rPr>
                <a:t>宽</a:t>
              </a:r>
              <a:endParaRPr lang="zh-CN" altLang="en-US" b="1">
                <a:solidFill>
                  <a:srgbClr val="D60093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7438" name="组合 17437"/>
          <p:cNvGrpSpPr/>
          <p:nvPr/>
        </p:nvGrpSpPr>
        <p:grpSpPr>
          <a:xfrm>
            <a:off x="8907463" y="979488"/>
            <a:ext cx="1081087" cy="1044575"/>
            <a:chOff x="0" y="0"/>
            <a:chExt cx="576" cy="459"/>
          </a:xfrm>
        </p:grpSpPr>
        <p:sp>
          <p:nvSpPr>
            <p:cNvPr id="17439" name="未知"/>
            <p:cNvSpPr/>
            <p:nvPr/>
          </p:nvSpPr>
          <p:spPr>
            <a:xfrm>
              <a:off x="8" y="0"/>
              <a:ext cx="3" cy="454"/>
            </a:xfrm>
            <a:custGeom>
              <a:avLst/>
              <a:gdLst/>
              <a:ahLst/>
              <a:cxnLst/>
              <a:rect l="0" t="0" r="0" b="0"/>
              <a:pathLst>
                <a:path w="3" h="454">
                  <a:moveTo>
                    <a:pt x="0" y="454"/>
                  </a:moveTo>
                  <a:lnTo>
                    <a:pt x="3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0" name="直接连接符 17439"/>
            <p:cNvSpPr/>
            <p:nvPr/>
          </p:nvSpPr>
          <p:spPr>
            <a:xfrm flipV="1">
              <a:off x="558" y="299"/>
              <a:ext cx="0" cy="15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441" name="直接连接符 17440"/>
            <p:cNvSpPr/>
            <p:nvPr/>
          </p:nvSpPr>
          <p:spPr>
            <a:xfrm>
              <a:off x="10" y="307"/>
              <a:ext cx="56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442" name="未知"/>
            <p:cNvSpPr/>
            <p:nvPr/>
          </p:nvSpPr>
          <p:spPr>
            <a:xfrm>
              <a:off x="0" y="457"/>
              <a:ext cx="576" cy="2"/>
            </a:xfrm>
            <a:custGeom>
              <a:avLst/>
              <a:gdLst/>
              <a:ahLst/>
              <a:cxnLst/>
              <a:rect l="0" t="0" r="0" b="0"/>
              <a:pathLst>
                <a:path w="413" h="1">
                  <a:moveTo>
                    <a:pt x="0" y="0"/>
                  </a:moveTo>
                  <a:lnTo>
                    <a:pt x="413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3" name="直接连接符 17442"/>
            <p:cNvSpPr/>
            <p:nvPr/>
          </p:nvSpPr>
          <p:spPr>
            <a:xfrm>
              <a:off x="3" y="5"/>
              <a:ext cx="187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444" name="直接连接符 17443"/>
            <p:cNvSpPr/>
            <p:nvPr/>
          </p:nvSpPr>
          <p:spPr>
            <a:xfrm>
              <a:off x="10" y="120"/>
              <a:ext cx="187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445" name="直接连接符 17444"/>
            <p:cNvSpPr/>
            <p:nvPr/>
          </p:nvSpPr>
          <p:spPr>
            <a:xfrm>
              <a:off x="183" y="0"/>
              <a:ext cx="0" cy="30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7446" name="组合 17445"/>
          <p:cNvGrpSpPr/>
          <p:nvPr/>
        </p:nvGrpSpPr>
        <p:grpSpPr>
          <a:xfrm>
            <a:off x="6100763" y="2852738"/>
            <a:ext cx="1943100" cy="1008062"/>
            <a:chOff x="0" y="0"/>
            <a:chExt cx="1103" cy="597"/>
          </a:xfrm>
        </p:grpSpPr>
        <p:sp>
          <p:nvSpPr>
            <p:cNvPr id="17447" name="未知"/>
            <p:cNvSpPr/>
            <p:nvPr/>
          </p:nvSpPr>
          <p:spPr>
            <a:xfrm>
              <a:off x="0" y="580"/>
              <a:ext cx="1097" cy="2"/>
            </a:xfrm>
            <a:custGeom>
              <a:avLst/>
              <a:gdLst/>
              <a:ahLst/>
              <a:cxnLst/>
              <a:rect l="0" t="0" r="0" b="0"/>
              <a:pathLst>
                <a:path w="1097" h="2">
                  <a:moveTo>
                    <a:pt x="0" y="0"/>
                  </a:moveTo>
                  <a:lnTo>
                    <a:pt x="1097" y="2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8" name="未知"/>
            <p:cNvSpPr/>
            <p:nvPr/>
          </p:nvSpPr>
          <p:spPr>
            <a:xfrm>
              <a:off x="3" y="7"/>
              <a:ext cx="1100" cy="4"/>
            </a:xfrm>
            <a:custGeom>
              <a:avLst/>
              <a:gdLst/>
              <a:ahLst/>
              <a:cxnLst/>
              <a:rect l="0" t="0" r="0" b="0"/>
              <a:pathLst>
                <a:path w="789" h="3">
                  <a:moveTo>
                    <a:pt x="0" y="3"/>
                  </a:moveTo>
                  <a:lnTo>
                    <a:pt x="789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9" name="直接连接符 17448"/>
            <p:cNvSpPr/>
            <p:nvPr/>
          </p:nvSpPr>
          <p:spPr>
            <a:xfrm>
              <a:off x="425" y="181"/>
              <a:ext cx="669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450" name="未知"/>
            <p:cNvSpPr/>
            <p:nvPr/>
          </p:nvSpPr>
          <p:spPr>
            <a:xfrm>
              <a:off x="6" y="0"/>
              <a:ext cx="1" cy="597"/>
            </a:xfrm>
            <a:custGeom>
              <a:avLst/>
              <a:gdLst/>
              <a:ahLst/>
              <a:cxnLst/>
              <a:rect l="0" t="0" r="0" b="0"/>
              <a:pathLst>
                <a:path w="1" h="597">
                  <a:moveTo>
                    <a:pt x="0" y="0"/>
                  </a:moveTo>
                  <a:lnTo>
                    <a:pt x="0" y="597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51" name="未知"/>
            <p:cNvSpPr/>
            <p:nvPr/>
          </p:nvSpPr>
          <p:spPr>
            <a:xfrm>
              <a:off x="1090" y="0"/>
              <a:ext cx="1" cy="589"/>
            </a:xfrm>
            <a:custGeom>
              <a:avLst/>
              <a:gdLst/>
              <a:ahLst/>
              <a:cxnLst/>
              <a:rect l="0" t="0" r="0" b="0"/>
              <a:pathLst>
                <a:path w="1" h="589">
                  <a:moveTo>
                    <a:pt x="0" y="0"/>
                  </a:moveTo>
                  <a:lnTo>
                    <a:pt x="0" y="589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52" name="未知"/>
            <p:cNvSpPr/>
            <p:nvPr/>
          </p:nvSpPr>
          <p:spPr>
            <a:xfrm>
              <a:off x="428" y="15"/>
              <a:ext cx="1" cy="182"/>
            </a:xfrm>
            <a:custGeom>
              <a:avLst/>
              <a:gdLst/>
              <a:ahLst/>
              <a:cxnLst/>
              <a:rect l="0" t="0" r="0" b="0"/>
              <a:pathLst>
                <a:path w="1" h="182">
                  <a:moveTo>
                    <a:pt x="0" y="182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53" name="直接连接符 17452"/>
            <p:cNvSpPr/>
            <p:nvPr/>
          </p:nvSpPr>
          <p:spPr>
            <a:xfrm>
              <a:off x="655" y="7"/>
              <a:ext cx="0" cy="187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7454" name="文本框 17453"/>
          <p:cNvSpPr txBox="1"/>
          <p:nvPr/>
        </p:nvSpPr>
        <p:spPr>
          <a:xfrm>
            <a:off x="4905693" y="4251325"/>
            <a:ext cx="1836737" cy="3067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1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长对正</a:t>
            </a:r>
          </a:p>
        </p:txBody>
      </p:sp>
      <p:sp>
        <p:nvSpPr>
          <p:cNvPr id="17455" name="左右箭头 17454"/>
          <p:cNvSpPr/>
          <p:nvPr/>
        </p:nvSpPr>
        <p:spPr>
          <a:xfrm>
            <a:off x="3629660" y="4279900"/>
            <a:ext cx="1276350" cy="241300"/>
          </a:xfrm>
          <a:prstGeom prst="leftRightArrow">
            <a:avLst>
              <a:gd name="adj1" fmla="val 50000"/>
              <a:gd name="adj2" fmla="val 44297"/>
            </a:avLst>
          </a:prstGeom>
          <a:solidFill>
            <a:srgbClr val="FF3300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456" name="文本框 17455"/>
          <p:cNvSpPr txBox="1"/>
          <p:nvPr/>
        </p:nvSpPr>
        <p:spPr>
          <a:xfrm>
            <a:off x="4905693" y="4964113"/>
            <a:ext cx="1836737" cy="3067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1400" b="1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高平齐</a:t>
            </a:r>
          </a:p>
        </p:txBody>
      </p:sp>
      <p:sp>
        <p:nvSpPr>
          <p:cNvPr id="17457" name="文本框 17456"/>
          <p:cNvSpPr txBox="1"/>
          <p:nvPr/>
        </p:nvSpPr>
        <p:spPr>
          <a:xfrm>
            <a:off x="4913948" y="5674995"/>
            <a:ext cx="1792287" cy="3067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1400" b="1">
                <a:solidFill>
                  <a:srgbClr val="7021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宽相等</a:t>
            </a:r>
          </a:p>
        </p:txBody>
      </p:sp>
      <p:grpSp>
        <p:nvGrpSpPr>
          <p:cNvPr id="17458" name="组合 17457"/>
          <p:cNvGrpSpPr/>
          <p:nvPr/>
        </p:nvGrpSpPr>
        <p:grpSpPr>
          <a:xfrm>
            <a:off x="6100763" y="979488"/>
            <a:ext cx="1936750" cy="1049337"/>
            <a:chOff x="0" y="0"/>
            <a:chExt cx="1108" cy="458"/>
          </a:xfrm>
        </p:grpSpPr>
        <p:sp>
          <p:nvSpPr>
            <p:cNvPr id="17459" name="未知"/>
            <p:cNvSpPr/>
            <p:nvPr/>
          </p:nvSpPr>
          <p:spPr>
            <a:xfrm>
              <a:off x="0" y="451"/>
              <a:ext cx="1105" cy="7"/>
            </a:xfrm>
            <a:custGeom>
              <a:avLst/>
              <a:gdLst/>
              <a:ahLst/>
              <a:cxnLst/>
              <a:rect l="0" t="0" r="0" b="0"/>
              <a:pathLst>
                <a:path w="1105" h="7">
                  <a:moveTo>
                    <a:pt x="1105" y="0"/>
                  </a:moveTo>
                  <a:lnTo>
                    <a:pt x="0" y="7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60" name="未知"/>
            <p:cNvSpPr/>
            <p:nvPr/>
          </p:nvSpPr>
          <p:spPr>
            <a:xfrm>
              <a:off x="7" y="298"/>
              <a:ext cx="1" cy="160"/>
            </a:xfrm>
            <a:custGeom>
              <a:avLst/>
              <a:gdLst/>
              <a:ahLst/>
              <a:cxnLst/>
              <a:rect l="0" t="0" r="0" b="0"/>
              <a:pathLst>
                <a:path w="1" h="160">
                  <a:moveTo>
                    <a:pt x="0" y="16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61" name="直接连接符 17460"/>
            <p:cNvSpPr/>
            <p:nvPr/>
          </p:nvSpPr>
          <p:spPr>
            <a:xfrm flipV="1">
              <a:off x="1088" y="1"/>
              <a:ext cx="0" cy="45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462" name="直接连接符 17461"/>
            <p:cNvSpPr/>
            <p:nvPr/>
          </p:nvSpPr>
          <p:spPr>
            <a:xfrm flipH="1">
              <a:off x="658" y="3"/>
              <a:ext cx="45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463" name="直接连接符 17462"/>
            <p:cNvSpPr/>
            <p:nvPr/>
          </p:nvSpPr>
          <p:spPr>
            <a:xfrm flipV="1">
              <a:off x="432" y="103"/>
              <a:ext cx="0" cy="20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464" name="未知"/>
            <p:cNvSpPr/>
            <p:nvPr/>
          </p:nvSpPr>
          <p:spPr>
            <a:xfrm>
              <a:off x="429" y="0"/>
              <a:ext cx="233" cy="102"/>
            </a:xfrm>
            <a:custGeom>
              <a:avLst/>
              <a:gdLst/>
              <a:ahLst/>
              <a:cxnLst/>
              <a:rect l="0" t="0" r="0" b="0"/>
              <a:pathLst>
                <a:path w="233" h="102">
                  <a:moveTo>
                    <a:pt x="0" y="102"/>
                  </a:moveTo>
                  <a:lnTo>
                    <a:pt x="233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65" name="未知"/>
            <p:cNvSpPr/>
            <p:nvPr/>
          </p:nvSpPr>
          <p:spPr>
            <a:xfrm>
              <a:off x="5" y="304"/>
              <a:ext cx="1096" cy="1"/>
            </a:xfrm>
            <a:custGeom>
              <a:avLst/>
              <a:gdLst/>
              <a:ahLst/>
              <a:cxnLst/>
              <a:rect l="0" t="0" r="0" b="0"/>
              <a:pathLst>
                <a:path w="786" h="1">
                  <a:moveTo>
                    <a:pt x="0" y="0"/>
                  </a:moveTo>
                  <a:lnTo>
                    <a:pt x="786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7468" name="左右箭头 17467"/>
          <p:cNvSpPr/>
          <p:nvPr/>
        </p:nvSpPr>
        <p:spPr>
          <a:xfrm>
            <a:off x="3629660" y="4949825"/>
            <a:ext cx="1276350" cy="291465"/>
          </a:xfrm>
          <a:prstGeom prst="leftRightArrow">
            <a:avLst>
              <a:gd name="adj1" fmla="val 50000"/>
              <a:gd name="adj2" fmla="val 44297"/>
            </a:avLst>
          </a:prstGeom>
          <a:solidFill>
            <a:srgbClr val="009900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469" name="左右箭头 17468"/>
          <p:cNvSpPr/>
          <p:nvPr/>
        </p:nvSpPr>
        <p:spPr>
          <a:xfrm>
            <a:off x="3629660" y="5690870"/>
            <a:ext cx="1276350" cy="287020"/>
          </a:xfrm>
          <a:prstGeom prst="leftRightArrow">
            <a:avLst>
              <a:gd name="adj1" fmla="val 50000"/>
              <a:gd name="adj2" fmla="val 44297"/>
            </a:avLst>
          </a:prstGeom>
          <a:gradFill>
            <a:gsLst>
              <a:gs pos="0">
                <a:srgbClr val="7B32B2"/>
              </a:gs>
              <a:gs pos="100000">
                <a:srgbClr val="401A5D"/>
              </a:gs>
            </a:gsLst>
            <a:lin ang="5400000" scaled="0"/>
          </a:gra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470" name="文本框 17469"/>
          <p:cNvSpPr txBox="1"/>
          <p:nvPr/>
        </p:nvSpPr>
        <p:spPr>
          <a:xfrm>
            <a:off x="6459538" y="1651000"/>
            <a:ext cx="1081087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b="1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主视图</a:t>
            </a:r>
          </a:p>
        </p:txBody>
      </p:sp>
      <p:sp>
        <p:nvSpPr>
          <p:cNvPr id="17471" name="文本框 17470"/>
          <p:cNvSpPr txBox="1"/>
          <p:nvPr/>
        </p:nvSpPr>
        <p:spPr>
          <a:xfrm>
            <a:off x="6459538" y="3278188"/>
            <a:ext cx="1081087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b="1">
                <a:solidFill>
                  <a:schemeClr val="hlin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俯视图</a:t>
            </a:r>
          </a:p>
        </p:txBody>
      </p:sp>
      <p:sp>
        <p:nvSpPr>
          <p:cNvPr id="17472" name="文本框 17471"/>
          <p:cNvSpPr txBox="1"/>
          <p:nvPr/>
        </p:nvSpPr>
        <p:spPr>
          <a:xfrm>
            <a:off x="8909050" y="1665288"/>
            <a:ext cx="1042988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b="1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左视图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7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500"/>
                                        <p:tgtEl>
                                          <p:spTgt spid="17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17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75"/>
                                        <p:tgtEl>
                                          <p:spTgt spid="174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8" dur="500"/>
                                        <p:tgtEl>
                                          <p:spTgt spid="17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7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5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7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17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17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7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50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7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2" dur="500"/>
                                        <p:tgtEl>
                                          <p:spTgt spid="17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17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000"/>
                            </p:stCondLst>
                            <p:childTnLst>
                              <p:par>
                                <p:cTn id="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7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500"/>
                            </p:stCondLst>
                            <p:childTnLst>
                              <p:par>
                                <p:cTn id="9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7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0" grpId="0"/>
      <p:bldP spid="17411" grpId="0"/>
      <p:bldP spid="17412" grpId="0"/>
      <p:bldP spid="17413" grpId="0" build="p"/>
      <p:bldP spid="17417" grpId="0" bldLvl="0" animBg="1"/>
      <p:bldP spid="17418" grpId="0" bldLvl="0" animBg="1"/>
      <p:bldP spid="17454" grpId="0" bldLvl="0" animBg="1"/>
      <p:bldP spid="17456" grpId="0" bldLvl="0" animBg="1"/>
      <p:bldP spid="17457" grpId="0" bldLvl="0" animBg="1"/>
      <p:bldP spid="17470" grpId="0"/>
      <p:bldP spid="17471" grpId="0"/>
      <p:bldP spid="1747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文本框 18434"/>
          <p:cNvSpPr txBox="1"/>
          <p:nvPr/>
        </p:nvSpPr>
        <p:spPr>
          <a:xfrm>
            <a:off x="4646930" y="4009390"/>
            <a:ext cx="3329940" cy="7372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 </a:t>
            </a:r>
            <a:r>
              <a:rPr lang="zh-CN" altLang="en-US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主视图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反映：</a:t>
            </a:r>
            <a:r>
              <a:rPr lang="zh-CN" altLang="en-US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上、下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、</a:t>
            </a:r>
            <a:r>
              <a:rPr lang="zh-CN" altLang="en-US" sz="1400">
                <a:solidFill>
                  <a:srgbClr val="702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左、右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0" hangingPunct="0"/>
            <a:r>
              <a:rPr lang="zh-CN" altLang="en-US" sz="140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 </a:t>
            </a:r>
            <a:r>
              <a:rPr lang="zh-CN" altLang="en-US" sz="140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俯视图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反映：</a:t>
            </a:r>
            <a:r>
              <a:rPr lang="zh-CN" altLang="en-US" sz="1400">
                <a:solidFill>
                  <a:srgbClr val="FF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前、后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、</a:t>
            </a:r>
            <a:r>
              <a:rPr lang="zh-CN" altLang="en-US" sz="1400">
                <a:solidFill>
                  <a:srgbClr val="702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左、右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0" hangingPunct="0"/>
            <a:r>
              <a:rPr lang="zh-CN" altLang="en-US" sz="1400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 </a:t>
            </a:r>
            <a:r>
              <a:rPr lang="zh-CN" altLang="en-US" sz="1400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左视图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反映：</a:t>
            </a:r>
            <a:r>
              <a:rPr lang="zh-CN" altLang="en-US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上、下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、</a:t>
            </a:r>
            <a:r>
              <a:rPr lang="zh-CN" altLang="en-US" sz="1400">
                <a:solidFill>
                  <a:srgbClr val="FF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前、后</a:t>
            </a:r>
          </a:p>
        </p:txBody>
      </p:sp>
      <p:sp>
        <p:nvSpPr>
          <p:cNvPr id="18436" name="文本框 18435"/>
          <p:cNvSpPr txBox="1"/>
          <p:nvPr/>
        </p:nvSpPr>
        <p:spPr>
          <a:xfrm>
            <a:off x="2159318" y="629603"/>
            <a:ext cx="439737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FF3300"/>
                </a:solidFill>
                <a:latin typeface="Times New Roman" panose="02020603050405020304" pitchFamily="18" charset="0"/>
              </a:rPr>
              <a:t>上</a:t>
            </a:r>
          </a:p>
        </p:txBody>
      </p:sp>
      <p:sp>
        <p:nvSpPr>
          <p:cNvPr id="18437" name="文本框 18436"/>
          <p:cNvSpPr txBox="1"/>
          <p:nvPr/>
        </p:nvSpPr>
        <p:spPr>
          <a:xfrm>
            <a:off x="2143443" y="2118678"/>
            <a:ext cx="439737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FF3300"/>
                </a:solidFill>
                <a:latin typeface="Times New Roman" panose="02020603050405020304" pitchFamily="18" charset="0"/>
              </a:rPr>
              <a:t>下</a:t>
            </a:r>
          </a:p>
        </p:txBody>
      </p:sp>
      <p:sp>
        <p:nvSpPr>
          <p:cNvPr id="18438" name="文本框 18437"/>
          <p:cNvSpPr txBox="1"/>
          <p:nvPr/>
        </p:nvSpPr>
        <p:spPr>
          <a:xfrm>
            <a:off x="767080" y="3652203"/>
            <a:ext cx="439738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702151"/>
                </a:solidFill>
                <a:latin typeface="Times New Roman" panose="02020603050405020304" pitchFamily="18" charset="0"/>
              </a:rPr>
              <a:t>左</a:t>
            </a:r>
          </a:p>
        </p:txBody>
      </p:sp>
      <p:sp>
        <p:nvSpPr>
          <p:cNvPr id="18439" name="文本框 18438"/>
          <p:cNvSpPr txBox="1"/>
          <p:nvPr/>
        </p:nvSpPr>
        <p:spPr>
          <a:xfrm>
            <a:off x="3072130" y="3612515"/>
            <a:ext cx="439738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702151"/>
                </a:solidFill>
                <a:latin typeface="Times New Roman" panose="02020603050405020304" pitchFamily="18" charset="0"/>
              </a:rPr>
              <a:t>右</a:t>
            </a:r>
          </a:p>
        </p:txBody>
      </p:sp>
      <p:sp>
        <p:nvSpPr>
          <p:cNvPr id="18440" name="文本框 18439"/>
          <p:cNvSpPr txBox="1"/>
          <p:nvPr/>
        </p:nvSpPr>
        <p:spPr>
          <a:xfrm>
            <a:off x="2137093" y="2828290"/>
            <a:ext cx="439737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FF6666"/>
                </a:solidFill>
                <a:latin typeface="Times New Roman" panose="02020603050405020304" pitchFamily="18" charset="0"/>
              </a:rPr>
              <a:t>后</a:t>
            </a:r>
          </a:p>
        </p:txBody>
      </p:sp>
      <p:sp>
        <p:nvSpPr>
          <p:cNvPr id="18441" name="文本框 18440"/>
          <p:cNvSpPr txBox="1"/>
          <p:nvPr/>
        </p:nvSpPr>
        <p:spPr>
          <a:xfrm>
            <a:off x="2119630" y="4230053"/>
            <a:ext cx="439738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FF6666"/>
                </a:solidFill>
                <a:latin typeface="Times New Roman" panose="02020603050405020304" pitchFamily="18" charset="0"/>
              </a:rPr>
              <a:t>前</a:t>
            </a:r>
          </a:p>
        </p:txBody>
      </p:sp>
      <p:sp>
        <p:nvSpPr>
          <p:cNvPr id="18442" name="文本框 18441"/>
          <p:cNvSpPr txBox="1"/>
          <p:nvPr/>
        </p:nvSpPr>
        <p:spPr>
          <a:xfrm>
            <a:off x="4646930" y="669290"/>
            <a:ext cx="439738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FF3300"/>
                </a:solidFill>
                <a:latin typeface="Times New Roman" panose="02020603050405020304" pitchFamily="18" charset="0"/>
              </a:rPr>
              <a:t>上</a:t>
            </a:r>
          </a:p>
        </p:txBody>
      </p:sp>
      <p:sp>
        <p:nvSpPr>
          <p:cNvPr id="18443" name="文本框 18442"/>
          <p:cNvSpPr txBox="1"/>
          <p:nvPr/>
        </p:nvSpPr>
        <p:spPr>
          <a:xfrm>
            <a:off x="5520055" y="1470978"/>
            <a:ext cx="439738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FF6666"/>
                </a:solidFill>
                <a:latin typeface="Times New Roman" panose="02020603050405020304" pitchFamily="18" charset="0"/>
              </a:rPr>
              <a:t>前</a:t>
            </a:r>
          </a:p>
        </p:txBody>
      </p:sp>
      <p:sp>
        <p:nvSpPr>
          <p:cNvPr id="18444" name="文本框 18443"/>
          <p:cNvSpPr txBox="1"/>
          <p:nvPr/>
        </p:nvSpPr>
        <p:spPr>
          <a:xfrm>
            <a:off x="3902393" y="1461453"/>
            <a:ext cx="439737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FF6666"/>
                </a:solidFill>
                <a:latin typeface="Times New Roman" panose="02020603050405020304" pitchFamily="18" charset="0"/>
              </a:rPr>
              <a:t>后</a:t>
            </a:r>
          </a:p>
        </p:txBody>
      </p:sp>
      <p:sp>
        <p:nvSpPr>
          <p:cNvPr id="18445" name="文本框 18444"/>
          <p:cNvSpPr txBox="1"/>
          <p:nvPr/>
        </p:nvSpPr>
        <p:spPr>
          <a:xfrm>
            <a:off x="767080" y="1534478"/>
            <a:ext cx="560388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702151"/>
                </a:solidFill>
                <a:latin typeface="Times New Roman" panose="02020603050405020304" pitchFamily="18" charset="0"/>
              </a:rPr>
              <a:t>左</a:t>
            </a:r>
          </a:p>
        </p:txBody>
      </p:sp>
      <p:sp>
        <p:nvSpPr>
          <p:cNvPr id="18446" name="文本框 18445"/>
          <p:cNvSpPr txBox="1"/>
          <p:nvPr/>
        </p:nvSpPr>
        <p:spPr>
          <a:xfrm>
            <a:off x="3070543" y="1509078"/>
            <a:ext cx="439737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702151"/>
                </a:solidFill>
                <a:latin typeface="Times New Roman" panose="02020603050405020304" pitchFamily="18" charset="0"/>
              </a:rPr>
              <a:t>右</a:t>
            </a:r>
          </a:p>
        </p:txBody>
      </p:sp>
      <p:sp>
        <p:nvSpPr>
          <p:cNvPr id="18447" name="文本框 18446"/>
          <p:cNvSpPr txBox="1"/>
          <p:nvPr/>
        </p:nvSpPr>
        <p:spPr>
          <a:xfrm>
            <a:off x="4632643" y="2134553"/>
            <a:ext cx="66992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FF3300"/>
                </a:solidFill>
                <a:latin typeface="Times New Roman" panose="02020603050405020304" pitchFamily="18" charset="0"/>
              </a:rPr>
              <a:t>下</a:t>
            </a:r>
          </a:p>
        </p:txBody>
      </p:sp>
      <p:grpSp>
        <p:nvGrpSpPr>
          <p:cNvPr id="18448" name="组合 18447"/>
          <p:cNvGrpSpPr/>
          <p:nvPr/>
        </p:nvGrpSpPr>
        <p:grpSpPr>
          <a:xfrm>
            <a:off x="1281430" y="1029653"/>
            <a:ext cx="4165600" cy="3203575"/>
            <a:chOff x="0" y="0"/>
            <a:chExt cx="2307" cy="1519"/>
          </a:xfrm>
        </p:grpSpPr>
        <p:sp>
          <p:nvSpPr>
            <p:cNvPr id="18449" name="未知"/>
            <p:cNvSpPr/>
            <p:nvPr/>
          </p:nvSpPr>
          <p:spPr>
            <a:xfrm>
              <a:off x="1" y="344"/>
              <a:ext cx="1" cy="174"/>
            </a:xfrm>
            <a:custGeom>
              <a:avLst/>
              <a:gdLst/>
              <a:ahLst/>
              <a:cxnLst/>
              <a:rect l="0" t="0" r="0" b="0"/>
              <a:pathLst>
                <a:path w="1" h="102">
                  <a:moveTo>
                    <a:pt x="1" y="102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0" name="直接连接符 18449"/>
            <p:cNvSpPr/>
            <p:nvPr/>
          </p:nvSpPr>
          <p:spPr>
            <a:xfrm>
              <a:off x="1927" y="0"/>
              <a:ext cx="0" cy="34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18451" name="组合 18450"/>
            <p:cNvGrpSpPr/>
            <p:nvPr/>
          </p:nvGrpSpPr>
          <p:grpSpPr>
            <a:xfrm>
              <a:off x="0" y="0"/>
              <a:ext cx="2307" cy="1519"/>
              <a:chOff x="0" y="0"/>
              <a:chExt cx="2307" cy="1519"/>
            </a:xfrm>
          </p:grpSpPr>
          <p:sp>
            <p:nvSpPr>
              <p:cNvPr id="18452" name="未知"/>
              <p:cNvSpPr/>
              <p:nvPr/>
            </p:nvSpPr>
            <p:spPr>
              <a:xfrm>
                <a:off x="0" y="510"/>
                <a:ext cx="998" cy="9"/>
              </a:xfrm>
              <a:custGeom>
                <a:avLst/>
                <a:gdLst/>
                <a:ahLst/>
                <a:cxnLst/>
                <a:rect l="0" t="0" r="0" b="0"/>
                <a:pathLst>
                  <a:path w="794" h="5">
                    <a:moveTo>
                      <a:pt x="794" y="5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53" name="直接连接符 18452"/>
              <p:cNvSpPr/>
              <p:nvPr/>
            </p:nvSpPr>
            <p:spPr>
              <a:xfrm flipV="1">
                <a:off x="983" y="0"/>
                <a:ext cx="0" cy="521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8454" name="直接连接符 18453"/>
              <p:cNvSpPr/>
              <p:nvPr/>
            </p:nvSpPr>
            <p:spPr>
              <a:xfrm flipV="1">
                <a:off x="390" y="124"/>
                <a:ext cx="0" cy="236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8455" name="未知"/>
              <p:cNvSpPr/>
              <p:nvPr/>
            </p:nvSpPr>
            <p:spPr>
              <a:xfrm>
                <a:off x="387" y="5"/>
                <a:ext cx="196" cy="124"/>
              </a:xfrm>
              <a:custGeom>
                <a:avLst/>
                <a:gdLst/>
                <a:ahLst/>
                <a:cxnLst/>
                <a:rect l="0" t="0" r="0" b="0"/>
                <a:pathLst>
                  <a:path w="178" h="82">
                    <a:moveTo>
                      <a:pt x="0" y="82"/>
                    </a:moveTo>
                    <a:lnTo>
                      <a:pt x="178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56" name="未知"/>
              <p:cNvSpPr/>
              <p:nvPr/>
            </p:nvSpPr>
            <p:spPr>
              <a:xfrm>
                <a:off x="0" y="354"/>
                <a:ext cx="988" cy="3"/>
              </a:xfrm>
              <a:custGeom>
                <a:avLst/>
                <a:gdLst/>
                <a:ahLst/>
                <a:cxnLst/>
                <a:rect l="0" t="0" r="0" b="0"/>
                <a:pathLst>
                  <a:path w="786" h="1">
                    <a:moveTo>
                      <a:pt x="0" y="0"/>
                    </a:moveTo>
                    <a:lnTo>
                      <a:pt x="786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57" name="直接连接符 18456"/>
              <p:cNvSpPr/>
              <p:nvPr/>
            </p:nvSpPr>
            <p:spPr>
              <a:xfrm flipV="1">
                <a:off x="2294" y="335"/>
                <a:ext cx="0" cy="181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8458" name="未知"/>
              <p:cNvSpPr/>
              <p:nvPr/>
            </p:nvSpPr>
            <p:spPr>
              <a:xfrm>
                <a:off x="1749" y="5"/>
                <a:ext cx="3" cy="521"/>
              </a:xfrm>
              <a:custGeom>
                <a:avLst/>
                <a:gdLst/>
                <a:ahLst/>
                <a:cxnLst/>
                <a:rect l="0" t="0" r="0" b="0"/>
                <a:pathLst>
                  <a:path w="3" h="307">
                    <a:moveTo>
                      <a:pt x="0" y="307"/>
                    </a:moveTo>
                    <a:lnTo>
                      <a:pt x="3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59" name="直接连接符 18458"/>
              <p:cNvSpPr/>
              <p:nvPr/>
            </p:nvSpPr>
            <p:spPr>
              <a:xfrm>
                <a:off x="1749" y="348"/>
                <a:ext cx="550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8460" name="未知"/>
              <p:cNvSpPr/>
              <p:nvPr/>
            </p:nvSpPr>
            <p:spPr>
              <a:xfrm>
                <a:off x="1755" y="511"/>
                <a:ext cx="552" cy="5"/>
              </a:xfrm>
              <a:custGeom>
                <a:avLst/>
                <a:gdLst/>
                <a:ahLst/>
                <a:cxnLst/>
                <a:rect l="0" t="0" r="0" b="0"/>
                <a:pathLst>
                  <a:path w="462" h="3">
                    <a:moveTo>
                      <a:pt x="0" y="3"/>
                    </a:moveTo>
                    <a:lnTo>
                      <a:pt x="462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61" name="直接连接符 18460"/>
              <p:cNvSpPr/>
              <p:nvPr/>
            </p:nvSpPr>
            <p:spPr>
              <a:xfrm>
                <a:off x="1749" y="14"/>
                <a:ext cx="183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8462" name="直接连接符 18461"/>
              <p:cNvSpPr/>
              <p:nvPr/>
            </p:nvSpPr>
            <p:spPr>
              <a:xfrm>
                <a:off x="1749" y="136"/>
                <a:ext cx="183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8463" name="未知"/>
              <p:cNvSpPr/>
              <p:nvPr/>
            </p:nvSpPr>
            <p:spPr>
              <a:xfrm>
                <a:off x="5" y="1507"/>
                <a:ext cx="987" cy="3"/>
              </a:xfrm>
              <a:custGeom>
                <a:avLst/>
                <a:gdLst/>
                <a:ahLst/>
                <a:cxnLst/>
                <a:rect l="0" t="0" r="0" b="0"/>
                <a:pathLst>
                  <a:path w="897" h="3">
                    <a:moveTo>
                      <a:pt x="0" y="0"/>
                    </a:moveTo>
                    <a:lnTo>
                      <a:pt x="897" y="3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64" name="未知"/>
              <p:cNvSpPr/>
              <p:nvPr/>
            </p:nvSpPr>
            <p:spPr>
              <a:xfrm>
                <a:off x="7" y="1020"/>
                <a:ext cx="991" cy="3"/>
              </a:xfrm>
              <a:custGeom>
                <a:avLst/>
                <a:gdLst/>
                <a:ahLst/>
                <a:cxnLst/>
                <a:rect l="0" t="0" r="0" b="0"/>
                <a:pathLst>
                  <a:path w="789" h="3">
                    <a:moveTo>
                      <a:pt x="0" y="3"/>
                    </a:moveTo>
                    <a:lnTo>
                      <a:pt x="789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65" name="直接连接符 18464"/>
              <p:cNvSpPr/>
              <p:nvPr/>
            </p:nvSpPr>
            <p:spPr>
              <a:xfrm>
                <a:off x="388" y="1167"/>
                <a:ext cx="60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8466" name="直接连接符 18465"/>
              <p:cNvSpPr/>
              <p:nvPr/>
            </p:nvSpPr>
            <p:spPr>
              <a:xfrm>
                <a:off x="12" y="1020"/>
                <a:ext cx="0" cy="499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8467" name="未知"/>
              <p:cNvSpPr/>
              <p:nvPr/>
            </p:nvSpPr>
            <p:spPr>
              <a:xfrm>
                <a:off x="989" y="1021"/>
                <a:ext cx="1" cy="495"/>
              </a:xfrm>
              <a:custGeom>
                <a:avLst/>
                <a:gdLst/>
                <a:ahLst/>
                <a:cxnLst/>
                <a:rect l="0" t="0" r="0" b="0"/>
                <a:pathLst>
                  <a:path w="1" h="389">
                    <a:moveTo>
                      <a:pt x="0" y="0"/>
                    </a:moveTo>
                    <a:lnTo>
                      <a:pt x="0" y="389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68" name="未知"/>
              <p:cNvSpPr/>
              <p:nvPr/>
            </p:nvSpPr>
            <p:spPr>
              <a:xfrm>
                <a:off x="391" y="1025"/>
                <a:ext cx="2" cy="149"/>
              </a:xfrm>
              <a:custGeom>
                <a:avLst/>
                <a:gdLst/>
                <a:ahLst/>
                <a:cxnLst/>
                <a:rect l="0" t="0" r="0" b="0"/>
                <a:pathLst>
                  <a:path w="1" h="132">
                    <a:moveTo>
                      <a:pt x="0" y="132"/>
                    </a:moveTo>
                    <a:lnTo>
                      <a:pt x="1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69" name="直接连接符 18468"/>
              <p:cNvSpPr/>
              <p:nvPr/>
            </p:nvSpPr>
            <p:spPr>
              <a:xfrm>
                <a:off x="603" y="1022"/>
                <a:ext cx="0" cy="146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8470" name="直接连接符 18469"/>
              <p:cNvSpPr/>
              <p:nvPr/>
            </p:nvSpPr>
            <p:spPr>
              <a:xfrm>
                <a:off x="583" y="4"/>
                <a:ext cx="408" cy="0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pic>
        <p:nvPicPr>
          <p:cNvPr id="18471" name="图片 18470"/>
          <p:cNvPicPr>
            <a:picLocks noChangeAspect="1"/>
          </p:cNvPicPr>
          <p:nvPr/>
        </p:nvPicPr>
        <p:blipFill>
          <a:blip r:embed="rId2"/>
          <a:srcRect l="30061" t="28342" r="30811" b="22440"/>
          <a:stretch>
            <a:fillRect/>
          </a:stretch>
        </p:blipFill>
        <p:spPr>
          <a:xfrm>
            <a:off x="8281035" y="2683193"/>
            <a:ext cx="2735263" cy="25812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8472" name="文本框 18471"/>
          <p:cNvSpPr txBox="1"/>
          <p:nvPr/>
        </p:nvSpPr>
        <p:spPr>
          <a:xfrm>
            <a:off x="8144510" y="4589780"/>
            <a:ext cx="560388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702151"/>
                </a:solidFill>
                <a:latin typeface="Times New Roman" panose="02020603050405020304" pitchFamily="18" charset="0"/>
              </a:rPr>
              <a:t>左</a:t>
            </a:r>
          </a:p>
        </p:txBody>
      </p:sp>
      <p:sp>
        <p:nvSpPr>
          <p:cNvPr id="18473" name="文本框 18472"/>
          <p:cNvSpPr txBox="1"/>
          <p:nvPr/>
        </p:nvSpPr>
        <p:spPr>
          <a:xfrm>
            <a:off x="10354310" y="3315018"/>
            <a:ext cx="439738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702151"/>
                </a:solidFill>
                <a:latin typeface="Times New Roman" panose="02020603050405020304" pitchFamily="18" charset="0"/>
              </a:rPr>
              <a:t>右</a:t>
            </a:r>
          </a:p>
        </p:txBody>
      </p:sp>
      <p:sp>
        <p:nvSpPr>
          <p:cNvPr id="18474" name="文本框 18473"/>
          <p:cNvSpPr txBox="1"/>
          <p:nvPr/>
        </p:nvSpPr>
        <p:spPr>
          <a:xfrm>
            <a:off x="9576435" y="2472055"/>
            <a:ext cx="439738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</a:rPr>
              <a:t>上</a:t>
            </a:r>
          </a:p>
        </p:txBody>
      </p:sp>
      <p:sp>
        <p:nvSpPr>
          <p:cNvPr id="18475" name="文本框 18474"/>
          <p:cNvSpPr txBox="1"/>
          <p:nvPr/>
        </p:nvSpPr>
        <p:spPr>
          <a:xfrm>
            <a:off x="9865360" y="4899343"/>
            <a:ext cx="66992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</a:rPr>
              <a:t>下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713865" y="2444115"/>
            <a:ext cx="10909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主视图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681480" y="4545330"/>
            <a:ext cx="18288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俯视图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358005" y="2452370"/>
            <a:ext cx="9467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左视图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0016490" y="3926205"/>
            <a:ext cx="436880" cy="39878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zh-CN" sz="2000" b="1">
                <a:solidFill>
                  <a:srgbClr val="FF6666"/>
                </a:solidFill>
                <a:latin typeface="Times New Roman" panose="02020603050405020304" pitchFamily="18" charset="0"/>
              </a:rPr>
              <a:t>前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8625840" y="3315335"/>
            <a:ext cx="436880" cy="39878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FF6666"/>
                </a:solidFill>
                <a:latin typeface="Times New Roman" panose="02020603050405020304" pitchFamily="18" charset="0"/>
              </a:rPr>
              <a:t>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75"/>
                                        <p:tgtEl>
                                          <p:spTgt spid="18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75"/>
                                        <p:tgtEl>
                                          <p:spTgt spid="184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75"/>
                                        <p:tgtEl>
                                          <p:spTgt spid="184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75"/>
                                        <p:tgtEl>
                                          <p:spTgt spid="184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75"/>
                                        <p:tgtEl>
                                          <p:spTgt spid="184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75"/>
                                        <p:tgtEl>
                                          <p:spTgt spid="184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75"/>
                                        <p:tgtEl>
                                          <p:spTgt spid="184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75"/>
                                        <p:tgtEl>
                                          <p:spTgt spid="184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75"/>
                                        <p:tgtEl>
                                          <p:spTgt spid="184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75"/>
                                        <p:tgtEl>
                                          <p:spTgt spid="184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75"/>
                                        <p:tgtEl>
                                          <p:spTgt spid="184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75"/>
                                        <p:tgtEl>
                                          <p:spTgt spid="18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75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75"/>
                                        <p:tgtEl>
                                          <p:spTgt spid="184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75"/>
                                        <p:tgtEl>
                                          <p:spTgt spid="184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75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8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8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/>
      <p:bldP spid="18436" grpId="0" build="p"/>
      <p:bldP spid="18437" grpId="0" build="p"/>
      <p:bldP spid="18438" grpId="0" build="p"/>
      <p:bldP spid="18439" grpId="0" build="p"/>
      <p:bldP spid="18440" grpId="0" build="p"/>
      <p:bldP spid="18441" grpId="0" build="p"/>
      <p:bldP spid="18442" grpId="0" build="p"/>
      <p:bldP spid="18443" grpId="0" build="p"/>
      <p:bldP spid="18444" grpId="0" build="p"/>
      <p:bldP spid="18445" grpId="0" build="p"/>
      <p:bldP spid="18446" grpId="0" build="p"/>
      <p:bldP spid="18447" grpId="0"/>
      <p:bldP spid="18472" grpId="0" build="p"/>
      <p:bldP spid="18473" grpId="0" build="p"/>
      <p:bldP spid="18474" grpId="0" build="p"/>
      <p:bldP spid="18475" grpId="0"/>
      <p:bldP spid="2" grpId="0"/>
      <p:bldP spid="3" grpId="0"/>
      <p:bldP spid="4" grpId="0"/>
      <p:bldP spid="5" grpId="0" build="p"/>
      <p:bldP spid="6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285615" y="5379720"/>
            <a:ext cx="256413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1400" dirty="0">
                <a:effectLst>
                  <a:outerShdw blurRad="38100" dist="38100" dir="2700000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从</a:t>
            </a:r>
            <a:r>
              <a:rPr lang="en-US" altLang="zh-CN" sz="1400">
                <a:effectLst>
                  <a:outerShdw blurRad="38100" dist="38100" dir="2700000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O</a:t>
            </a:r>
            <a:r>
              <a:rPr lang="zh-CN" altLang="en-US" sz="1400" dirty="0">
                <a:effectLst>
                  <a:outerShdw blurRad="38100" dist="38100" dir="2700000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点作一条向右下斜的</a:t>
            </a:r>
            <a:r>
              <a:rPr lang="en-US" altLang="zh-CN" sz="1400">
                <a:effectLst>
                  <a:outerShdw blurRad="38100" dist="38100" dir="2700000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45°</a:t>
            </a:r>
            <a:r>
              <a:rPr lang="zh-CN" altLang="en-US" sz="1400" dirty="0">
                <a:effectLst>
                  <a:outerShdw blurRad="38100" dist="38100" dir="2700000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线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326120" y="5192395"/>
            <a:ext cx="3114040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400" dirty="0">
                <a:effectLst>
                  <a:outerShdw blurRad="38100" dist="38100" dir="2700000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根据</a:t>
            </a:r>
            <a:r>
              <a:rPr lang="zh-CN" altLang="en-US" sz="14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“三等”关系</a:t>
            </a:r>
            <a:r>
              <a:rPr lang="zh-CN" altLang="en-US" sz="1400" dirty="0">
                <a:effectLst>
                  <a:outerShdw blurRad="38100" dist="38100" dir="2700000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：主视图和俯视图的各个相应部分用铅垂线对正</a:t>
            </a:r>
            <a:r>
              <a:rPr lang="en-US" altLang="zh-CN" sz="1400">
                <a:effectLst>
                  <a:outerShdw blurRad="38100" dist="38100" dir="2700000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</a:t>
            </a:r>
            <a:r>
              <a:rPr lang="zh-CN" altLang="en-US" sz="1400" dirty="0">
                <a:effectLst>
                  <a:outerShdw blurRad="38100" dist="38100" dir="2700000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等长</a:t>
            </a:r>
            <a:r>
              <a:rPr lang="en-US" altLang="zh-CN" sz="1400">
                <a:effectLst>
                  <a:outerShdw blurRad="38100" dist="38100" dir="2700000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)</a:t>
            </a:r>
            <a:r>
              <a:rPr lang="zh-CN" altLang="en-US" sz="1400" dirty="0">
                <a:effectLst>
                  <a:outerShdw blurRad="38100" dist="38100" dir="2700000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；主视图和左视图的各个相应部分用水平线拉齐</a:t>
            </a:r>
            <a:r>
              <a:rPr lang="en-US" altLang="zh-CN" sz="1400">
                <a:effectLst>
                  <a:outerShdw blurRad="38100" dist="38100" dir="2700000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</a:t>
            </a:r>
            <a:r>
              <a:rPr lang="zh-CN" altLang="en-US" sz="1400" dirty="0">
                <a:effectLst>
                  <a:outerShdw blurRad="38100" dist="38100" dir="2700000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等高</a:t>
            </a:r>
            <a:r>
              <a:rPr lang="en-US" altLang="zh-CN" sz="1400">
                <a:effectLst>
                  <a:outerShdw blurRad="38100" dist="38100" dir="2700000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)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975485" y="4722495"/>
            <a:ext cx="76644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5702935" y="4722495"/>
            <a:ext cx="7861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9066530" y="4706620"/>
            <a:ext cx="75501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</a:p>
        </p:txBody>
      </p:sp>
      <p:graphicFrame>
        <p:nvGraphicFramePr>
          <p:cNvPr id="12" name="对象 11"/>
          <p:cNvGraphicFramePr/>
          <p:nvPr/>
        </p:nvGraphicFramePr>
        <p:xfrm>
          <a:off x="1011555" y="1750060"/>
          <a:ext cx="9751060" cy="29724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457950" imgH="2009775" progId="Paint.Picture">
                  <p:embed/>
                </p:oleObj>
              </mc:Choice>
              <mc:Fallback>
                <p:oleObj r:id="rId2" imgW="6457950" imgH="2009775" progId="Paint.Picture">
                  <p:embed/>
                  <p:pic>
                    <p:nvPicPr>
                      <p:cNvPr id="0" name="图片 1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11555" y="1750060"/>
                        <a:ext cx="9751060" cy="29724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1156335" y="845820"/>
            <a:ext cx="61436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补全以下图（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）中的三视图。</a:t>
            </a:r>
          </a:p>
        </p:txBody>
      </p:sp>
      <p:sp>
        <p:nvSpPr>
          <p:cNvPr id="15" name="矩形 14"/>
          <p:cNvSpPr/>
          <p:nvPr/>
        </p:nvSpPr>
        <p:spPr>
          <a:xfrm>
            <a:off x="4458970" y="1759585"/>
            <a:ext cx="3176270" cy="34334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7635240" y="1641475"/>
            <a:ext cx="3176270" cy="34334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5" grpId="0" animBg="1"/>
      <p:bldP spid="1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078663" y="2576453"/>
            <a:ext cx="2129155" cy="64516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n-US" altLang="zh-CN" sz="3600" b="1" i="1" dirty="0">
                <a:solidFill>
                  <a:srgbClr val="FF6666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</a:rPr>
              <a:t> </a:t>
            </a:r>
            <a:r>
              <a:rPr lang="zh-CN" altLang="en-US" sz="3600" b="1" i="1" dirty="0">
                <a:solidFill>
                  <a:srgbClr val="0066CC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rPr>
              <a:t>点的投影</a:t>
            </a:r>
            <a:endParaRPr lang="zh-CN" altLang="en-US" sz="3600" b="1" i="1" dirty="0">
              <a:solidFill>
                <a:srgbClr val="0066CC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43607" y="205040"/>
            <a:ext cx="3088640" cy="644715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en-US" altLang="zh-CN" sz="41300" dirty="0">
                <a:solidFill>
                  <a:srgbClr val="0066CC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3</a:t>
            </a:r>
            <a:endParaRPr lang="zh-CN" altLang="en-US" sz="4800" dirty="0">
              <a:solidFill>
                <a:srgbClr val="0066CC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079122" y="3904099"/>
            <a:ext cx="3688080" cy="10147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algn="l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2000">
                <a:sym typeface="+mn-ea"/>
              </a:rPr>
              <a:t>点在三投影面体系中的投影</a:t>
            </a:r>
          </a:p>
          <a:p>
            <a:pPr marL="457200" indent="-457200" algn="l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2000">
                <a:sym typeface="+mn-ea"/>
              </a:rPr>
              <a:t>两点的相对位置和重影点</a:t>
            </a:r>
          </a:p>
        </p:txBody>
      </p:sp>
      <p:sp>
        <p:nvSpPr>
          <p:cNvPr id="5" name="矩形 4"/>
          <p:cNvSpPr/>
          <p:nvPr/>
        </p:nvSpPr>
        <p:spPr>
          <a:xfrm>
            <a:off x="3385562" y="189165"/>
            <a:ext cx="3088640" cy="644715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en-US" sz="41300" dirty="0">
                <a:solidFill>
                  <a:srgbClr val="0066CC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3</a:t>
            </a:r>
            <a:endParaRPr lang="en-US" sz="4800" dirty="0">
              <a:solidFill>
                <a:srgbClr val="0066CC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454652" y="205675"/>
            <a:ext cx="1635760" cy="644715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en-US" sz="41300" dirty="0">
                <a:solidFill>
                  <a:srgbClr val="0066CC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.</a:t>
            </a:r>
            <a:endParaRPr lang="en-US" sz="4800" dirty="0">
              <a:solidFill>
                <a:srgbClr val="0066CC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矩形 155649"/>
          <p:cNvSpPr/>
          <p:nvPr/>
        </p:nvSpPr>
        <p:spPr>
          <a:xfrm>
            <a:off x="571500" y="1701800"/>
            <a:ext cx="10566400" cy="4032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32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>
              <a:lnSpc>
                <a:spcPct val="170000"/>
              </a:lnSpc>
              <a:spcBef>
                <a:spcPct val="30000"/>
              </a:spcBef>
              <a:buFont typeface="Wingdings" panose="05000000000000000000" charset="0"/>
              <a:buChar char="Ø"/>
            </a:pPr>
            <a:r>
              <a:rPr lang="zh-CN" altLang="en-US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一般规定</a:t>
            </a:r>
            <a:r>
              <a:rPr lang="zh-CN" altLang="en-US" sz="14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空间物体上的点</a:t>
            </a:r>
            <a:r>
              <a:rPr lang="zh-CN" altLang="en-US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</a:t>
            </a:r>
            <a:r>
              <a:rPr lang="zh-CN" altLang="en-US" sz="14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大写的字母或罗马数字</a:t>
            </a:r>
            <a:r>
              <a:rPr lang="en-US" altLang="zh-CN" sz="14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lang="zh-CN" altLang="en-US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4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</a:t>
            </a:r>
            <a:r>
              <a:rPr lang="zh-CN" altLang="en-US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4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</a:t>
            </a:r>
            <a:r>
              <a:rPr lang="zh-CN" altLang="en-US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4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D…</a:t>
            </a:r>
            <a:r>
              <a:rPr lang="zh-CN" altLang="en-US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14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Ⅰ</a:t>
            </a:r>
            <a:r>
              <a:rPr lang="zh-CN" altLang="en-US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4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Ⅱ</a:t>
            </a:r>
            <a:r>
              <a:rPr lang="zh-CN" altLang="en-US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4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Ⅲ</a:t>
            </a:r>
            <a:r>
              <a:rPr lang="zh-CN" altLang="en-US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4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Ⅳ…</a:t>
            </a:r>
            <a:r>
              <a:rPr lang="zh-CN" altLang="en-US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表示，</a:t>
            </a:r>
            <a:r>
              <a:rPr lang="zh-CN" altLang="en-US" sz="14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面</a:t>
            </a:r>
            <a:r>
              <a:rPr lang="zh-CN" altLang="en-US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</a:t>
            </a:r>
            <a:r>
              <a:rPr lang="en-US" altLang="zh-CN" sz="14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</a:t>
            </a:r>
            <a:r>
              <a:rPr lang="zh-CN" altLang="en-US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4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</a:t>
            </a:r>
            <a:r>
              <a:rPr lang="zh-CN" altLang="en-US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4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R…</a:t>
            </a:r>
            <a:r>
              <a:rPr lang="zh-CN" altLang="en-US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表示。 </a:t>
            </a:r>
          </a:p>
          <a:p>
            <a:pPr lvl="0">
              <a:lnSpc>
                <a:spcPct val="170000"/>
              </a:lnSpc>
              <a:spcBef>
                <a:spcPct val="30000"/>
              </a:spcBef>
              <a:buFont typeface="Wingdings" panose="05000000000000000000" charset="0"/>
              <a:buChar char="Ø"/>
            </a:pPr>
            <a:r>
              <a:rPr lang="zh-CN" altLang="en-US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点或面的</a:t>
            </a:r>
            <a:r>
              <a:rPr lang="zh-CN" altLang="en-US" sz="1400" dirty="0">
                <a:solidFill>
                  <a:srgbClr val="FF33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投影</a:t>
            </a:r>
            <a:r>
              <a:rPr lang="zh-CN" altLang="en-US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用相应的</a:t>
            </a:r>
            <a:r>
              <a:rPr lang="zh-CN" altLang="en-US" sz="1400" dirty="0">
                <a:solidFill>
                  <a:srgbClr val="FF33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小写字母</a:t>
            </a:r>
            <a:r>
              <a:rPr lang="zh-CN" altLang="en-US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表示。 </a:t>
            </a:r>
            <a:r>
              <a:rPr lang="zh-CN" altLang="en-US" sz="14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H面</a:t>
            </a:r>
            <a:r>
              <a:rPr lang="zh-CN" altLang="en-US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投影用相应的小写字母表示，比如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</a:t>
            </a:r>
            <a:r>
              <a:rPr lang="zh-CN" altLang="en-US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lang="zh-CN" altLang="en-US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    ……；</a:t>
            </a:r>
            <a:r>
              <a:rPr lang="zh-CN" altLang="en-US" sz="14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V面</a:t>
            </a:r>
            <a:r>
              <a:rPr lang="zh-CN" altLang="en-US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投影用相应的小写字母加一撇表示，比如      、   、     ……；</a:t>
            </a:r>
            <a:r>
              <a:rPr lang="zh-CN" altLang="en-US" sz="14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W面</a:t>
            </a:r>
            <a:r>
              <a:rPr lang="zh-CN" altLang="en-US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投影用相应的小写字母加两撇表示，比如      、   、    ……。</a:t>
            </a:r>
          </a:p>
          <a:p>
            <a:pPr lvl="0">
              <a:lnSpc>
                <a:spcPct val="170000"/>
              </a:lnSpc>
              <a:spcBef>
                <a:spcPct val="30000"/>
              </a:spcBef>
              <a:buFont typeface="Wingdings" panose="05000000000000000000" charset="0"/>
              <a:buChar char="Ø"/>
            </a:pPr>
            <a:r>
              <a:rPr lang="zh-CN" altLang="en-US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直线不另注符号，</a:t>
            </a:r>
            <a:r>
              <a:rPr lang="zh-CN" altLang="en-US" sz="14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用直线两端点的符号表示</a:t>
            </a:r>
            <a:r>
              <a:rPr lang="zh-CN" altLang="en-US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，如</a:t>
            </a:r>
            <a:r>
              <a:rPr lang="en-US" altLang="zh-CN" sz="14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AB</a:t>
            </a:r>
            <a:r>
              <a:rPr lang="zh-CN" altLang="en-US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直线的</a:t>
            </a:r>
            <a:r>
              <a:rPr lang="zh-CN" altLang="en-US" sz="14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正面投影是</a:t>
            </a:r>
            <a:r>
              <a:rPr lang="en-US" altLang="zh-CN" sz="1400" err="1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</a:t>
            </a:r>
            <a:r>
              <a:rPr lang="zh-CN" altLang="en-US" sz="14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14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71500" y="1127760"/>
            <a:ext cx="107930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为了作图准确和便于校核，作图时可把所画物体上的</a:t>
            </a:r>
            <a:r>
              <a:rPr lang="zh-CN" altLang="en-US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点、线、面</a:t>
            </a:r>
            <a:r>
              <a:rPr lang="zh-CN" altLang="en-US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用符号来标注。 </a:t>
            </a:r>
            <a:endParaRPr lang="zh-CN" altLang="en-US"/>
          </a:p>
        </p:txBody>
      </p:sp>
      <p:graphicFrame>
        <p:nvGraphicFramePr>
          <p:cNvPr id="4" name="对象 3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7575550" y="2642870"/>
          <a:ext cx="262890" cy="265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77165" imgH="177165" progId="Equation.KSEE3">
                  <p:embed/>
                </p:oleObj>
              </mc:Choice>
              <mc:Fallback>
                <p:oleObj r:id="rId2" imgW="177165" imgH="177165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575550" y="2642870"/>
                        <a:ext cx="262890" cy="2654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390640" y="3064510"/>
          <a:ext cx="379095" cy="2520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66700" imgH="177165" progId="Equation.KSEE3">
                  <p:embed/>
                </p:oleObj>
              </mc:Choice>
              <mc:Fallback>
                <p:oleObj r:id="rId4" imgW="266700" imgH="177165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390640" y="3064510"/>
                        <a:ext cx="379095" cy="2520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879090" y="2635885"/>
          <a:ext cx="245745" cy="2876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52400" imgH="177165" progId="Equation.KSEE3">
                  <p:embed/>
                </p:oleObj>
              </mc:Choice>
              <mc:Fallback>
                <p:oleObj r:id="rId6" imgW="152400" imgH="177165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879090" y="2635885"/>
                        <a:ext cx="245745" cy="2876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7092315" y="2334260"/>
          <a:ext cx="178435" cy="197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27000" imgH="139700" progId="Equation.KSEE3">
                  <p:embed/>
                </p:oleObj>
              </mc:Choice>
              <mc:Fallback>
                <p:oleObj r:id="rId8" imgW="127000" imgH="1397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092315" y="2334260"/>
                        <a:ext cx="178435" cy="1974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7450455" y="2291715"/>
          <a:ext cx="178435" cy="250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27000" imgH="177165" progId="Equation.KSEE3">
                  <p:embed/>
                </p:oleObj>
              </mc:Choice>
              <mc:Fallback>
                <p:oleObj r:id="rId10" imgW="127000" imgH="177165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450455" y="2291715"/>
                        <a:ext cx="178435" cy="250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7807960" y="2329815"/>
          <a:ext cx="158115" cy="1943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14300" imgH="139700" progId="Equation.KSEE3">
                  <p:embed/>
                </p:oleObj>
              </mc:Choice>
              <mc:Fallback>
                <p:oleObj r:id="rId12" imgW="114300" imgH="1397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807960" y="2329815"/>
                        <a:ext cx="158115" cy="1943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7206615" y="2626995"/>
          <a:ext cx="274320" cy="2755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177165" imgH="177165" progId="Equation.KSEE3">
                  <p:embed/>
                </p:oleObj>
              </mc:Choice>
              <mc:Fallback>
                <p:oleObj r:id="rId14" imgW="177165" imgH="177165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7206615" y="2626995"/>
                        <a:ext cx="274320" cy="2755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7955915" y="2613660"/>
          <a:ext cx="267335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165100" imgH="177165" progId="Equation.KSEE3">
                  <p:embed/>
                </p:oleObj>
              </mc:Choice>
              <mc:Fallback>
                <p:oleObj r:id="rId16" imgW="165100" imgH="177165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7955915" y="2613660"/>
                        <a:ext cx="267335" cy="288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553970" y="2656205"/>
          <a:ext cx="211455" cy="246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152400" imgH="177165" progId="Equation.KSEE3">
                  <p:embed/>
                </p:oleObj>
              </mc:Choice>
              <mc:Fallback>
                <p:oleObj r:id="rId18" imgW="152400" imgH="177165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553970" y="2656205"/>
                        <a:ext cx="211455" cy="2463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699234" y="364233"/>
            <a:ext cx="6697980" cy="64516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l"/>
            <a:r>
              <a:rPr lang="zh-CN" altLang="en-US" sz="3600" b="1" i="1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3.</a:t>
            </a:r>
            <a:r>
              <a:rPr lang="en-US" altLang="zh-CN" sz="3600" b="1" i="1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3.1</a:t>
            </a:r>
            <a:r>
              <a:rPr lang="zh-CN" altLang="en-US" sz="3600" b="1" i="1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点在三投影面体系中的投影</a:t>
            </a:r>
            <a:endParaRPr lang="zh-CN" altLang="en-US" sz="3600" b="1" i="1" dirty="0">
              <a:solidFill>
                <a:srgbClr val="0066CC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grpSp>
        <p:nvGrpSpPr>
          <p:cNvPr id="21516" name="组合 21515"/>
          <p:cNvGrpSpPr/>
          <p:nvPr/>
        </p:nvGrpSpPr>
        <p:grpSpPr>
          <a:xfrm>
            <a:off x="1020763" y="1714500"/>
            <a:ext cx="2592387" cy="2303463"/>
            <a:chOff x="0" y="0"/>
            <a:chExt cx="1633" cy="1451"/>
          </a:xfrm>
        </p:grpSpPr>
        <p:sp>
          <p:nvSpPr>
            <p:cNvPr id="21517" name="平行四边形 21516"/>
            <p:cNvSpPr/>
            <p:nvPr/>
          </p:nvSpPr>
          <p:spPr>
            <a:xfrm rot="16200000">
              <a:off x="511" y="330"/>
              <a:ext cx="1451" cy="791"/>
            </a:xfrm>
            <a:prstGeom prst="parallelogram">
              <a:avLst>
                <a:gd name="adj" fmla="val 45859"/>
              </a:avLst>
            </a:prstGeom>
            <a:noFill/>
            <a:ln w="9525">
              <a:solidFill>
                <a:schemeClr val="accent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18" name="文本框 21517"/>
            <p:cNvSpPr txBox="1"/>
            <p:nvPr/>
          </p:nvSpPr>
          <p:spPr>
            <a:xfrm>
              <a:off x="0" y="808"/>
              <a:ext cx="26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800" b="1" i="1">
                  <a:latin typeface="Times New Roman" panose="02020603050405020304" pitchFamily="18" charset="0"/>
                </a:rPr>
                <a:t>A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21519" name="文本框 21518"/>
            <p:cNvSpPr txBox="1"/>
            <p:nvPr/>
          </p:nvSpPr>
          <p:spPr>
            <a:xfrm>
              <a:off x="802" y="32"/>
              <a:ext cx="23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P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</p:grpSp>
      <p:sp>
        <p:nvSpPr>
          <p:cNvPr id="21520" name="文本框 21519"/>
          <p:cNvSpPr txBox="1"/>
          <p:nvPr/>
        </p:nvSpPr>
        <p:spPr>
          <a:xfrm>
            <a:off x="2744788" y="2316163"/>
            <a:ext cx="530225" cy="519112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algn="ctr"/>
            <a:r>
              <a:rPr lang="en-US" altLang="zh-CN" sz="2800" i="1">
                <a:latin typeface="Times New Roman" panose="02020603050405020304" pitchFamily="18" charset="0"/>
              </a:rPr>
              <a:t>a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endParaRPr lang="en-US" altLang="zh-CN" sz="2800" i="1">
              <a:latin typeface="Times New Roman" panose="02020603050405020304" pitchFamily="18" charset="0"/>
            </a:endParaRPr>
          </a:p>
        </p:txBody>
      </p:sp>
      <p:sp>
        <p:nvSpPr>
          <p:cNvPr id="21523" name="文本框 21522"/>
          <p:cNvSpPr txBox="1"/>
          <p:nvPr/>
        </p:nvSpPr>
        <p:spPr>
          <a:xfrm>
            <a:off x="5962650" y="2168843"/>
            <a:ext cx="5221605" cy="30670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/>
          <a:p>
            <a:r>
              <a:rPr lang="zh-CN" altLang="en-US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点在一个投影面上的投影</a:t>
            </a:r>
            <a:r>
              <a:rPr lang="zh-CN" altLang="en-US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能</a:t>
            </a:r>
            <a:r>
              <a:rPr lang="zh-CN" altLang="en-US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不能确定点的空间位置？</a:t>
            </a:r>
          </a:p>
        </p:txBody>
      </p:sp>
      <p:sp>
        <p:nvSpPr>
          <p:cNvPr id="21524" name="椭圆 21523"/>
          <p:cNvSpPr/>
          <p:nvPr/>
        </p:nvSpPr>
        <p:spPr>
          <a:xfrm>
            <a:off x="1381125" y="3011488"/>
            <a:ext cx="142875" cy="142875"/>
          </a:xfrm>
          <a:prstGeom prst="ellipse">
            <a:avLst/>
          </a:prstGeom>
          <a:solidFill>
            <a:srgbClr val="FF3300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526" name="椭圆 21525"/>
          <p:cNvSpPr/>
          <p:nvPr/>
        </p:nvSpPr>
        <p:spPr>
          <a:xfrm>
            <a:off x="2678113" y="2506663"/>
            <a:ext cx="142875" cy="142875"/>
          </a:xfrm>
          <a:prstGeom prst="ellipse">
            <a:avLst/>
          </a:prstGeom>
          <a:solidFill>
            <a:srgbClr val="FF3300"/>
          </a:solidFill>
          <a:ln w="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527" name="直接连接符 21526"/>
          <p:cNvSpPr/>
          <p:nvPr/>
        </p:nvSpPr>
        <p:spPr>
          <a:xfrm flipV="1">
            <a:off x="1452563" y="2578100"/>
            <a:ext cx="1295400" cy="504825"/>
          </a:xfrm>
          <a:prstGeom prst="line">
            <a:avLst/>
          </a:prstGeom>
          <a:ln w="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21506" name="组合 21505"/>
          <p:cNvGrpSpPr/>
          <p:nvPr/>
        </p:nvGrpSpPr>
        <p:grpSpPr>
          <a:xfrm>
            <a:off x="4129088" y="4089400"/>
            <a:ext cx="2865437" cy="2422525"/>
            <a:chOff x="0" y="0"/>
            <a:chExt cx="1805" cy="1526"/>
          </a:xfrm>
        </p:grpSpPr>
        <p:sp>
          <p:nvSpPr>
            <p:cNvPr id="21507" name="未知"/>
            <p:cNvSpPr/>
            <p:nvPr/>
          </p:nvSpPr>
          <p:spPr>
            <a:xfrm>
              <a:off x="908" y="0"/>
              <a:ext cx="897" cy="1526"/>
            </a:xfrm>
            <a:custGeom>
              <a:avLst/>
              <a:gdLst/>
              <a:ahLst/>
              <a:cxnLst/>
              <a:rect l="0" t="0" r="0" b="0"/>
              <a:pathLst>
                <a:path w="779" h="1271">
                  <a:moveTo>
                    <a:pt x="0" y="0"/>
                  </a:moveTo>
                  <a:lnTo>
                    <a:pt x="0" y="960"/>
                  </a:lnTo>
                  <a:lnTo>
                    <a:pt x="779" y="1271"/>
                  </a:lnTo>
                  <a:lnTo>
                    <a:pt x="779" y="31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08" name="文本框 21507"/>
            <p:cNvSpPr txBox="1"/>
            <p:nvPr/>
          </p:nvSpPr>
          <p:spPr>
            <a:xfrm>
              <a:off x="618" y="593"/>
              <a:ext cx="34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B1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21509" name="文本框 21508"/>
            <p:cNvSpPr txBox="1"/>
            <p:nvPr/>
          </p:nvSpPr>
          <p:spPr>
            <a:xfrm>
              <a:off x="352" y="678"/>
              <a:ext cx="340" cy="28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400" b="1" i="1">
                  <a:latin typeface="Times New Roman" panose="02020603050405020304" pitchFamily="18" charset="0"/>
                </a:rPr>
                <a:t>B2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21510" name="文本框 21509"/>
            <p:cNvSpPr txBox="1"/>
            <p:nvPr/>
          </p:nvSpPr>
          <p:spPr>
            <a:xfrm>
              <a:off x="0" y="789"/>
              <a:ext cx="34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400" b="1" i="1">
                  <a:latin typeface="Times New Roman" panose="02020603050405020304" pitchFamily="18" charset="0"/>
                </a:rPr>
                <a:t>B3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21511" name="椭圆 21510"/>
            <p:cNvSpPr/>
            <p:nvPr/>
          </p:nvSpPr>
          <p:spPr>
            <a:xfrm>
              <a:off x="489" y="927"/>
              <a:ext cx="90" cy="90"/>
            </a:xfrm>
            <a:prstGeom prst="ellipse">
              <a:avLst/>
            </a:prstGeom>
            <a:gradFill rotWithShape="1">
              <a:gsLst>
                <a:gs pos="0">
                  <a:srgbClr val="FF6600"/>
                </a:gs>
                <a:gs pos="100000">
                  <a:srgbClr val="FF6600">
                    <a:gamma/>
                    <a:shade val="46275"/>
                    <a:invGamma/>
                  </a:srgbClr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12" name="椭圆 21511"/>
            <p:cNvSpPr/>
            <p:nvPr/>
          </p:nvSpPr>
          <p:spPr>
            <a:xfrm>
              <a:off x="199" y="1035"/>
              <a:ext cx="90" cy="90"/>
            </a:xfrm>
            <a:prstGeom prst="ellipse">
              <a:avLst/>
            </a:prstGeom>
            <a:gradFill rotWithShape="1">
              <a:gsLst>
                <a:gs pos="0">
                  <a:srgbClr val="FF3300"/>
                </a:gs>
                <a:gs pos="100000">
                  <a:srgbClr val="FF3300">
                    <a:gamma/>
                    <a:shade val="46275"/>
                    <a:invGamma/>
                  </a:srgbClr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1525" name="椭圆 21524"/>
          <p:cNvSpPr/>
          <p:nvPr/>
        </p:nvSpPr>
        <p:spPr>
          <a:xfrm>
            <a:off x="6202363" y="5027613"/>
            <a:ext cx="142875" cy="142875"/>
          </a:xfrm>
          <a:prstGeom prst="ellipse">
            <a:avLst/>
          </a:prstGeom>
          <a:solidFill>
            <a:srgbClr val="FF3300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528" name="直接连接符 21527"/>
          <p:cNvSpPr/>
          <p:nvPr/>
        </p:nvSpPr>
        <p:spPr>
          <a:xfrm flipV="1">
            <a:off x="4473575" y="5099050"/>
            <a:ext cx="1800225" cy="720725"/>
          </a:xfrm>
          <a:prstGeom prst="line">
            <a:avLst/>
          </a:prstGeom>
          <a:ln w="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532" name="椭圆 21531"/>
          <p:cNvSpPr/>
          <p:nvPr/>
        </p:nvSpPr>
        <p:spPr>
          <a:xfrm>
            <a:off x="5267325" y="5402263"/>
            <a:ext cx="142875" cy="142875"/>
          </a:xfrm>
          <a:prstGeom prst="ellipse">
            <a:avLst/>
          </a:prstGeom>
          <a:gradFill rotWithShape="1">
            <a:gsLst>
              <a:gs pos="0">
                <a:srgbClr val="FF3300"/>
              </a:gs>
              <a:gs pos="100000">
                <a:srgbClr val="FF3300">
                  <a:gamma/>
                  <a:shade val="0"/>
                  <a:invGamma/>
                </a:srgbClr>
              </a:gs>
            </a:gsLst>
            <a:lin ang="5400000" scaled="1"/>
            <a:tileRect/>
          </a:gra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521" name="文本框 21520"/>
          <p:cNvSpPr txBox="1"/>
          <p:nvPr/>
        </p:nvSpPr>
        <p:spPr>
          <a:xfrm>
            <a:off x="5486400" y="4137025"/>
            <a:ext cx="44608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</a:rPr>
              <a:t>P</a:t>
            </a:r>
          </a:p>
        </p:txBody>
      </p:sp>
      <p:sp>
        <p:nvSpPr>
          <p:cNvPr id="21522" name="文本框 21521"/>
          <p:cNvSpPr txBox="1"/>
          <p:nvPr/>
        </p:nvSpPr>
        <p:spPr>
          <a:xfrm>
            <a:off x="6310313" y="4557713"/>
            <a:ext cx="4127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i="1">
                <a:latin typeface="Times New Roman" panose="02020603050405020304" pitchFamily="18" charset="0"/>
              </a:rPr>
              <a:t>b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endParaRPr lang="en-US" altLang="zh-CN" sz="2400" b="1" i="1">
              <a:latin typeface="Times New Roman" panose="02020603050405020304" pitchFamily="18" charset="0"/>
              <a:sym typeface="CommercialPi BT" panose="05020102010206080802" pitchFamily="18" charset="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448675" y="4930776"/>
            <a:ext cx="31769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/>
          <a:p>
            <a:r>
              <a:rPr lang="zh-CN" alt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点在一个投影面上的投影不能确定点的空间位置。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770" y="1586865"/>
            <a:ext cx="1054735" cy="132524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4875" y="4384040"/>
            <a:ext cx="1193800" cy="14058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1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1000"/>
                                        <p:tgtEl>
                                          <p:spTgt spid="21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6" dur="500"/>
                                        <p:tgtEl>
                                          <p:spTgt spid="21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1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20" grpId="1"/>
      <p:bldP spid="21523" grpId="0"/>
      <p:bldP spid="21521" grpId="0"/>
      <p:bldP spid="21522" grpId="0"/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31" name="组合 22530"/>
          <p:cNvGrpSpPr/>
          <p:nvPr/>
        </p:nvGrpSpPr>
        <p:grpSpPr>
          <a:xfrm>
            <a:off x="8810625" y="1481138"/>
            <a:ext cx="1350963" cy="2719387"/>
            <a:chOff x="0" y="0"/>
            <a:chExt cx="851" cy="1713"/>
          </a:xfrm>
        </p:grpSpPr>
        <p:sp>
          <p:nvSpPr>
            <p:cNvPr id="22532" name="平行四边形 22531"/>
            <p:cNvSpPr/>
            <p:nvPr/>
          </p:nvSpPr>
          <p:spPr>
            <a:xfrm rot="5400000">
              <a:off x="-461" y="461"/>
              <a:ext cx="1713" cy="791"/>
            </a:xfrm>
            <a:prstGeom prst="parallelogram">
              <a:avLst>
                <a:gd name="adj" fmla="val 99869"/>
              </a:avLst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33" name="文本框 22532"/>
            <p:cNvSpPr txBox="1"/>
            <p:nvPr/>
          </p:nvSpPr>
          <p:spPr>
            <a:xfrm>
              <a:off x="564" y="698"/>
              <a:ext cx="28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W</a:t>
              </a:r>
              <a:endParaRPr lang="en-US" altLang="zh-CN" b="1" i="1">
                <a:latin typeface="Times New Roman" panose="02020603050405020304" pitchFamily="18" charset="0"/>
              </a:endParaRPr>
            </a:p>
          </p:txBody>
        </p:sp>
      </p:grpSp>
      <p:sp>
        <p:nvSpPr>
          <p:cNvPr id="22534" name="平行四边形 22533"/>
          <p:cNvSpPr/>
          <p:nvPr/>
        </p:nvSpPr>
        <p:spPr>
          <a:xfrm rot="-10800000" flipH="1">
            <a:off x="6753225" y="2943225"/>
            <a:ext cx="3313113" cy="1236663"/>
          </a:xfrm>
          <a:prstGeom prst="parallelogram">
            <a:avLst>
              <a:gd name="adj" fmla="val 100885"/>
            </a:avLst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535" name="文本框 22534"/>
          <p:cNvSpPr txBox="1"/>
          <p:nvPr/>
        </p:nvSpPr>
        <p:spPr>
          <a:xfrm>
            <a:off x="7942263" y="3798888"/>
            <a:ext cx="42068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i="1">
                <a:latin typeface="Times New Roman" panose="02020603050405020304" pitchFamily="18" charset="0"/>
              </a:rPr>
              <a:t>H</a:t>
            </a:r>
            <a:endParaRPr lang="en-US" altLang="zh-CN" b="1" i="1">
              <a:latin typeface="Times New Roman" panose="02020603050405020304" pitchFamily="18" charset="0"/>
            </a:endParaRPr>
          </a:p>
        </p:txBody>
      </p:sp>
      <p:sp>
        <p:nvSpPr>
          <p:cNvPr id="22536" name="矩形 22535"/>
          <p:cNvSpPr/>
          <p:nvPr/>
        </p:nvSpPr>
        <p:spPr>
          <a:xfrm>
            <a:off x="6773863" y="1500188"/>
            <a:ext cx="2036762" cy="1443037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537" name="文本框 22536"/>
          <p:cNvSpPr txBox="1"/>
          <p:nvPr/>
        </p:nvSpPr>
        <p:spPr>
          <a:xfrm>
            <a:off x="6721475" y="1443038"/>
            <a:ext cx="3873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i="1">
                <a:latin typeface="Times New Roman" panose="02020603050405020304" pitchFamily="18" charset="0"/>
              </a:rPr>
              <a:t>V</a:t>
            </a:r>
            <a:endParaRPr lang="en-US" altLang="zh-CN" b="1" i="1">
              <a:latin typeface="Times New Roman" panose="02020603050405020304" pitchFamily="18" charset="0"/>
            </a:endParaRPr>
          </a:p>
        </p:txBody>
      </p:sp>
      <p:grpSp>
        <p:nvGrpSpPr>
          <p:cNvPr id="22538" name="组合 22537"/>
          <p:cNvGrpSpPr/>
          <p:nvPr/>
        </p:nvGrpSpPr>
        <p:grpSpPr>
          <a:xfrm>
            <a:off x="6340475" y="2559050"/>
            <a:ext cx="2808288" cy="566738"/>
            <a:chOff x="0" y="0"/>
            <a:chExt cx="1769" cy="357"/>
          </a:xfrm>
        </p:grpSpPr>
        <p:sp>
          <p:nvSpPr>
            <p:cNvPr id="22539" name="文本框 22538"/>
            <p:cNvSpPr txBox="1"/>
            <p:nvPr/>
          </p:nvSpPr>
          <p:spPr>
            <a:xfrm>
              <a:off x="1514" y="69"/>
              <a:ext cx="25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O</a:t>
              </a:r>
              <a:endParaRPr lang="en-US" altLang="zh-CN" b="1" i="1">
                <a:latin typeface="Times New Roman" panose="02020603050405020304" pitchFamily="18" charset="0"/>
              </a:endParaRPr>
            </a:p>
          </p:txBody>
        </p:sp>
        <p:sp>
          <p:nvSpPr>
            <p:cNvPr id="22540" name="未知"/>
            <p:cNvSpPr/>
            <p:nvPr/>
          </p:nvSpPr>
          <p:spPr>
            <a:xfrm>
              <a:off x="12" y="242"/>
              <a:ext cx="1544" cy="1"/>
            </a:xfrm>
            <a:custGeom>
              <a:avLst/>
              <a:gdLst/>
              <a:ahLst/>
              <a:cxnLst/>
              <a:rect l="0" t="0" r="0" b="0"/>
              <a:pathLst>
                <a:path w="1544" h="1">
                  <a:moveTo>
                    <a:pt x="1544" y="0"/>
                  </a:move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1" name="文本框 22540"/>
            <p:cNvSpPr txBox="1"/>
            <p:nvPr/>
          </p:nvSpPr>
          <p:spPr>
            <a:xfrm>
              <a:off x="0" y="0"/>
              <a:ext cx="24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X</a:t>
              </a:r>
              <a:endParaRPr lang="en-US" altLang="zh-CN" b="1" i="1">
                <a:latin typeface="Times New Roman" panose="02020603050405020304" pitchFamily="18" charset="0"/>
              </a:endParaRPr>
            </a:p>
          </p:txBody>
        </p:sp>
      </p:grpSp>
      <p:sp>
        <p:nvSpPr>
          <p:cNvPr id="22542" name="文本框 22541"/>
          <p:cNvSpPr txBox="1"/>
          <p:nvPr/>
        </p:nvSpPr>
        <p:spPr>
          <a:xfrm>
            <a:off x="1083945" y="695801"/>
            <a:ext cx="7127875" cy="36830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空间点</a:t>
            </a: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在三个投影面上的投影</a:t>
            </a:r>
          </a:p>
        </p:txBody>
      </p:sp>
      <p:grpSp>
        <p:nvGrpSpPr>
          <p:cNvPr id="22543" name="组合 22542"/>
          <p:cNvGrpSpPr/>
          <p:nvPr/>
        </p:nvGrpSpPr>
        <p:grpSpPr>
          <a:xfrm>
            <a:off x="1895475" y="1411288"/>
            <a:ext cx="4621213" cy="385763"/>
            <a:chOff x="66" y="105"/>
            <a:chExt cx="2911" cy="243"/>
          </a:xfrm>
        </p:grpSpPr>
        <p:sp>
          <p:nvSpPr>
            <p:cNvPr id="22544" name="文本框 22543"/>
            <p:cNvSpPr txBox="1"/>
            <p:nvPr/>
          </p:nvSpPr>
          <p:spPr>
            <a:xfrm>
              <a:off x="66" y="105"/>
              <a:ext cx="223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1" i="1">
                  <a:solidFill>
                    <a:srgbClr val="CC0000"/>
                  </a:solidFill>
                  <a:latin typeface="Times New Roman" panose="02020603050405020304" pitchFamily="18" charset="0"/>
                  <a:sym typeface="EuroRoman" panose="00000400000000000000" pitchFamily="2" charset="2"/>
                </a:rPr>
                <a:t>a</a:t>
              </a:r>
              <a:r>
                <a:rPr lang="en-US" altLang="zh-CN" b="1" i="1">
                  <a:solidFill>
                    <a:srgbClr val="CC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</a:t>
              </a:r>
              <a:endParaRPr lang="en-US" altLang="zh-CN" b="1" i="1">
                <a:solidFill>
                  <a:srgbClr val="CC0000"/>
                </a:solidFill>
                <a:latin typeface="Times New Roman" panose="02020603050405020304" pitchFamily="18" charset="0"/>
                <a:sym typeface="UniversalMath1 BT" panose="05050102010205020602" pitchFamily="18" charset="2"/>
              </a:endParaRPr>
            </a:p>
          </p:txBody>
        </p:sp>
        <p:sp>
          <p:nvSpPr>
            <p:cNvPr id="22545" name="直接连接符 22544"/>
            <p:cNvSpPr/>
            <p:nvPr/>
          </p:nvSpPr>
          <p:spPr>
            <a:xfrm>
              <a:off x="363" y="266"/>
              <a:ext cx="363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46" name="文本框 22545"/>
            <p:cNvSpPr txBox="1"/>
            <p:nvPr/>
          </p:nvSpPr>
          <p:spPr>
            <a:xfrm>
              <a:off x="509" y="116"/>
              <a:ext cx="2468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lstStyle/>
            <a:p>
              <a:pPr algn="just"/>
              <a:r>
                <a:rPr lang="zh-CN" altLang="en-US" sz="1400">
                  <a:latin typeface="楷体_GB2312" panose="02010609030101010101" pitchFamily="49" charset="-122"/>
                  <a:ea typeface="楷体_GB2312" panose="02010609030101010101" pitchFamily="49" charset="-122"/>
                </a:rPr>
                <a:t>    </a:t>
              </a:r>
              <a:r>
                <a: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点</a:t>
              </a:r>
              <a:r>
                <a:rPr lang="en-US" altLang="zh-CN" sz="14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A</a:t>
              </a:r>
              <a:r>
                <a: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的</a:t>
              </a:r>
              <a:r>
                <a:rPr lang="zh-CN" altLang="en-US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正面</a:t>
              </a:r>
              <a:r>
                <a: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投影</a:t>
              </a:r>
            </a:p>
          </p:txBody>
        </p:sp>
      </p:grpSp>
      <p:grpSp>
        <p:nvGrpSpPr>
          <p:cNvPr id="22547" name="组合 22546"/>
          <p:cNvGrpSpPr/>
          <p:nvPr/>
        </p:nvGrpSpPr>
        <p:grpSpPr>
          <a:xfrm>
            <a:off x="1922145" y="2249488"/>
            <a:ext cx="4621213" cy="411163"/>
            <a:chOff x="44" y="105"/>
            <a:chExt cx="2911" cy="259"/>
          </a:xfrm>
        </p:grpSpPr>
        <p:sp>
          <p:nvSpPr>
            <p:cNvPr id="22548" name="文本框 22547"/>
            <p:cNvSpPr txBox="1"/>
            <p:nvPr/>
          </p:nvSpPr>
          <p:spPr>
            <a:xfrm>
              <a:off x="44" y="105"/>
              <a:ext cx="187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1" i="1">
                  <a:solidFill>
                    <a:srgbClr val="CC0000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2549" name="直接连接符 22548"/>
            <p:cNvSpPr/>
            <p:nvPr/>
          </p:nvSpPr>
          <p:spPr>
            <a:xfrm>
              <a:off x="337" y="256"/>
              <a:ext cx="35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50" name="文本框 22549"/>
            <p:cNvSpPr txBox="1"/>
            <p:nvPr/>
          </p:nvSpPr>
          <p:spPr>
            <a:xfrm>
              <a:off x="572" y="132"/>
              <a:ext cx="2383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lstStyle/>
            <a:p>
              <a:pPr algn="just"/>
              <a:r>
                <a:rPr lang="zh-CN" altLang="en-US" sz="1400" b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  </a:t>
              </a:r>
              <a:r>
                <a: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点</a:t>
              </a:r>
              <a:r>
                <a:rPr lang="en-US" altLang="zh-CN" sz="14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A</a:t>
              </a:r>
              <a:r>
                <a: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的</a:t>
              </a:r>
              <a:r>
                <a:rPr lang="zh-CN" altLang="en-US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水平</a:t>
              </a:r>
              <a:r>
                <a: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投影</a:t>
              </a:r>
            </a:p>
          </p:txBody>
        </p:sp>
      </p:grpSp>
      <p:grpSp>
        <p:nvGrpSpPr>
          <p:cNvPr id="22551" name="组合 22550"/>
          <p:cNvGrpSpPr/>
          <p:nvPr/>
        </p:nvGrpSpPr>
        <p:grpSpPr>
          <a:xfrm>
            <a:off x="1911350" y="3132138"/>
            <a:ext cx="4632325" cy="403225"/>
            <a:chOff x="81" y="105"/>
            <a:chExt cx="2918" cy="254"/>
          </a:xfrm>
        </p:grpSpPr>
        <p:sp>
          <p:nvSpPr>
            <p:cNvPr id="22552" name="直接连接符 22551"/>
            <p:cNvSpPr/>
            <p:nvPr/>
          </p:nvSpPr>
          <p:spPr>
            <a:xfrm>
              <a:off x="380" y="294"/>
              <a:ext cx="351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53" name="文本框 22552"/>
            <p:cNvSpPr txBox="1"/>
            <p:nvPr/>
          </p:nvSpPr>
          <p:spPr>
            <a:xfrm>
              <a:off x="81" y="105"/>
              <a:ext cx="247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1" i="1">
                  <a:solidFill>
                    <a:srgbClr val="CC0000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b="1" i="1">
                  <a:solidFill>
                    <a:srgbClr val="CC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</a:t>
              </a:r>
              <a:endParaRPr lang="en-US" altLang="zh-CN" b="1" i="1">
                <a:solidFill>
                  <a:srgbClr val="CC0000"/>
                </a:solidFill>
                <a:latin typeface="Times New Roman" panose="02020603050405020304" pitchFamily="18" charset="0"/>
                <a:sym typeface="UniversalMath1 BT" panose="05050102010205020602" pitchFamily="18" charset="2"/>
              </a:endParaRPr>
            </a:p>
          </p:txBody>
        </p:sp>
        <p:sp>
          <p:nvSpPr>
            <p:cNvPr id="22554" name="文本框 22553"/>
            <p:cNvSpPr txBox="1"/>
            <p:nvPr/>
          </p:nvSpPr>
          <p:spPr>
            <a:xfrm>
              <a:off x="610" y="127"/>
              <a:ext cx="238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lstStyle/>
            <a:p>
              <a:r>
                <a: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  点</a:t>
              </a:r>
              <a:r>
                <a:rPr lang="en-US" altLang="zh-CN" sz="14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A</a:t>
              </a:r>
              <a:r>
                <a: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的</a:t>
              </a:r>
              <a:r>
                <a:rPr lang="zh-CN" altLang="en-US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侧面</a:t>
              </a:r>
              <a:r>
                <a: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投影</a:t>
              </a:r>
            </a:p>
          </p:txBody>
        </p:sp>
      </p:grpSp>
      <p:sp>
        <p:nvSpPr>
          <p:cNvPr id="22555" name="椭圆形标注 22554"/>
          <p:cNvSpPr/>
          <p:nvPr/>
        </p:nvSpPr>
        <p:spPr>
          <a:xfrm>
            <a:off x="2390775" y="4763675"/>
            <a:ext cx="5233988" cy="786638"/>
          </a:xfrm>
          <a:prstGeom prst="wedgeEllipseCallout">
            <a:avLst>
              <a:gd name="adj1" fmla="val 42750"/>
              <a:gd name="adj2" fmla="val -94843"/>
            </a:avLst>
          </a:prstGeom>
          <a:noFill/>
          <a:ln w="9525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txBody>
          <a:bodyPr anchor="ctr">
            <a:spAutoFit/>
          </a:bodyPr>
          <a:lstStyle/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空间点用</a:t>
            </a:r>
            <a:r>
              <a:rPr lang="zh-CN" altLang="en-US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大写字母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表示，点的投影用</a:t>
            </a:r>
            <a:r>
              <a:rPr lang="zh-CN" altLang="en-US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小写字母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表示。</a:t>
            </a:r>
            <a:r>
              <a:rPr lang="zh-CN" altLang="en-US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请注意小写字母的规律！</a:t>
            </a:r>
          </a:p>
        </p:txBody>
      </p:sp>
      <p:grpSp>
        <p:nvGrpSpPr>
          <p:cNvPr id="22556" name="组合 22555"/>
          <p:cNvGrpSpPr/>
          <p:nvPr/>
        </p:nvGrpSpPr>
        <p:grpSpPr>
          <a:xfrm>
            <a:off x="7905750" y="2308225"/>
            <a:ext cx="1943100" cy="457200"/>
            <a:chOff x="0" y="0"/>
            <a:chExt cx="1224" cy="288"/>
          </a:xfrm>
        </p:grpSpPr>
        <p:sp>
          <p:nvSpPr>
            <p:cNvPr id="22557" name="文本框 22556"/>
            <p:cNvSpPr txBox="1"/>
            <p:nvPr/>
          </p:nvSpPr>
          <p:spPr>
            <a:xfrm>
              <a:off x="933" y="0"/>
              <a:ext cx="29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>
                  <a:latin typeface="Times New Roman" panose="02020603050405020304" pitchFamily="18" charset="0"/>
                </a:rPr>
                <a:t>a</a:t>
              </a:r>
              <a:r>
                <a:rPr lang="en-US" altLang="zh-CN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</a:t>
              </a:r>
              <a:endParaRPr lang="en-US" altLang="zh-CN" sz="2400" b="1">
                <a:latin typeface="Times New Roman" panose="02020603050405020304" pitchFamily="18" charset="0"/>
                <a:sym typeface="UniversalMath1 BT" panose="05050102010205020602" pitchFamily="18" charset="2"/>
              </a:endParaRPr>
            </a:p>
          </p:txBody>
        </p:sp>
        <p:grpSp>
          <p:nvGrpSpPr>
            <p:cNvPr id="22558" name="组合 22557"/>
            <p:cNvGrpSpPr/>
            <p:nvPr/>
          </p:nvGrpSpPr>
          <p:grpSpPr>
            <a:xfrm>
              <a:off x="0" y="109"/>
              <a:ext cx="1031" cy="154"/>
              <a:chOff x="0" y="0"/>
              <a:chExt cx="1031" cy="154"/>
            </a:xfrm>
          </p:grpSpPr>
          <p:sp>
            <p:nvSpPr>
              <p:cNvPr id="22559" name="直接连接符 22558"/>
              <p:cNvSpPr/>
              <p:nvPr/>
            </p:nvSpPr>
            <p:spPr>
              <a:xfrm flipH="1">
                <a:off x="0" y="83"/>
                <a:ext cx="934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2560" name="文本框 22559"/>
              <p:cNvSpPr txBox="1"/>
              <p:nvPr/>
            </p:nvSpPr>
            <p:spPr>
              <a:xfrm>
                <a:off x="834" y="0"/>
                <a:ext cx="197" cy="15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zh-CN" altLang="en-US" sz="1000" b="1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●</a:t>
                </a:r>
                <a:endParaRPr lang="zh-CN" altLang="en-US" sz="1000" b="1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22561" name="组合 22560"/>
          <p:cNvGrpSpPr/>
          <p:nvPr/>
        </p:nvGrpSpPr>
        <p:grpSpPr>
          <a:xfrm>
            <a:off x="7635875" y="2633663"/>
            <a:ext cx="463550" cy="1090612"/>
            <a:chOff x="0" y="0"/>
            <a:chExt cx="292" cy="687"/>
          </a:xfrm>
        </p:grpSpPr>
        <p:sp>
          <p:nvSpPr>
            <p:cNvPr id="22562" name="文本框 22561"/>
            <p:cNvSpPr txBox="1"/>
            <p:nvPr/>
          </p:nvSpPr>
          <p:spPr>
            <a:xfrm>
              <a:off x="0" y="399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>
                  <a:latin typeface="Times New Roman" panose="02020603050405020304" pitchFamily="18" charset="0"/>
                </a:rPr>
                <a:t>a</a:t>
              </a:r>
              <a:endParaRPr lang="en-US" altLang="zh-CN" b="1">
                <a:latin typeface="Times New Roman" panose="02020603050405020304" pitchFamily="18" charset="0"/>
              </a:endParaRPr>
            </a:p>
          </p:txBody>
        </p:sp>
        <p:grpSp>
          <p:nvGrpSpPr>
            <p:cNvPr id="22563" name="组合 22562"/>
            <p:cNvGrpSpPr/>
            <p:nvPr/>
          </p:nvGrpSpPr>
          <p:grpSpPr>
            <a:xfrm>
              <a:off x="95" y="0"/>
              <a:ext cx="197" cy="619"/>
              <a:chOff x="0" y="0"/>
              <a:chExt cx="197" cy="619"/>
            </a:xfrm>
          </p:grpSpPr>
          <p:sp>
            <p:nvSpPr>
              <p:cNvPr id="22564" name="直接连接符 22563"/>
              <p:cNvSpPr/>
              <p:nvPr/>
            </p:nvSpPr>
            <p:spPr>
              <a:xfrm>
                <a:off x="89" y="0"/>
                <a:ext cx="0" cy="559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2565" name="文本框 22564"/>
              <p:cNvSpPr txBox="1"/>
              <p:nvPr/>
            </p:nvSpPr>
            <p:spPr>
              <a:xfrm>
                <a:off x="0" y="465"/>
                <a:ext cx="197" cy="15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zh-CN" altLang="en-US" sz="1000" b="1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●</a:t>
                </a:r>
                <a:endParaRPr lang="zh-CN" altLang="en-US" sz="1000" b="1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22566" name="组合 22565"/>
          <p:cNvGrpSpPr/>
          <p:nvPr/>
        </p:nvGrpSpPr>
        <p:grpSpPr>
          <a:xfrm>
            <a:off x="7004050" y="1701800"/>
            <a:ext cx="879475" cy="890588"/>
            <a:chOff x="0" y="0"/>
            <a:chExt cx="554" cy="561"/>
          </a:xfrm>
        </p:grpSpPr>
        <p:sp>
          <p:nvSpPr>
            <p:cNvPr id="22567" name="文本框 22566"/>
            <p:cNvSpPr txBox="1"/>
            <p:nvPr/>
          </p:nvSpPr>
          <p:spPr>
            <a:xfrm>
              <a:off x="0" y="0"/>
              <a:ext cx="26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>
                  <a:latin typeface="Times New Roman" panose="02020603050405020304" pitchFamily="18" charset="0"/>
                  <a:sym typeface="EuroRoman" panose="00000400000000000000" pitchFamily="2" charset="2"/>
                </a:rPr>
                <a:t>a</a:t>
              </a:r>
              <a:r>
                <a:rPr lang="en-US" altLang="zh-CN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</a:t>
              </a:r>
              <a:endParaRPr lang="en-US" altLang="zh-CN" sz="2400" b="1">
                <a:latin typeface="Times New Roman" panose="02020603050405020304" pitchFamily="18" charset="0"/>
                <a:sym typeface="UniversalMath1 BT" panose="05050102010205020602" pitchFamily="18" charset="2"/>
              </a:endParaRPr>
            </a:p>
          </p:txBody>
        </p:sp>
        <p:grpSp>
          <p:nvGrpSpPr>
            <p:cNvPr id="22568" name="组合 22567"/>
            <p:cNvGrpSpPr/>
            <p:nvPr/>
          </p:nvGrpSpPr>
          <p:grpSpPr>
            <a:xfrm>
              <a:off x="93" y="121"/>
              <a:ext cx="461" cy="440"/>
              <a:chOff x="0" y="0"/>
              <a:chExt cx="461" cy="440"/>
            </a:xfrm>
          </p:grpSpPr>
          <p:sp>
            <p:nvSpPr>
              <p:cNvPr id="22569" name="直接连接符 22568"/>
              <p:cNvSpPr/>
              <p:nvPr/>
            </p:nvSpPr>
            <p:spPr>
              <a:xfrm>
                <a:off x="85" y="64"/>
                <a:ext cx="376" cy="376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2570" name="文本框 22569"/>
              <p:cNvSpPr txBox="1"/>
              <p:nvPr/>
            </p:nvSpPr>
            <p:spPr>
              <a:xfrm>
                <a:off x="0" y="0"/>
                <a:ext cx="197" cy="15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zh-CN" altLang="en-US" sz="1000" b="1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●</a:t>
                </a:r>
              </a:p>
            </p:txBody>
          </p:sp>
        </p:grpSp>
      </p:grpSp>
      <p:grpSp>
        <p:nvGrpSpPr>
          <p:cNvPr id="22571" name="组合 22570"/>
          <p:cNvGrpSpPr/>
          <p:nvPr/>
        </p:nvGrpSpPr>
        <p:grpSpPr>
          <a:xfrm>
            <a:off x="7759700" y="2222500"/>
            <a:ext cx="439738" cy="517525"/>
            <a:chOff x="0" y="0"/>
            <a:chExt cx="277" cy="326"/>
          </a:xfrm>
        </p:grpSpPr>
        <p:sp>
          <p:nvSpPr>
            <p:cNvPr id="22572" name="文本框 22571"/>
            <p:cNvSpPr txBox="1"/>
            <p:nvPr/>
          </p:nvSpPr>
          <p:spPr>
            <a:xfrm>
              <a:off x="22" y="0"/>
              <a:ext cx="25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>
                  <a:latin typeface="Times New Roman" panose="02020603050405020304" pitchFamily="18" charset="0"/>
                </a:rPr>
                <a:t>A</a:t>
              </a:r>
              <a:endParaRPr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22573" name="文本框 22572"/>
            <p:cNvSpPr txBox="1"/>
            <p:nvPr/>
          </p:nvSpPr>
          <p:spPr>
            <a:xfrm>
              <a:off x="0" y="172"/>
              <a:ext cx="197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0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●</a:t>
              </a:r>
            </a:p>
          </p:txBody>
        </p:sp>
      </p:grpSp>
      <p:grpSp>
        <p:nvGrpSpPr>
          <p:cNvPr id="22574" name="组合 22573"/>
          <p:cNvGrpSpPr/>
          <p:nvPr/>
        </p:nvGrpSpPr>
        <p:grpSpPr>
          <a:xfrm>
            <a:off x="8482013" y="1079500"/>
            <a:ext cx="417512" cy="1863725"/>
            <a:chOff x="0" y="0"/>
            <a:chExt cx="263" cy="1174"/>
          </a:xfrm>
        </p:grpSpPr>
        <p:sp>
          <p:nvSpPr>
            <p:cNvPr id="22575" name="直接连接符 22574"/>
            <p:cNvSpPr/>
            <p:nvPr/>
          </p:nvSpPr>
          <p:spPr>
            <a:xfrm>
              <a:off x="207" y="26"/>
              <a:ext cx="0" cy="114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76" name="矩形 22575"/>
            <p:cNvSpPr/>
            <p:nvPr/>
          </p:nvSpPr>
          <p:spPr>
            <a:xfrm>
              <a:off x="0" y="0"/>
              <a:ext cx="26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Z</a:t>
              </a:r>
            </a:p>
          </p:txBody>
        </p:sp>
      </p:grpSp>
      <p:sp>
        <p:nvSpPr>
          <p:cNvPr id="22577" name="文本框 22576"/>
          <p:cNvSpPr txBox="1"/>
          <p:nvPr/>
        </p:nvSpPr>
        <p:spPr>
          <a:xfrm>
            <a:off x="10134600" y="4002088"/>
            <a:ext cx="40481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/>
            <a:r>
              <a:rPr lang="en-US" altLang="zh-CN" sz="2400" b="1" i="1">
                <a:latin typeface="Times New Roman" panose="02020603050405020304" pitchFamily="18" charset="0"/>
              </a:rPr>
              <a:t>Y</a:t>
            </a:r>
          </a:p>
        </p:txBody>
      </p:sp>
      <p:sp>
        <p:nvSpPr>
          <p:cNvPr id="22578" name="直接连接符 22577"/>
          <p:cNvSpPr/>
          <p:nvPr/>
        </p:nvSpPr>
        <p:spPr>
          <a:xfrm>
            <a:off x="8810625" y="2924175"/>
            <a:ext cx="1468438" cy="1468438"/>
          </a:xfrm>
          <a:prstGeom prst="line">
            <a:avLst/>
          </a:prstGeom>
          <a:ln w="2857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2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2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5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25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55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54" name="组合 23553"/>
          <p:cNvGrpSpPr/>
          <p:nvPr/>
        </p:nvGrpSpPr>
        <p:grpSpPr>
          <a:xfrm>
            <a:off x="4097655" y="2190115"/>
            <a:ext cx="1760538" cy="1468438"/>
            <a:chOff x="0" y="0"/>
            <a:chExt cx="847" cy="925"/>
          </a:xfrm>
        </p:grpSpPr>
        <p:sp>
          <p:nvSpPr>
            <p:cNvPr id="23555" name="矩形 23554"/>
            <p:cNvSpPr/>
            <p:nvPr/>
          </p:nvSpPr>
          <p:spPr>
            <a:xfrm>
              <a:off x="0" y="55"/>
              <a:ext cx="847" cy="870"/>
            </a:xfrm>
            <a:prstGeom prst="rect">
              <a:avLst/>
            </a:prstGeom>
            <a:gradFill rotWithShape="1">
              <a:gsLst>
                <a:gs pos="0">
                  <a:srgbClr val="00B0F0"/>
                </a:gs>
                <a:gs pos="100000">
                  <a:srgbClr val="CCFF66">
                    <a:gamma/>
                    <a:tint val="0"/>
                    <a:invGamma/>
                  </a:srgbClr>
                </a:gs>
              </a:gsLst>
              <a:lin ang="5400000" scaled="1"/>
              <a:tileRect/>
            </a:gra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56" name="文本框 23555"/>
            <p:cNvSpPr txBox="1"/>
            <p:nvPr/>
          </p:nvSpPr>
          <p:spPr>
            <a:xfrm>
              <a:off x="611" y="0"/>
              <a:ext cx="21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W</a:t>
              </a:r>
              <a:endParaRPr lang="en-US" altLang="zh-CN" b="1" i="1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3557" name="组合 23556"/>
          <p:cNvGrpSpPr/>
          <p:nvPr/>
        </p:nvGrpSpPr>
        <p:grpSpPr>
          <a:xfrm>
            <a:off x="2018030" y="2171065"/>
            <a:ext cx="2109788" cy="1487488"/>
            <a:chOff x="0" y="0"/>
            <a:chExt cx="1329" cy="937"/>
          </a:xfrm>
        </p:grpSpPr>
        <p:sp>
          <p:nvSpPr>
            <p:cNvPr id="23558" name="矩形 23557"/>
            <p:cNvSpPr/>
            <p:nvPr/>
          </p:nvSpPr>
          <p:spPr>
            <a:xfrm>
              <a:off x="44" y="67"/>
              <a:ext cx="1285" cy="870"/>
            </a:xfrm>
            <a:prstGeom prst="rect">
              <a:avLst/>
            </a:prstGeom>
            <a:gradFill rotWithShape="1">
              <a:gsLst>
                <a:gs pos="0">
                  <a:srgbClr val="FFFF00"/>
                </a:gs>
                <a:gs pos="100000">
                  <a:srgbClr val="FFFFCC">
                    <a:gamma/>
                    <a:tint val="22353"/>
                    <a:invGamma/>
                  </a:srgbClr>
                </a:gs>
              </a:gsLst>
              <a:lin ang="5400000" scaled="1"/>
              <a:tileRect/>
            </a:gra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59" name="文本框 23558"/>
            <p:cNvSpPr txBox="1"/>
            <p:nvPr/>
          </p:nvSpPr>
          <p:spPr>
            <a:xfrm>
              <a:off x="0" y="0"/>
              <a:ext cx="24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V</a:t>
              </a:r>
              <a:endParaRPr lang="en-US" altLang="zh-CN" b="1" i="1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3560" name="组合 23559"/>
          <p:cNvGrpSpPr/>
          <p:nvPr/>
        </p:nvGrpSpPr>
        <p:grpSpPr>
          <a:xfrm>
            <a:off x="2024380" y="3658553"/>
            <a:ext cx="2105025" cy="1316037"/>
            <a:chOff x="0" y="0"/>
            <a:chExt cx="1326" cy="829"/>
          </a:xfrm>
        </p:grpSpPr>
        <p:sp>
          <p:nvSpPr>
            <p:cNvPr id="23561" name="矩形 23560"/>
            <p:cNvSpPr/>
            <p:nvPr/>
          </p:nvSpPr>
          <p:spPr>
            <a:xfrm>
              <a:off x="41" y="0"/>
              <a:ext cx="1285" cy="789"/>
            </a:xfrm>
            <a:prstGeom prst="rect">
              <a:avLst/>
            </a:prstGeom>
            <a:gradFill rotWithShape="1">
              <a:gsLst>
                <a:gs pos="0">
                  <a:srgbClr val="FFCCCC"/>
                </a:gs>
                <a:gs pos="100000">
                  <a:srgbClr val="FFCCCC">
                    <a:gamma/>
                    <a:tint val="0"/>
                    <a:invGamma/>
                  </a:srgbClr>
                </a:gs>
              </a:gsLst>
              <a:lin ang="5400000" scaled="1"/>
              <a:tileRect/>
            </a:gra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62" name="文本框 23561"/>
            <p:cNvSpPr txBox="1"/>
            <p:nvPr/>
          </p:nvSpPr>
          <p:spPr>
            <a:xfrm>
              <a:off x="0" y="541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H</a:t>
              </a:r>
              <a:endParaRPr lang="en-US" altLang="zh-CN" b="1" i="1">
                <a:latin typeface="Times New Roman" panose="02020603050405020304" pitchFamily="18" charset="0"/>
              </a:endParaRPr>
            </a:p>
          </p:txBody>
        </p:sp>
      </p:grpSp>
      <p:sp>
        <p:nvSpPr>
          <p:cNvPr id="23563" name="矩形 23562"/>
          <p:cNvSpPr/>
          <p:nvPr/>
        </p:nvSpPr>
        <p:spPr>
          <a:xfrm>
            <a:off x="6682105" y="2207578"/>
            <a:ext cx="2036763" cy="1449387"/>
          </a:xfrm>
          <a:prstGeom prst="rect">
            <a:avLst/>
          </a:prstGeom>
          <a:gradFill rotWithShape="1">
            <a:gsLst>
              <a:gs pos="0">
                <a:srgbClr val="FFFF00"/>
              </a:gs>
              <a:gs pos="100000">
                <a:srgbClr val="FFFFCC">
                  <a:gamma/>
                  <a:tint val="22353"/>
                  <a:invGamma/>
                </a:srgbClr>
              </a:gs>
            </a:gsLst>
            <a:lin ang="5400000" scaled="1"/>
            <a:tileRect/>
          </a:gra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564" name="平行四边形 23563"/>
          <p:cNvSpPr/>
          <p:nvPr/>
        </p:nvSpPr>
        <p:spPr>
          <a:xfrm rot="5400000">
            <a:off x="7985443" y="2931478"/>
            <a:ext cx="2719387" cy="1255712"/>
          </a:xfrm>
          <a:prstGeom prst="parallelogram">
            <a:avLst>
              <a:gd name="adj" fmla="val 99869"/>
            </a:avLst>
          </a:prstGeom>
          <a:gradFill rotWithShape="1">
            <a:gsLst>
              <a:gs pos="0">
                <a:srgbClr val="00B0F0"/>
              </a:gs>
              <a:gs pos="100000">
                <a:srgbClr val="CCFF66">
                  <a:gamma/>
                  <a:tint val="0"/>
                  <a:invGamma/>
                </a:srgbClr>
              </a:gs>
            </a:gsLst>
            <a:lin ang="5400000" scaled="1"/>
            <a:tileRect/>
          </a:gra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565" name="平行四边形 23564"/>
          <p:cNvSpPr/>
          <p:nvPr/>
        </p:nvSpPr>
        <p:spPr>
          <a:xfrm rot="-10800000" flipH="1">
            <a:off x="6682105" y="3652203"/>
            <a:ext cx="3290888" cy="1252537"/>
          </a:xfrm>
          <a:prstGeom prst="parallelogram">
            <a:avLst>
              <a:gd name="adj" fmla="val 99853"/>
            </a:avLst>
          </a:prstGeom>
          <a:gradFill rotWithShape="1">
            <a:gsLst>
              <a:gs pos="0">
                <a:srgbClr val="FFCCCC"/>
              </a:gs>
              <a:gs pos="100000">
                <a:srgbClr val="FFCCCC">
                  <a:gamma/>
                  <a:tint val="0"/>
                  <a:invGamma/>
                </a:srgbClr>
              </a:gs>
            </a:gsLst>
            <a:lin ang="5400000" scaled="1"/>
            <a:tileRect/>
          </a:gra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566" name="直接连接符 23565"/>
          <p:cNvSpPr/>
          <p:nvPr/>
        </p:nvSpPr>
        <p:spPr>
          <a:xfrm>
            <a:off x="7236143" y="2761615"/>
            <a:ext cx="148272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3567" name="直接连接符 23566"/>
          <p:cNvSpPr/>
          <p:nvPr/>
        </p:nvSpPr>
        <p:spPr>
          <a:xfrm>
            <a:off x="7236143" y="2761615"/>
            <a:ext cx="0" cy="887413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3568" name="直接连接符 23567"/>
          <p:cNvSpPr/>
          <p:nvPr/>
        </p:nvSpPr>
        <p:spPr>
          <a:xfrm>
            <a:off x="7236143" y="3649028"/>
            <a:ext cx="596900" cy="5969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3569" name="直接连接符 23568"/>
          <p:cNvSpPr/>
          <p:nvPr/>
        </p:nvSpPr>
        <p:spPr>
          <a:xfrm>
            <a:off x="7833043" y="3358515"/>
            <a:ext cx="0" cy="887413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3570" name="直接连接符 23569"/>
          <p:cNvSpPr/>
          <p:nvPr/>
        </p:nvSpPr>
        <p:spPr>
          <a:xfrm>
            <a:off x="8739505" y="2761615"/>
            <a:ext cx="576263" cy="576263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3571" name="直接连接符 23570"/>
          <p:cNvSpPr/>
          <p:nvPr/>
        </p:nvSpPr>
        <p:spPr>
          <a:xfrm flipH="1">
            <a:off x="7833043" y="3337878"/>
            <a:ext cx="148272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3572" name="直接连接符 23571"/>
          <p:cNvSpPr/>
          <p:nvPr/>
        </p:nvSpPr>
        <p:spPr>
          <a:xfrm>
            <a:off x="7833043" y="4245928"/>
            <a:ext cx="148272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3573" name="直接连接符 23572"/>
          <p:cNvSpPr/>
          <p:nvPr/>
        </p:nvSpPr>
        <p:spPr>
          <a:xfrm>
            <a:off x="7236143" y="2761615"/>
            <a:ext cx="596900" cy="5969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3574" name="直接连接符 23573"/>
          <p:cNvSpPr/>
          <p:nvPr/>
        </p:nvSpPr>
        <p:spPr>
          <a:xfrm>
            <a:off x="9315768" y="3337878"/>
            <a:ext cx="0" cy="90805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3575" name="直接连接符 23574"/>
          <p:cNvSpPr/>
          <p:nvPr/>
        </p:nvSpPr>
        <p:spPr>
          <a:xfrm>
            <a:off x="8718868" y="3669665"/>
            <a:ext cx="1279525" cy="127952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3576" name="直接连接符 23575"/>
          <p:cNvSpPr/>
          <p:nvPr/>
        </p:nvSpPr>
        <p:spPr>
          <a:xfrm>
            <a:off x="8695055" y="3636328"/>
            <a:ext cx="1524000" cy="15240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3577" name="直接连接符 23576"/>
          <p:cNvSpPr/>
          <p:nvPr/>
        </p:nvSpPr>
        <p:spPr>
          <a:xfrm flipH="1">
            <a:off x="6359843" y="3660140"/>
            <a:ext cx="236855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3578" name="直接连接符 23577"/>
          <p:cNvSpPr/>
          <p:nvPr/>
        </p:nvSpPr>
        <p:spPr>
          <a:xfrm flipV="1">
            <a:off x="8718868" y="1877378"/>
            <a:ext cx="0" cy="177165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3579" name="文本框 23578"/>
          <p:cNvSpPr txBox="1"/>
          <p:nvPr/>
        </p:nvSpPr>
        <p:spPr>
          <a:xfrm>
            <a:off x="7642543" y="3210878"/>
            <a:ext cx="409575" cy="24447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algn="ctr"/>
            <a:r>
              <a:rPr lang="zh-CN" altLang="en-US" sz="1000" b="1">
                <a:solidFill>
                  <a:srgbClr val="FF3300"/>
                </a:solidFill>
                <a:latin typeface="Times New Roman" panose="02020603050405020304" pitchFamily="18" charset="0"/>
              </a:rPr>
              <a:t>●</a:t>
            </a:r>
            <a:endParaRPr lang="zh-CN" altLang="en-US" sz="1000" b="1">
              <a:latin typeface="Times New Roman" panose="02020603050405020304" pitchFamily="18" charset="0"/>
            </a:endParaRPr>
          </a:p>
        </p:txBody>
      </p:sp>
      <p:sp>
        <p:nvSpPr>
          <p:cNvPr id="23580" name="文本框 23579"/>
          <p:cNvSpPr txBox="1"/>
          <p:nvPr/>
        </p:nvSpPr>
        <p:spPr>
          <a:xfrm>
            <a:off x="9161780" y="3212465"/>
            <a:ext cx="300038" cy="2286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900" b="1">
                <a:solidFill>
                  <a:srgbClr val="FF3300"/>
                </a:solidFill>
                <a:latin typeface="Times New Roman" panose="02020603050405020304" pitchFamily="18" charset="0"/>
              </a:rPr>
              <a:t>●</a:t>
            </a:r>
            <a:endParaRPr lang="zh-CN" altLang="en-US" b="1">
              <a:latin typeface="Times New Roman" panose="02020603050405020304" pitchFamily="18" charset="0"/>
            </a:endParaRPr>
          </a:p>
        </p:txBody>
      </p:sp>
      <p:sp>
        <p:nvSpPr>
          <p:cNvPr id="23581" name="文本框 23580"/>
          <p:cNvSpPr txBox="1"/>
          <p:nvPr/>
        </p:nvSpPr>
        <p:spPr>
          <a:xfrm>
            <a:off x="5559743" y="3012440"/>
            <a:ext cx="184150" cy="366713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23582" name="文本框 23581"/>
          <p:cNvSpPr txBox="1"/>
          <p:nvPr/>
        </p:nvSpPr>
        <p:spPr>
          <a:xfrm>
            <a:off x="7125018" y="2655253"/>
            <a:ext cx="287337" cy="214312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800" b="1">
                <a:solidFill>
                  <a:srgbClr val="FF3300"/>
                </a:solidFill>
                <a:latin typeface="Times New Roman" panose="02020603050405020304" pitchFamily="18" charset="0"/>
              </a:rPr>
              <a:t>●</a:t>
            </a:r>
            <a:endParaRPr lang="zh-CN" altLang="en-US" sz="800" b="1">
              <a:latin typeface="Times New Roman" panose="02020603050405020304" pitchFamily="18" charset="0"/>
            </a:endParaRPr>
          </a:p>
        </p:txBody>
      </p:sp>
      <p:sp>
        <p:nvSpPr>
          <p:cNvPr id="23583" name="文本框 23582"/>
          <p:cNvSpPr txBox="1"/>
          <p:nvPr/>
        </p:nvSpPr>
        <p:spPr>
          <a:xfrm>
            <a:off x="7709218" y="4099878"/>
            <a:ext cx="300037" cy="2286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900" b="1">
                <a:solidFill>
                  <a:srgbClr val="FF3300"/>
                </a:solidFill>
                <a:latin typeface="Times New Roman" panose="02020603050405020304" pitchFamily="18" charset="0"/>
              </a:rPr>
              <a:t>●</a:t>
            </a:r>
            <a:endParaRPr lang="zh-CN" altLang="en-US" sz="900" b="1">
              <a:latin typeface="Times New Roman" panose="02020603050405020304" pitchFamily="18" charset="0"/>
            </a:endParaRPr>
          </a:p>
        </p:txBody>
      </p:sp>
      <p:sp>
        <p:nvSpPr>
          <p:cNvPr id="23584" name="文本框 23583"/>
          <p:cNvSpPr txBox="1"/>
          <p:nvPr/>
        </p:nvSpPr>
        <p:spPr>
          <a:xfrm>
            <a:off x="6326505" y="3341053"/>
            <a:ext cx="336550" cy="366712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b="1" i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23585" name="文本框 23584"/>
          <p:cNvSpPr txBox="1"/>
          <p:nvPr/>
        </p:nvSpPr>
        <p:spPr>
          <a:xfrm>
            <a:off x="10030143" y="4766628"/>
            <a:ext cx="349250" cy="366712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b="1">
                <a:latin typeface="Times New Roman" panose="02020603050405020304" pitchFamily="18" charset="0"/>
              </a:rPr>
              <a:t>Y</a:t>
            </a:r>
          </a:p>
        </p:txBody>
      </p:sp>
      <p:sp>
        <p:nvSpPr>
          <p:cNvPr id="23586" name="文本框 23585"/>
          <p:cNvSpPr txBox="1"/>
          <p:nvPr/>
        </p:nvSpPr>
        <p:spPr>
          <a:xfrm>
            <a:off x="8433118" y="1861503"/>
            <a:ext cx="323850" cy="366712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b="1" i="1">
                <a:latin typeface="Times New Roman" panose="02020603050405020304" pitchFamily="18" charset="0"/>
              </a:rPr>
              <a:t>Z</a:t>
            </a:r>
          </a:p>
        </p:txBody>
      </p:sp>
      <p:sp>
        <p:nvSpPr>
          <p:cNvPr id="23587" name="文本框 23586"/>
          <p:cNvSpPr txBox="1"/>
          <p:nvPr/>
        </p:nvSpPr>
        <p:spPr>
          <a:xfrm>
            <a:off x="8712518" y="3461703"/>
            <a:ext cx="361950" cy="366712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b="1">
                <a:latin typeface="Times New Roman" panose="02020603050405020304" pitchFamily="18" charset="0"/>
              </a:rPr>
              <a:t>O</a:t>
            </a:r>
          </a:p>
        </p:txBody>
      </p:sp>
      <p:sp>
        <p:nvSpPr>
          <p:cNvPr id="23588" name="文本框 23587"/>
          <p:cNvSpPr txBox="1"/>
          <p:nvPr/>
        </p:nvSpPr>
        <p:spPr>
          <a:xfrm>
            <a:off x="6632893" y="2183765"/>
            <a:ext cx="3873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i="1">
                <a:latin typeface="Times New Roman" panose="02020603050405020304" pitchFamily="18" charset="0"/>
              </a:rPr>
              <a:t>V</a:t>
            </a:r>
            <a:endParaRPr lang="en-US" altLang="zh-CN" b="1" i="1">
              <a:latin typeface="Times New Roman" panose="02020603050405020304" pitchFamily="18" charset="0"/>
            </a:endParaRPr>
          </a:p>
        </p:txBody>
      </p:sp>
      <p:sp>
        <p:nvSpPr>
          <p:cNvPr id="23589" name="文本框 23588"/>
          <p:cNvSpPr txBox="1"/>
          <p:nvPr/>
        </p:nvSpPr>
        <p:spPr>
          <a:xfrm>
            <a:off x="7810818" y="4539615"/>
            <a:ext cx="42068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i="1">
                <a:latin typeface="Times New Roman" panose="02020603050405020304" pitchFamily="18" charset="0"/>
              </a:rPr>
              <a:t>H</a:t>
            </a:r>
            <a:endParaRPr lang="en-US" altLang="zh-CN" b="1" i="1">
              <a:latin typeface="Times New Roman" panose="02020603050405020304" pitchFamily="18" charset="0"/>
            </a:endParaRPr>
          </a:p>
        </p:txBody>
      </p:sp>
      <p:sp>
        <p:nvSpPr>
          <p:cNvPr id="23590" name="文本框 23589"/>
          <p:cNvSpPr txBox="1"/>
          <p:nvPr/>
        </p:nvSpPr>
        <p:spPr>
          <a:xfrm>
            <a:off x="9563418" y="3317240"/>
            <a:ext cx="455612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i="1">
                <a:latin typeface="Times New Roman" panose="02020603050405020304" pitchFamily="18" charset="0"/>
              </a:rPr>
              <a:t>W</a:t>
            </a:r>
            <a:endParaRPr lang="en-US" altLang="zh-CN" b="1" i="1">
              <a:latin typeface="Times New Roman" panose="02020603050405020304" pitchFamily="18" charset="0"/>
            </a:endParaRPr>
          </a:p>
        </p:txBody>
      </p:sp>
      <p:sp>
        <p:nvSpPr>
          <p:cNvPr id="23591" name="文本框 23590"/>
          <p:cNvSpPr txBox="1"/>
          <p:nvPr/>
        </p:nvSpPr>
        <p:spPr>
          <a:xfrm>
            <a:off x="7794943" y="3014028"/>
            <a:ext cx="349250" cy="366712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b="1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23592" name="文本框 23591"/>
          <p:cNvSpPr txBox="1"/>
          <p:nvPr/>
        </p:nvSpPr>
        <p:spPr>
          <a:xfrm>
            <a:off x="7559993" y="4018915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endParaRPr lang="en-US" altLang="zh-CN" b="1" i="1">
              <a:latin typeface="Times New Roman" panose="02020603050405020304" pitchFamily="18" charset="0"/>
            </a:endParaRPr>
          </a:p>
        </p:txBody>
      </p:sp>
      <p:sp>
        <p:nvSpPr>
          <p:cNvPr id="23593" name="文本框 23592"/>
          <p:cNvSpPr txBox="1"/>
          <p:nvPr/>
        </p:nvSpPr>
        <p:spPr>
          <a:xfrm>
            <a:off x="9290368" y="3009265"/>
            <a:ext cx="461962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</a:t>
            </a:r>
            <a:endParaRPr lang="en-US" altLang="zh-CN" sz="2400" b="1" i="1">
              <a:latin typeface="Times New Roman" panose="02020603050405020304" pitchFamily="18" charset="0"/>
              <a:sym typeface="UniversalMath1 BT" panose="05050102010205020602" pitchFamily="18" charset="2"/>
            </a:endParaRPr>
          </a:p>
        </p:txBody>
      </p:sp>
      <p:sp>
        <p:nvSpPr>
          <p:cNvPr id="23594" name="文本框 23593"/>
          <p:cNvSpPr txBox="1"/>
          <p:nvPr/>
        </p:nvSpPr>
        <p:spPr>
          <a:xfrm>
            <a:off x="6994843" y="2386965"/>
            <a:ext cx="4127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i="1">
                <a:latin typeface="Times New Roman" panose="02020603050405020304" pitchFamily="18" charset="0"/>
                <a:sym typeface="EuroRoman" panose="00000400000000000000" pitchFamily="2" charset="2"/>
              </a:rPr>
              <a:t>a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endParaRPr lang="en-US" altLang="zh-CN" sz="2400" b="1" i="1">
              <a:latin typeface="Times New Roman" panose="02020603050405020304" pitchFamily="18" charset="0"/>
              <a:sym typeface="UniversalMath1 BT" panose="05050102010205020602" pitchFamily="18" charset="2"/>
            </a:endParaRPr>
          </a:p>
        </p:txBody>
      </p:sp>
      <p:grpSp>
        <p:nvGrpSpPr>
          <p:cNvPr id="23595" name="组合 23594"/>
          <p:cNvGrpSpPr/>
          <p:nvPr/>
        </p:nvGrpSpPr>
        <p:grpSpPr>
          <a:xfrm>
            <a:off x="6788468" y="3195003"/>
            <a:ext cx="446087" cy="468312"/>
            <a:chOff x="0" y="0"/>
            <a:chExt cx="281" cy="295"/>
          </a:xfrm>
        </p:grpSpPr>
        <p:sp>
          <p:nvSpPr>
            <p:cNvPr id="23596" name="文本框 23595"/>
            <p:cNvSpPr txBox="1"/>
            <p:nvPr/>
          </p:nvSpPr>
          <p:spPr>
            <a:xfrm>
              <a:off x="96" y="122"/>
              <a:ext cx="185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1" baseline="-25000"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23597" name="文本框 23596"/>
            <p:cNvSpPr txBox="1"/>
            <p:nvPr/>
          </p:nvSpPr>
          <p:spPr>
            <a:xfrm>
              <a:off x="0" y="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a</a:t>
              </a:r>
              <a:endParaRPr lang="en-US" altLang="zh-CN" b="1" i="1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3598" name="组合 23597"/>
          <p:cNvGrpSpPr/>
          <p:nvPr/>
        </p:nvGrpSpPr>
        <p:grpSpPr>
          <a:xfrm>
            <a:off x="8302943" y="2366328"/>
            <a:ext cx="457200" cy="457200"/>
            <a:chOff x="0" y="0"/>
            <a:chExt cx="288" cy="288"/>
          </a:xfrm>
        </p:grpSpPr>
        <p:sp>
          <p:nvSpPr>
            <p:cNvPr id="23599" name="文本框 23598"/>
            <p:cNvSpPr txBox="1"/>
            <p:nvPr/>
          </p:nvSpPr>
          <p:spPr>
            <a:xfrm>
              <a:off x="0" y="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a</a:t>
              </a:r>
              <a:endParaRPr lang="en-US" altLang="zh-CN" b="1" i="1">
                <a:latin typeface="Times New Roman" panose="02020603050405020304" pitchFamily="18" charset="0"/>
              </a:endParaRPr>
            </a:p>
          </p:txBody>
        </p:sp>
        <p:sp>
          <p:nvSpPr>
            <p:cNvPr id="23600" name="文本框 23599"/>
            <p:cNvSpPr txBox="1"/>
            <p:nvPr/>
          </p:nvSpPr>
          <p:spPr>
            <a:xfrm>
              <a:off x="108" y="101"/>
              <a:ext cx="180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1" baseline="-25000">
                  <a:latin typeface="Times New Roman" panose="02020603050405020304" pitchFamily="18" charset="0"/>
                </a:rPr>
                <a:t>Z</a:t>
              </a:r>
            </a:p>
          </p:txBody>
        </p:sp>
      </p:grpSp>
      <p:grpSp>
        <p:nvGrpSpPr>
          <p:cNvPr id="23601" name="组合 23600"/>
          <p:cNvGrpSpPr/>
          <p:nvPr/>
        </p:nvGrpSpPr>
        <p:grpSpPr>
          <a:xfrm>
            <a:off x="9264968" y="3915728"/>
            <a:ext cx="514350" cy="457200"/>
            <a:chOff x="0" y="0"/>
            <a:chExt cx="324" cy="288"/>
          </a:xfrm>
        </p:grpSpPr>
        <p:sp>
          <p:nvSpPr>
            <p:cNvPr id="23602" name="文本框 23601"/>
            <p:cNvSpPr txBox="1"/>
            <p:nvPr/>
          </p:nvSpPr>
          <p:spPr>
            <a:xfrm>
              <a:off x="0" y="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a</a:t>
              </a:r>
              <a:endParaRPr lang="en-US" altLang="zh-CN" b="1" i="1">
                <a:latin typeface="Times New Roman" panose="02020603050405020304" pitchFamily="18" charset="0"/>
              </a:endParaRPr>
            </a:p>
          </p:txBody>
        </p:sp>
        <p:sp>
          <p:nvSpPr>
            <p:cNvPr id="23603" name="文本框 23602"/>
            <p:cNvSpPr txBox="1"/>
            <p:nvPr/>
          </p:nvSpPr>
          <p:spPr>
            <a:xfrm>
              <a:off x="139" y="102"/>
              <a:ext cx="185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1" baseline="-25000">
                  <a:latin typeface="Times New Roman" panose="02020603050405020304" pitchFamily="18" charset="0"/>
                </a:rPr>
                <a:t>Y</a:t>
              </a:r>
            </a:p>
          </p:txBody>
        </p:sp>
      </p:grpSp>
      <p:sp>
        <p:nvSpPr>
          <p:cNvPr id="23604" name="文本框 23603"/>
          <p:cNvSpPr txBox="1"/>
          <p:nvPr/>
        </p:nvSpPr>
        <p:spPr>
          <a:xfrm>
            <a:off x="5537518" y="3369628"/>
            <a:ext cx="184150" cy="366712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23605" name="矩形标注 23604"/>
          <p:cNvSpPr/>
          <p:nvPr/>
        </p:nvSpPr>
        <p:spPr>
          <a:xfrm>
            <a:off x="9493568" y="1698943"/>
            <a:ext cx="1162050" cy="521969"/>
          </a:xfrm>
          <a:prstGeom prst="wedgeRectCallout">
            <a:avLst>
              <a:gd name="adj1" fmla="val -62843"/>
              <a:gd name="adj2" fmla="val 130611"/>
            </a:avLst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>
            <a:spAutoFit/>
          </a:bodyPr>
          <a:lstStyle/>
          <a:p>
            <a:pPr algn="ctr"/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向右翻</a:t>
            </a:r>
          </a:p>
          <a:p>
            <a:pPr algn="ctr"/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转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90°</a:t>
            </a:r>
          </a:p>
        </p:txBody>
      </p:sp>
      <p:sp>
        <p:nvSpPr>
          <p:cNvPr id="23606" name="矩形标注 23605"/>
          <p:cNvSpPr/>
          <p:nvPr/>
        </p:nvSpPr>
        <p:spPr>
          <a:xfrm>
            <a:off x="5702618" y="5503546"/>
            <a:ext cx="1455737" cy="306704"/>
          </a:xfrm>
          <a:prstGeom prst="wedgeRectCallout">
            <a:avLst>
              <a:gd name="adj1" fmla="val 73009"/>
              <a:gd name="adj2" fmla="val -168583"/>
            </a:avLst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>
            <a:spAutoFit/>
          </a:bodyPr>
          <a:lstStyle/>
          <a:p>
            <a:pPr algn="ctr"/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向下翻转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90°</a:t>
            </a:r>
          </a:p>
        </p:txBody>
      </p:sp>
      <p:sp>
        <p:nvSpPr>
          <p:cNvPr id="23607" name="矩形标注 23606"/>
          <p:cNvSpPr/>
          <p:nvPr/>
        </p:nvSpPr>
        <p:spPr>
          <a:xfrm>
            <a:off x="6093143" y="1631950"/>
            <a:ext cx="1219200" cy="306704"/>
          </a:xfrm>
          <a:prstGeom prst="wedgeRectCallout">
            <a:avLst>
              <a:gd name="adj1" fmla="val 89194"/>
              <a:gd name="adj2" fmla="val 105556"/>
            </a:avLst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>
            <a:spAutoFit/>
          </a:bodyPr>
          <a:lstStyle/>
          <a:p>
            <a:pPr algn="ctr"/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不动</a:t>
            </a:r>
          </a:p>
        </p:txBody>
      </p:sp>
      <p:sp>
        <p:nvSpPr>
          <p:cNvPr id="23609" name="文本框 23608"/>
          <p:cNvSpPr txBox="1"/>
          <p:nvPr/>
        </p:nvSpPr>
        <p:spPr>
          <a:xfrm>
            <a:off x="4053205" y="4106228"/>
            <a:ext cx="4127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b="1" baseline="-25000">
                <a:latin typeface="Times New Roman" panose="02020603050405020304" pitchFamily="18" charset="0"/>
              </a:rPr>
              <a:t>y</a:t>
            </a:r>
          </a:p>
        </p:txBody>
      </p:sp>
      <p:grpSp>
        <p:nvGrpSpPr>
          <p:cNvPr id="23610" name="组合 23609"/>
          <p:cNvGrpSpPr/>
          <p:nvPr/>
        </p:nvGrpSpPr>
        <p:grpSpPr>
          <a:xfrm>
            <a:off x="4284980" y="2453640"/>
            <a:ext cx="850900" cy="2112963"/>
            <a:chOff x="0" y="0"/>
            <a:chExt cx="536" cy="1331"/>
          </a:xfrm>
        </p:grpSpPr>
        <p:sp>
          <p:nvSpPr>
            <p:cNvPr id="23611" name="文本框 23610"/>
            <p:cNvSpPr txBox="1"/>
            <p:nvPr/>
          </p:nvSpPr>
          <p:spPr>
            <a:xfrm>
              <a:off x="0" y="1100"/>
              <a:ext cx="11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3612" name="文本框 23611"/>
            <p:cNvSpPr txBox="1"/>
            <p:nvPr/>
          </p:nvSpPr>
          <p:spPr>
            <a:xfrm>
              <a:off x="341" y="0"/>
              <a:ext cx="19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</a:t>
              </a:r>
              <a:endParaRPr lang="zh-CN" altLang="en-US" sz="2400" b="1">
                <a:latin typeface="Times New Roman" panose="02020603050405020304" pitchFamily="18" charset="0"/>
                <a:sym typeface="UniversalMath1 BT" panose="05050102010205020602" pitchFamily="18" charset="2"/>
              </a:endParaRPr>
            </a:p>
          </p:txBody>
        </p:sp>
      </p:grpSp>
      <p:grpSp>
        <p:nvGrpSpPr>
          <p:cNvPr id="23613" name="组合 23612"/>
          <p:cNvGrpSpPr/>
          <p:nvPr/>
        </p:nvGrpSpPr>
        <p:grpSpPr>
          <a:xfrm>
            <a:off x="2733993" y="2439353"/>
            <a:ext cx="412750" cy="501650"/>
            <a:chOff x="0" y="0"/>
            <a:chExt cx="260" cy="316"/>
          </a:xfrm>
        </p:grpSpPr>
        <p:sp>
          <p:nvSpPr>
            <p:cNvPr id="23614" name="文本框 23613"/>
            <p:cNvSpPr txBox="1"/>
            <p:nvPr/>
          </p:nvSpPr>
          <p:spPr>
            <a:xfrm>
              <a:off x="0" y="0"/>
              <a:ext cx="26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  <a:sym typeface="EuroRoman" panose="00000400000000000000" pitchFamily="2" charset="2"/>
                </a:rPr>
                <a:t>a</a:t>
              </a:r>
              <a:r>
                <a:rPr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</a:t>
              </a:r>
              <a:endParaRPr lang="en-US" altLang="zh-CN" sz="2400" b="1" i="1">
                <a:latin typeface="Times New Roman" panose="02020603050405020304" pitchFamily="18" charset="0"/>
                <a:sym typeface="UniversalMath1 BT" panose="05050102010205020602" pitchFamily="18" charset="2"/>
              </a:endParaRPr>
            </a:p>
          </p:txBody>
        </p:sp>
        <p:sp>
          <p:nvSpPr>
            <p:cNvPr id="23615" name="文本框 23614"/>
            <p:cNvSpPr txBox="1"/>
            <p:nvPr/>
          </p:nvSpPr>
          <p:spPr>
            <a:xfrm>
              <a:off x="64" y="172"/>
              <a:ext cx="189" cy="1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9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●</a:t>
              </a:r>
              <a:endParaRPr lang="zh-CN" altLang="en-US" b="1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3616" name="组合 23615"/>
          <p:cNvGrpSpPr/>
          <p:nvPr/>
        </p:nvGrpSpPr>
        <p:grpSpPr>
          <a:xfrm>
            <a:off x="2681605" y="4085590"/>
            <a:ext cx="436563" cy="457200"/>
            <a:chOff x="0" y="0"/>
            <a:chExt cx="275" cy="288"/>
          </a:xfrm>
        </p:grpSpPr>
        <p:sp>
          <p:nvSpPr>
            <p:cNvPr id="23617" name="文本框 23616"/>
            <p:cNvSpPr txBox="1"/>
            <p:nvPr/>
          </p:nvSpPr>
          <p:spPr>
            <a:xfrm>
              <a:off x="0" y="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a</a:t>
              </a:r>
              <a:endParaRPr lang="en-US" altLang="zh-CN" b="1" i="1">
                <a:latin typeface="Times New Roman" panose="02020603050405020304" pitchFamily="18" charset="0"/>
              </a:endParaRPr>
            </a:p>
          </p:txBody>
        </p:sp>
        <p:sp>
          <p:nvSpPr>
            <p:cNvPr id="23618" name="文本框 23617"/>
            <p:cNvSpPr txBox="1"/>
            <p:nvPr/>
          </p:nvSpPr>
          <p:spPr>
            <a:xfrm>
              <a:off x="86" y="68"/>
              <a:ext cx="189" cy="1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9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●</a:t>
              </a:r>
            </a:p>
          </p:txBody>
        </p:sp>
      </p:grpSp>
      <p:grpSp>
        <p:nvGrpSpPr>
          <p:cNvPr id="23619" name="组合 23618"/>
          <p:cNvGrpSpPr/>
          <p:nvPr/>
        </p:nvGrpSpPr>
        <p:grpSpPr>
          <a:xfrm>
            <a:off x="4734243" y="2456815"/>
            <a:ext cx="336550" cy="1500188"/>
            <a:chOff x="0" y="0"/>
            <a:chExt cx="212" cy="945"/>
          </a:xfrm>
        </p:grpSpPr>
        <p:sp>
          <p:nvSpPr>
            <p:cNvPr id="23620" name="文本框 23619"/>
            <p:cNvSpPr txBox="1"/>
            <p:nvPr/>
          </p:nvSpPr>
          <p:spPr>
            <a:xfrm>
              <a:off x="96" y="772"/>
              <a:ext cx="116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endParaRPr lang="zh-CN" altLang="en-US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3621" name="文本框 23620"/>
            <p:cNvSpPr txBox="1"/>
            <p:nvPr/>
          </p:nvSpPr>
          <p:spPr>
            <a:xfrm>
              <a:off x="0" y="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a</a:t>
              </a:r>
              <a:endParaRPr lang="en-US" altLang="zh-CN" b="1" i="1">
                <a:latin typeface="Times New Roman" panose="02020603050405020304" pitchFamily="18" charset="0"/>
              </a:endParaRPr>
            </a:p>
          </p:txBody>
        </p:sp>
      </p:grpSp>
      <p:sp>
        <p:nvSpPr>
          <p:cNvPr id="23622" name="文本框 23621"/>
          <p:cNvSpPr txBox="1"/>
          <p:nvPr/>
        </p:nvSpPr>
        <p:spPr>
          <a:xfrm>
            <a:off x="3921443" y="2526665"/>
            <a:ext cx="285750" cy="366713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b="1">
                <a:latin typeface="Times New Roman" panose="02020603050405020304" pitchFamily="18" charset="0"/>
              </a:rPr>
              <a:t>z</a:t>
            </a:r>
          </a:p>
        </p:txBody>
      </p:sp>
      <p:sp>
        <p:nvSpPr>
          <p:cNvPr id="23623" name="文本框 23622"/>
          <p:cNvSpPr txBox="1"/>
          <p:nvPr/>
        </p:nvSpPr>
        <p:spPr>
          <a:xfrm>
            <a:off x="4629468" y="2717165"/>
            <a:ext cx="300037" cy="2286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900" b="1">
                <a:solidFill>
                  <a:srgbClr val="FF3300"/>
                </a:solidFill>
                <a:latin typeface="Times New Roman" panose="02020603050405020304" pitchFamily="18" charset="0"/>
              </a:rPr>
              <a:t>●</a:t>
            </a:r>
          </a:p>
        </p:txBody>
      </p:sp>
      <p:sp>
        <p:nvSpPr>
          <p:cNvPr id="23624" name="文本框 23623"/>
          <p:cNvSpPr txBox="1"/>
          <p:nvPr/>
        </p:nvSpPr>
        <p:spPr>
          <a:xfrm>
            <a:off x="2770505" y="3436303"/>
            <a:ext cx="260350" cy="274637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b="1" baseline="-25000">
                <a:latin typeface="Times New Roman" panose="02020603050405020304" pitchFamily="18" charset="0"/>
              </a:rPr>
              <a:t>x</a:t>
            </a:r>
          </a:p>
        </p:txBody>
      </p:sp>
      <p:grpSp>
        <p:nvGrpSpPr>
          <p:cNvPr id="23625" name="组合 23624"/>
          <p:cNvGrpSpPr/>
          <p:nvPr/>
        </p:nvGrpSpPr>
        <p:grpSpPr>
          <a:xfrm>
            <a:off x="2594293" y="2434590"/>
            <a:ext cx="1543050" cy="1323975"/>
            <a:chOff x="0" y="0"/>
            <a:chExt cx="972" cy="834"/>
          </a:xfrm>
        </p:grpSpPr>
        <p:sp>
          <p:nvSpPr>
            <p:cNvPr id="23626" name="文本框 23625"/>
            <p:cNvSpPr txBox="1"/>
            <p:nvPr/>
          </p:nvSpPr>
          <p:spPr>
            <a:xfrm>
              <a:off x="0" y="546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a</a:t>
              </a:r>
              <a:endParaRPr lang="en-US" altLang="zh-CN" b="1" i="1">
                <a:latin typeface="Times New Roman" panose="02020603050405020304" pitchFamily="18" charset="0"/>
              </a:endParaRPr>
            </a:p>
          </p:txBody>
        </p:sp>
        <p:sp>
          <p:nvSpPr>
            <p:cNvPr id="23627" name="文本框 23626"/>
            <p:cNvSpPr txBox="1"/>
            <p:nvPr/>
          </p:nvSpPr>
          <p:spPr>
            <a:xfrm>
              <a:off x="745" y="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a</a:t>
              </a:r>
              <a:endParaRPr lang="en-US" altLang="zh-CN" b="1" i="1">
                <a:latin typeface="Times New Roman" panose="02020603050405020304" pitchFamily="18" charset="0"/>
              </a:endParaRPr>
            </a:p>
          </p:txBody>
        </p:sp>
        <p:sp>
          <p:nvSpPr>
            <p:cNvPr id="23628" name="直接连接符 23627"/>
            <p:cNvSpPr/>
            <p:nvPr/>
          </p:nvSpPr>
          <p:spPr>
            <a:xfrm>
              <a:off x="246" y="257"/>
              <a:ext cx="726" cy="0"/>
            </a:xfrm>
            <a:prstGeom prst="line">
              <a:avLst/>
            </a:prstGeom>
            <a:ln w="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629" name="直接连接符 23628"/>
            <p:cNvSpPr/>
            <p:nvPr/>
          </p:nvSpPr>
          <p:spPr>
            <a:xfrm flipH="1">
              <a:off x="237" y="245"/>
              <a:ext cx="9" cy="538"/>
            </a:xfrm>
            <a:prstGeom prst="line">
              <a:avLst/>
            </a:prstGeom>
            <a:ln w="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3630" name="组合 23629"/>
          <p:cNvGrpSpPr/>
          <p:nvPr/>
        </p:nvGrpSpPr>
        <p:grpSpPr>
          <a:xfrm>
            <a:off x="2961005" y="3658553"/>
            <a:ext cx="1203325" cy="647700"/>
            <a:chOff x="0" y="0"/>
            <a:chExt cx="758" cy="408"/>
          </a:xfrm>
        </p:grpSpPr>
        <p:sp>
          <p:nvSpPr>
            <p:cNvPr id="23631" name="直接连接符 23630"/>
            <p:cNvSpPr/>
            <p:nvPr/>
          </p:nvSpPr>
          <p:spPr>
            <a:xfrm>
              <a:off x="0" y="408"/>
              <a:ext cx="758" cy="0"/>
            </a:xfrm>
            <a:prstGeom prst="line">
              <a:avLst/>
            </a:prstGeom>
            <a:ln w="127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632" name="直接连接符 23631"/>
            <p:cNvSpPr/>
            <p:nvPr/>
          </p:nvSpPr>
          <p:spPr>
            <a:xfrm flipV="1">
              <a:off x="9" y="0"/>
              <a:ext cx="0" cy="408"/>
            </a:xfrm>
            <a:prstGeom prst="line">
              <a:avLst/>
            </a:prstGeom>
            <a:ln w="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3633" name="组合 23632"/>
          <p:cNvGrpSpPr/>
          <p:nvPr/>
        </p:nvGrpSpPr>
        <p:grpSpPr>
          <a:xfrm>
            <a:off x="4097655" y="2839403"/>
            <a:ext cx="939800" cy="1471612"/>
            <a:chOff x="0" y="0"/>
            <a:chExt cx="592" cy="927"/>
          </a:xfrm>
        </p:grpSpPr>
        <p:sp>
          <p:nvSpPr>
            <p:cNvPr id="23634" name="文本框 23633"/>
            <p:cNvSpPr txBox="1"/>
            <p:nvPr/>
          </p:nvSpPr>
          <p:spPr>
            <a:xfrm>
              <a:off x="337" y="446"/>
              <a:ext cx="25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a</a:t>
              </a:r>
              <a:r>
                <a:rPr lang="en-US" altLang="zh-CN" b="1" i="1" baseline="-25000">
                  <a:latin typeface="Times New Roman" panose="02020603050405020304" pitchFamily="18" charset="0"/>
                </a:rPr>
                <a:t>y</a:t>
              </a:r>
            </a:p>
          </p:txBody>
        </p:sp>
        <p:grpSp>
          <p:nvGrpSpPr>
            <p:cNvPr id="23635" name="组合 23634"/>
            <p:cNvGrpSpPr/>
            <p:nvPr/>
          </p:nvGrpSpPr>
          <p:grpSpPr>
            <a:xfrm>
              <a:off x="0" y="0"/>
              <a:ext cx="430" cy="927"/>
              <a:chOff x="0" y="0"/>
              <a:chExt cx="430" cy="927"/>
            </a:xfrm>
          </p:grpSpPr>
          <p:sp>
            <p:nvSpPr>
              <p:cNvPr id="23636" name="未知"/>
              <p:cNvSpPr/>
              <p:nvPr/>
            </p:nvSpPr>
            <p:spPr>
              <a:xfrm>
                <a:off x="27" y="530"/>
                <a:ext cx="403" cy="397"/>
              </a:xfrm>
              <a:custGeom>
                <a:avLst/>
                <a:gdLst/>
                <a:ahLst/>
                <a:cxnLst/>
                <a:rect l="0" t="0" r="0" b="0"/>
                <a:pathLst>
                  <a:path w="403" h="397">
                    <a:moveTo>
                      <a:pt x="0" y="397"/>
                    </a:moveTo>
                    <a:lnTo>
                      <a:pt x="403" y="0"/>
                    </a:lnTo>
                  </a:path>
                </a:pathLst>
              </a:custGeom>
              <a:noFill/>
              <a:ln w="12700" cap="flat" cmpd="sng">
                <a:solidFill>
                  <a:srgbClr val="FF33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637" name="直接连接符 23636"/>
              <p:cNvSpPr/>
              <p:nvPr/>
            </p:nvSpPr>
            <p:spPr>
              <a:xfrm flipV="1">
                <a:off x="422" y="5"/>
                <a:ext cx="0" cy="533"/>
              </a:xfrm>
              <a:prstGeom prst="line">
                <a:avLst/>
              </a:prstGeom>
              <a:ln w="12700" cap="flat" cmpd="sng">
                <a:solidFill>
                  <a:srgbClr val="FF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3638" name="直接连接符 23637"/>
              <p:cNvSpPr/>
              <p:nvPr/>
            </p:nvSpPr>
            <p:spPr>
              <a:xfrm>
                <a:off x="0" y="0"/>
                <a:ext cx="408" cy="0"/>
              </a:xfrm>
              <a:prstGeom prst="line">
                <a:avLst/>
              </a:prstGeom>
              <a:ln w="0" cap="flat" cmpd="sng">
                <a:solidFill>
                  <a:srgbClr val="FF33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23639" name="组合 23638"/>
          <p:cNvGrpSpPr/>
          <p:nvPr/>
        </p:nvGrpSpPr>
        <p:grpSpPr>
          <a:xfrm>
            <a:off x="1707198" y="1936115"/>
            <a:ext cx="4392612" cy="3240088"/>
            <a:chOff x="0" y="0"/>
            <a:chExt cx="2767" cy="2041"/>
          </a:xfrm>
        </p:grpSpPr>
        <p:sp>
          <p:nvSpPr>
            <p:cNvPr id="23640" name="文本框 23639"/>
            <p:cNvSpPr txBox="1"/>
            <p:nvPr/>
          </p:nvSpPr>
          <p:spPr>
            <a:xfrm>
              <a:off x="1511" y="0"/>
              <a:ext cx="204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1" i="1">
                  <a:latin typeface="Times New Roman" panose="02020603050405020304" pitchFamily="18" charset="0"/>
                </a:rPr>
                <a:t>Z</a:t>
              </a:r>
            </a:p>
          </p:txBody>
        </p:sp>
        <p:sp>
          <p:nvSpPr>
            <p:cNvPr id="23641" name="文本框 23640"/>
            <p:cNvSpPr txBox="1"/>
            <p:nvPr/>
          </p:nvSpPr>
          <p:spPr>
            <a:xfrm>
              <a:off x="0" y="920"/>
              <a:ext cx="22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1"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23642" name="文本框 23641"/>
            <p:cNvSpPr txBox="1"/>
            <p:nvPr/>
          </p:nvSpPr>
          <p:spPr>
            <a:xfrm>
              <a:off x="1503" y="1716"/>
              <a:ext cx="204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1" i="1"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23643" name="文本框 23642"/>
            <p:cNvSpPr txBox="1"/>
            <p:nvPr/>
          </p:nvSpPr>
          <p:spPr>
            <a:xfrm>
              <a:off x="2369" y="906"/>
              <a:ext cx="204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1" i="1"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23644" name="文本框 23643"/>
            <p:cNvSpPr txBox="1"/>
            <p:nvPr/>
          </p:nvSpPr>
          <p:spPr>
            <a:xfrm>
              <a:off x="1507" y="922"/>
              <a:ext cx="22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1">
                  <a:latin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23645" name="直接连接符 23644"/>
            <p:cNvSpPr/>
            <p:nvPr/>
          </p:nvSpPr>
          <p:spPr>
            <a:xfrm>
              <a:off x="46" y="1089"/>
              <a:ext cx="272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646" name="直接连接符 23645"/>
            <p:cNvSpPr/>
            <p:nvPr/>
          </p:nvSpPr>
          <p:spPr>
            <a:xfrm>
              <a:off x="1524" y="91"/>
              <a:ext cx="0" cy="195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6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6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3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6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6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3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36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36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35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35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35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35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605" grpId="0" bldLvl="0" animBg="1"/>
      <p:bldP spid="23606" grpId="0" bldLvl="0" animBg="1"/>
      <p:bldP spid="23607" grpId="0" bldLvl="0" animBg="1"/>
      <p:bldP spid="23609" grpId="0"/>
      <p:bldP spid="23622" grpId="0"/>
      <p:bldP spid="23623" grpId="0"/>
      <p:bldP spid="2362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11" name="文本框 24610"/>
          <p:cNvSpPr txBox="1"/>
          <p:nvPr/>
        </p:nvSpPr>
        <p:spPr>
          <a:xfrm>
            <a:off x="2286635" y="4007168"/>
            <a:ext cx="1318895" cy="306705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r>
              <a:rPr lang="zh-CN" altLang="en-US" sz="1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① </a:t>
            </a:r>
            <a:r>
              <a:rPr lang="zh-CN" altLang="en-US" sz="1400" b="1" i="1" dirty="0">
                <a:latin typeface="Times New Roman" panose="02020603050405020304" pitchFamily="18" charset="0"/>
                <a:sym typeface="EuroRoman" panose="00000400000000000000" pitchFamily="2" charset="2"/>
              </a:rPr>
              <a:t>a</a:t>
            </a:r>
            <a:r>
              <a:rPr lang="zh-CN" altLang="en-US" sz="1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zh-CN" altLang="en-US" sz="1400" b="1" i="1" dirty="0">
                <a:latin typeface="Times New Roman" panose="02020603050405020304" pitchFamily="18" charset="0"/>
              </a:rPr>
              <a:t>a⊥OX</a:t>
            </a:r>
            <a:r>
              <a:rPr lang="en-US" altLang="zh-CN" sz="1400" b="1" i="1">
                <a:latin typeface="Times New Roman" panose="02020603050405020304" pitchFamily="18" charset="0"/>
              </a:rPr>
              <a:t>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轴</a:t>
            </a:r>
          </a:p>
        </p:txBody>
      </p:sp>
      <p:sp>
        <p:nvSpPr>
          <p:cNvPr id="24612" name="文本框 24611"/>
          <p:cNvSpPr txBox="1"/>
          <p:nvPr/>
        </p:nvSpPr>
        <p:spPr>
          <a:xfrm>
            <a:off x="2283460" y="4604068"/>
            <a:ext cx="8585200" cy="30670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zh-CN" altLang="en-US" sz="1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② </a:t>
            </a:r>
            <a:r>
              <a:rPr lang="zh-CN" altLang="en-US" sz="1400" b="1" i="1" dirty="0">
                <a:latin typeface="Times New Roman" panose="02020603050405020304" pitchFamily="18" charset="0"/>
              </a:rPr>
              <a:t>aa</a:t>
            </a:r>
            <a:r>
              <a:rPr lang="zh-CN" altLang="en-US" sz="1400" b="1" i="1" baseline="-25000" dirty="0">
                <a:latin typeface="Times New Roman" panose="02020603050405020304" pitchFamily="18" charset="0"/>
              </a:rPr>
              <a:t>x</a:t>
            </a:r>
            <a:r>
              <a:rPr lang="zh-CN" altLang="en-US" sz="1400" b="1" i="1" dirty="0">
                <a:latin typeface="Times New Roman" panose="02020603050405020304" pitchFamily="18" charset="0"/>
              </a:rPr>
              <a:t>= a</a:t>
            </a:r>
            <a:r>
              <a:rPr lang="zh-CN" altLang="en-US" sz="1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</a:t>
            </a:r>
            <a:r>
              <a:rPr lang="zh-CN" altLang="en-US" sz="1400" b="1" i="1" dirty="0">
                <a:latin typeface="Times New Roman" panose="02020603050405020304" pitchFamily="18" charset="0"/>
              </a:rPr>
              <a:t>a</a:t>
            </a:r>
            <a:r>
              <a:rPr lang="zh-CN" altLang="en-US" sz="1400" b="1" i="1" baseline="-25000" dirty="0">
                <a:latin typeface="Times New Roman" panose="02020603050405020304" pitchFamily="18" charset="0"/>
              </a:rPr>
              <a:t>z</a:t>
            </a:r>
            <a:r>
              <a:rPr lang="zh-CN" altLang="en-US" sz="1400" b="1" i="1" dirty="0">
                <a:latin typeface="Times New Roman" panose="02020603050405020304" pitchFamily="18" charset="0"/>
              </a:rPr>
              <a:t>= </a:t>
            </a:r>
            <a:r>
              <a:rPr lang="zh-CN" altLang="en-US" sz="14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400" b="1" i="1">
                <a:latin typeface="Times New Roman" panose="02020603050405020304" pitchFamily="18" charset="0"/>
              </a:rPr>
              <a:t>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到</a:t>
            </a:r>
            <a:r>
              <a:rPr lang="zh-CN" altLang="en-US" sz="1400" b="1" i="1" dirty="0">
                <a:effectLst>
                  <a:outerShdw blurRad="38100" dist="38100" dir="2700000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</a:t>
            </a:r>
            <a:r>
              <a:rPr lang="en-US" altLang="zh-CN" sz="1400" b="1" i="1">
                <a:effectLst>
                  <a:outerShdw blurRad="38100" dist="38100" dir="2700000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面的距离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=</a:t>
            </a:r>
            <a:r>
              <a:rPr lang="en-US" altLang="zh-CN" sz="1400" b="1" i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 </a:t>
            </a:r>
            <a:r>
              <a:rPr lang="en-US" altLang="zh-CN" sz="1400" b="1" i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y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坐标</a:t>
            </a:r>
          </a:p>
        </p:txBody>
      </p:sp>
      <p:sp>
        <p:nvSpPr>
          <p:cNvPr id="24613" name="文本框 24612"/>
          <p:cNvSpPr txBox="1"/>
          <p:nvPr/>
        </p:nvSpPr>
        <p:spPr>
          <a:xfrm>
            <a:off x="2446655" y="5202556"/>
            <a:ext cx="8972550" cy="30670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zh-CN" altLang="en-US" sz="1400" b="1" dirty="0">
                <a:latin typeface="楷体_GB2312" panose="02010609030101010101" pitchFamily="49" charset="-122"/>
                <a:ea typeface="楷体_GB2312" panose="02010609030101010101" pitchFamily="49" charset="-122"/>
                <a:sym typeface="EuroRoman" panose="00000400000000000000" pitchFamily="2" charset="2"/>
              </a:rPr>
              <a:t> </a:t>
            </a:r>
            <a:r>
              <a:rPr lang="zh-CN" altLang="en-US" sz="1400" b="1" i="1" dirty="0">
                <a:latin typeface="Times New Roman" panose="02020603050405020304" pitchFamily="18" charset="0"/>
                <a:sym typeface="EuroRoman" panose="00000400000000000000" pitchFamily="2" charset="2"/>
              </a:rPr>
              <a:t>a</a:t>
            </a:r>
            <a:r>
              <a:rPr lang="zh-CN" altLang="en-US" sz="1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zh-CN" altLang="en-US" sz="1400" b="1" i="1" dirty="0">
                <a:latin typeface="Times New Roman" panose="02020603050405020304" pitchFamily="18" charset="0"/>
              </a:rPr>
              <a:t>a</a:t>
            </a:r>
            <a:r>
              <a:rPr lang="zh-CN" altLang="en-US" sz="1400" b="1" i="1" baseline="-25000" dirty="0">
                <a:latin typeface="Times New Roman" panose="02020603050405020304" pitchFamily="18" charset="0"/>
              </a:rPr>
              <a:t>x</a:t>
            </a:r>
            <a:r>
              <a:rPr lang="zh-CN" altLang="en-US" sz="1400" b="1" i="1" dirty="0">
                <a:latin typeface="Times New Roman" panose="02020603050405020304" pitchFamily="18" charset="0"/>
              </a:rPr>
              <a:t>= a</a:t>
            </a:r>
            <a:r>
              <a:rPr lang="zh-CN" altLang="en-US" sz="1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</a:t>
            </a:r>
            <a:r>
              <a:rPr lang="zh-CN" altLang="en-US" sz="1400" b="1" i="1" dirty="0">
                <a:latin typeface="Times New Roman" panose="02020603050405020304" pitchFamily="18" charset="0"/>
              </a:rPr>
              <a:t>a</a:t>
            </a:r>
            <a:r>
              <a:rPr lang="zh-CN" altLang="en-US" sz="1400" b="1" i="1" baseline="-25000" dirty="0">
                <a:latin typeface="Times New Roman" panose="02020603050405020304" pitchFamily="18" charset="0"/>
              </a:rPr>
              <a:t>y</a:t>
            </a:r>
            <a:r>
              <a:rPr lang="en-US" altLang="zh-CN" sz="1400" b="1" i="1">
                <a:latin typeface="Times New Roman" panose="02020603050405020304" pitchFamily="18" charset="0"/>
              </a:rPr>
              <a:t>=</a:t>
            </a:r>
            <a:r>
              <a:rPr lang="zh-CN" altLang="en-US" sz="14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</a:t>
            </a:r>
            <a:r>
              <a:rPr lang="en-US" altLang="zh-CN" sz="1400" b="1" i="1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到</a:t>
            </a:r>
            <a:r>
              <a:rPr lang="zh-CN" altLang="en-US" sz="1400" b="1" i="1" dirty="0">
                <a:effectLst>
                  <a:outerShdw blurRad="38100" dist="38100" dir="2700000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</a:t>
            </a:r>
            <a:r>
              <a:rPr lang="en-US" altLang="zh-CN" sz="1400" b="1" i="1">
                <a:effectLst>
                  <a:outerShdw blurRad="38100" dist="38100" dir="2700000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面的距离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=</a:t>
            </a:r>
            <a:r>
              <a:rPr lang="en-US" altLang="zh-CN" sz="1400" b="1" i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 </a:t>
            </a:r>
            <a:r>
              <a:rPr lang="zh-CN" altLang="en-US" sz="1400" b="1" i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z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坐标</a:t>
            </a:r>
          </a:p>
        </p:txBody>
      </p:sp>
      <p:sp>
        <p:nvSpPr>
          <p:cNvPr id="24614" name="文本框 24613"/>
          <p:cNvSpPr txBox="1"/>
          <p:nvPr/>
        </p:nvSpPr>
        <p:spPr>
          <a:xfrm>
            <a:off x="2433955" y="5778818"/>
            <a:ext cx="9083675" cy="30670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zh-CN" altLang="en-US" sz="14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 </a:t>
            </a:r>
            <a:r>
              <a:rPr lang="zh-CN" altLang="en-US" sz="1400" b="1" i="1" dirty="0">
                <a:latin typeface="Times New Roman" panose="02020603050405020304" pitchFamily="18" charset="0"/>
              </a:rPr>
              <a:t>aa</a:t>
            </a:r>
            <a:r>
              <a:rPr lang="zh-CN" altLang="en-US" sz="1400" b="1" i="1" baseline="-25000" dirty="0">
                <a:latin typeface="Times New Roman" panose="02020603050405020304" pitchFamily="18" charset="0"/>
              </a:rPr>
              <a:t>y</a:t>
            </a:r>
            <a:r>
              <a:rPr lang="zh-CN" altLang="en-US" sz="1400" b="1" i="1" dirty="0">
                <a:latin typeface="Times New Roman" panose="02020603050405020304" pitchFamily="18" charset="0"/>
              </a:rPr>
              <a:t>= </a:t>
            </a:r>
            <a:r>
              <a:rPr lang="zh-CN" altLang="en-US" sz="1400" b="1" i="1" dirty="0">
                <a:latin typeface="Times New Roman" panose="02020603050405020304" pitchFamily="18" charset="0"/>
                <a:sym typeface="EuroRoman" panose="00000400000000000000" pitchFamily="2" charset="2"/>
              </a:rPr>
              <a:t>a</a:t>
            </a:r>
            <a:r>
              <a:rPr lang="zh-CN" altLang="en-US" sz="1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zh-CN" altLang="en-US" sz="1400" b="1" i="1" dirty="0">
                <a:latin typeface="Times New Roman" panose="02020603050405020304" pitchFamily="18" charset="0"/>
              </a:rPr>
              <a:t>a</a:t>
            </a:r>
            <a:r>
              <a:rPr lang="zh-CN" altLang="en-US" sz="1400" b="1" i="1" baseline="-25000" dirty="0">
                <a:latin typeface="Times New Roman" panose="02020603050405020304" pitchFamily="18" charset="0"/>
              </a:rPr>
              <a:t>z</a:t>
            </a:r>
            <a:r>
              <a:rPr lang="zh-CN" altLang="en-US" sz="1400" b="1" i="1" dirty="0">
                <a:latin typeface="Times New Roman" panose="02020603050405020304" pitchFamily="18" charset="0"/>
              </a:rPr>
              <a:t>= </a:t>
            </a:r>
            <a:r>
              <a:rPr lang="zh-CN" altLang="en-US" sz="1400" b="1" i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lang="en-US" altLang="zh-CN" sz="1400" b="1" i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到</a:t>
            </a:r>
            <a:r>
              <a:rPr lang="zh-CN" altLang="en-US" sz="1400" b="1" i="1" dirty="0">
                <a:effectLst>
                  <a:outerShdw blurRad="38100" dist="38100" dir="2700000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</a:t>
            </a:r>
            <a:r>
              <a:rPr lang="en-US" altLang="zh-CN" sz="1400" b="1" i="1">
                <a:effectLst>
                  <a:outerShdw blurRad="38100" dist="38100" dir="2700000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面的距离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=</a:t>
            </a:r>
            <a:r>
              <a:rPr lang="en-US" altLang="zh-CN" sz="1400" b="1" i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 </a:t>
            </a:r>
            <a:r>
              <a:rPr lang="zh-CN" altLang="en-US" sz="1400" b="1" i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</a:t>
            </a:r>
            <a:r>
              <a:rPr lang="en-US" altLang="zh-CN" sz="1400" b="1" i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坐标</a:t>
            </a:r>
          </a:p>
        </p:txBody>
      </p:sp>
      <p:sp>
        <p:nvSpPr>
          <p:cNvPr id="24578" name="矩形 24577"/>
          <p:cNvSpPr/>
          <p:nvPr/>
        </p:nvSpPr>
        <p:spPr>
          <a:xfrm>
            <a:off x="6523355" y="976630"/>
            <a:ext cx="2074863" cy="1449388"/>
          </a:xfrm>
          <a:prstGeom prst="rect">
            <a:avLst/>
          </a:prstGeom>
          <a:gradFill rotWithShape="1">
            <a:gsLst>
              <a:gs pos="0">
                <a:srgbClr val="FFFF00"/>
              </a:gs>
              <a:gs pos="100000">
                <a:srgbClr val="FFFFCC">
                  <a:gamma/>
                  <a:tint val="0"/>
                  <a:invGamma/>
                </a:srgbClr>
              </a:gs>
            </a:gsLst>
            <a:lin ang="5400000" scaled="1"/>
            <a:tileRect/>
          </a:gra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579" name="平行四边形 24578"/>
          <p:cNvSpPr/>
          <p:nvPr/>
        </p:nvSpPr>
        <p:spPr>
          <a:xfrm rot="-10800000" flipH="1">
            <a:off x="6551930" y="2418080"/>
            <a:ext cx="3316288" cy="1255713"/>
          </a:xfrm>
          <a:prstGeom prst="parallelogram">
            <a:avLst>
              <a:gd name="adj" fmla="val 103694"/>
            </a:avLst>
          </a:prstGeom>
          <a:gradFill rotWithShape="1">
            <a:gsLst>
              <a:gs pos="0">
                <a:srgbClr val="FFCCCC"/>
              </a:gs>
              <a:gs pos="100000">
                <a:srgbClr val="FFCCCC">
                  <a:gamma/>
                  <a:tint val="0"/>
                  <a:invGamma/>
                </a:srgbClr>
              </a:gs>
            </a:gsLst>
            <a:lin ang="5400000" scaled="1"/>
            <a:tileRect/>
          </a:gra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580" name="平行四边形 24579"/>
          <p:cNvSpPr/>
          <p:nvPr/>
        </p:nvSpPr>
        <p:spPr>
          <a:xfrm rot="5400000">
            <a:off x="7864793" y="1708468"/>
            <a:ext cx="2719387" cy="1255712"/>
          </a:xfrm>
          <a:prstGeom prst="parallelogram">
            <a:avLst>
              <a:gd name="adj" fmla="val 99869"/>
            </a:avLst>
          </a:prstGeom>
          <a:gradFill rotWithShape="1">
            <a:gsLst>
              <a:gs pos="0">
                <a:srgbClr val="00B0F0"/>
              </a:gs>
              <a:gs pos="100000">
                <a:srgbClr val="CCFF66">
                  <a:gamma/>
                  <a:tint val="0"/>
                  <a:invGamma/>
                </a:srgbClr>
              </a:gs>
            </a:gsLst>
            <a:lin ang="5400000" scaled="1"/>
            <a:tileRect/>
          </a:gra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581" name="直接连接符 24580"/>
          <p:cNvSpPr/>
          <p:nvPr/>
        </p:nvSpPr>
        <p:spPr>
          <a:xfrm>
            <a:off x="7105968" y="1530668"/>
            <a:ext cx="148272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582" name="直接连接符 24581"/>
          <p:cNvSpPr/>
          <p:nvPr/>
        </p:nvSpPr>
        <p:spPr>
          <a:xfrm>
            <a:off x="7105968" y="1530668"/>
            <a:ext cx="0" cy="887412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583" name="直接连接符 24582"/>
          <p:cNvSpPr/>
          <p:nvPr/>
        </p:nvSpPr>
        <p:spPr>
          <a:xfrm>
            <a:off x="7105968" y="2418080"/>
            <a:ext cx="596900" cy="5969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584" name="直接连接符 24583"/>
          <p:cNvSpPr/>
          <p:nvPr/>
        </p:nvSpPr>
        <p:spPr>
          <a:xfrm>
            <a:off x="7702868" y="2127568"/>
            <a:ext cx="0" cy="887412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585" name="直接连接符 24584"/>
          <p:cNvSpPr/>
          <p:nvPr/>
        </p:nvSpPr>
        <p:spPr>
          <a:xfrm>
            <a:off x="8609330" y="1530668"/>
            <a:ext cx="576263" cy="576262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586" name="直接连接符 24585"/>
          <p:cNvSpPr/>
          <p:nvPr/>
        </p:nvSpPr>
        <p:spPr>
          <a:xfrm flipH="1">
            <a:off x="7702868" y="2106930"/>
            <a:ext cx="148272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587" name="直接连接符 24586"/>
          <p:cNvSpPr/>
          <p:nvPr/>
        </p:nvSpPr>
        <p:spPr>
          <a:xfrm>
            <a:off x="7702868" y="3014980"/>
            <a:ext cx="148272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588" name="直接连接符 24587"/>
          <p:cNvSpPr/>
          <p:nvPr/>
        </p:nvSpPr>
        <p:spPr>
          <a:xfrm>
            <a:off x="7105968" y="1530668"/>
            <a:ext cx="596900" cy="5969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589" name="直接连接符 24588"/>
          <p:cNvSpPr/>
          <p:nvPr/>
        </p:nvSpPr>
        <p:spPr>
          <a:xfrm>
            <a:off x="9185593" y="2106930"/>
            <a:ext cx="0" cy="90805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590" name="直接连接符 24589"/>
          <p:cNvSpPr/>
          <p:nvPr/>
        </p:nvSpPr>
        <p:spPr>
          <a:xfrm>
            <a:off x="8588693" y="2438718"/>
            <a:ext cx="1279525" cy="127952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591" name="直接连接符 24590"/>
          <p:cNvSpPr/>
          <p:nvPr/>
        </p:nvSpPr>
        <p:spPr>
          <a:xfrm>
            <a:off x="8609330" y="2438718"/>
            <a:ext cx="1524000" cy="15240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592" name="直接连接符 24591"/>
          <p:cNvSpPr/>
          <p:nvPr/>
        </p:nvSpPr>
        <p:spPr>
          <a:xfrm flipH="1">
            <a:off x="6240780" y="2418080"/>
            <a:ext cx="236855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593" name="直接连接符 24592"/>
          <p:cNvSpPr/>
          <p:nvPr/>
        </p:nvSpPr>
        <p:spPr>
          <a:xfrm flipV="1">
            <a:off x="8588693" y="646430"/>
            <a:ext cx="0" cy="177165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594" name="文本框 24593"/>
          <p:cNvSpPr txBox="1"/>
          <p:nvPr/>
        </p:nvSpPr>
        <p:spPr>
          <a:xfrm>
            <a:off x="7512368" y="1979930"/>
            <a:ext cx="409575" cy="24447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algn="ctr"/>
            <a:r>
              <a:rPr lang="zh-CN" altLang="en-US" sz="1000" b="1">
                <a:solidFill>
                  <a:srgbClr val="FF3300"/>
                </a:solidFill>
                <a:latin typeface="Times New Roman" panose="02020603050405020304" pitchFamily="18" charset="0"/>
              </a:rPr>
              <a:t>●</a:t>
            </a:r>
            <a:endParaRPr lang="zh-CN" altLang="en-US" sz="1000" b="1">
              <a:latin typeface="Times New Roman" panose="02020603050405020304" pitchFamily="18" charset="0"/>
            </a:endParaRPr>
          </a:p>
        </p:txBody>
      </p:sp>
      <p:sp>
        <p:nvSpPr>
          <p:cNvPr id="24595" name="文本框 24594"/>
          <p:cNvSpPr txBox="1"/>
          <p:nvPr/>
        </p:nvSpPr>
        <p:spPr>
          <a:xfrm>
            <a:off x="9031605" y="1981518"/>
            <a:ext cx="300038" cy="2286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900" b="1">
                <a:solidFill>
                  <a:srgbClr val="FF3300"/>
                </a:solidFill>
                <a:latin typeface="Times New Roman" panose="02020603050405020304" pitchFamily="18" charset="0"/>
              </a:rPr>
              <a:t>●</a:t>
            </a:r>
            <a:endParaRPr lang="zh-CN" altLang="en-US" b="1">
              <a:latin typeface="Times New Roman" panose="02020603050405020304" pitchFamily="18" charset="0"/>
            </a:endParaRPr>
          </a:p>
        </p:txBody>
      </p:sp>
      <p:sp>
        <p:nvSpPr>
          <p:cNvPr id="24596" name="文本框 24595"/>
          <p:cNvSpPr txBox="1"/>
          <p:nvPr/>
        </p:nvSpPr>
        <p:spPr>
          <a:xfrm>
            <a:off x="5572443" y="1781493"/>
            <a:ext cx="184150" cy="366712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24597" name="文本框 24596"/>
          <p:cNvSpPr txBox="1"/>
          <p:nvPr/>
        </p:nvSpPr>
        <p:spPr>
          <a:xfrm>
            <a:off x="6994843" y="1424305"/>
            <a:ext cx="287337" cy="214313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800" b="1">
                <a:solidFill>
                  <a:srgbClr val="FF3300"/>
                </a:solidFill>
                <a:latin typeface="Times New Roman" panose="02020603050405020304" pitchFamily="18" charset="0"/>
              </a:rPr>
              <a:t>●</a:t>
            </a:r>
            <a:endParaRPr lang="zh-CN" altLang="en-US" sz="800" b="1">
              <a:latin typeface="Times New Roman" panose="02020603050405020304" pitchFamily="18" charset="0"/>
            </a:endParaRPr>
          </a:p>
        </p:txBody>
      </p:sp>
      <p:sp>
        <p:nvSpPr>
          <p:cNvPr id="24598" name="文本框 24597"/>
          <p:cNvSpPr txBox="1"/>
          <p:nvPr/>
        </p:nvSpPr>
        <p:spPr>
          <a:xfrm>
            <a:off x="7579043" y="2868930"/>
            <a:ext cx="300037" cy="2286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900" b="1">
                <a:solidFill>
                  <a:srgbClr val="FF3300"/>
                </a:solidFill>
                <a:latin typeface="Times New Roman" panose="02020603050405020304" pitchFamily="18" charset="0"/>
              </a:rPr>
              <a:t>●</a:t>
            </a:r>
            <a:endParaRPr lang="zh-CN" altLang="en-US" sz="900" b="1">
              <a:latin typeface="Times New Roman" panose="02020603050405020304" pitchFamily="18" charset="0"/>
            </a:endParaRPr>
          </a:p>
        </p:txBody>
      </p:sp>
      <p:sp>
        <p:nvSpPr>
          <p:cNvPr id="24599" name="文本框 24598"/>
          <p:cNvSpPr txBox="1"/>
          <p:nvPr/>
        </p:nvSpPr>
        <p:spPr>
          <a:xfrm>
            <a:off x="6196330" y="2110105"/>
            <a:ext cx="336550" cy="366713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b="1" i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24600" name="文本框 24599"/>
          <p:cNvSpPr txBox="1"/>
          <p:nvPr/>
        </p:nvSpPr>
        <p:spPr>
          <a:xfrm>
            <a:off x="9912668" y="3535680"/>
            <a:ext cx="323850" cy="366713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b="1" i="1">
                <a:latin typeface="Times New Roman" panose="02020603050405020304" pitchFamily="18" charset="0"/>
              </a:rPr>
              <a:t>Y</a:t>
            </a:r>
          </a:p>
        </p:txBody>
      </p:sp>
      <p:sp>
        <p:nvSpPr>
          <p:cNvPr id="24601" name="文本框 24600"/>
          <p:cNvSpPr txBox="1"/>
          <p:nvPr/>
        </p:nvSpPr>
        <p:spPr>
          <a:xfrm>
            <a:off x="8302943" y="630555"/>
            <a:ext cx="323850" cy="366713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b="1" i="1">
                <a:latin typeface="Times New Roman" panose="02020603050405020304" pitchFamily="18" charset="0"/>
              </a:rPr>
              <a:t>Z</a:t>
            </a:r>
          </a:p>
        </p:txBody>
      </p:sp>
      <p:sp>
        <p:nvSpPr>
          <p:cNvPr id="24602" name="文本框 24601"/>
          <p:cNvSpPr txBox="1"/>
          <p:nvPr/>
        </p:nvSpPr>
        <p:spPr>
          <a:xfrm>
            <a:off x="8582343" y="2230755"/>
            <a:ext cx="361950" cy="366713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b="1">
                <a:latin typeface="Times New Roman" panose="02020603050405020304" pitchFamily="18" charset="0"/>
              </a:rPr>
              <a:t>O</a:t>
            </a:r>
          </a:p>
        </p:txBody>
      </p:sp>
      <p:sp>
        <p:nvSpPr>
          <p:cNvPr id="24603" name="文本框 24602"/>
          <p:cNvSpPr txBox="1"/>
          <p:nvPr/>
        </p:nvSpPr>
        <p:spPr>
          <a:xfrm>
            <a:off x="6528118" y="997268"/>
            <a:ext cx="336550" cy="366712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b="1" i="1">
                <a:latin typeface="Times New Roman" panose="02020603050405020304" pitchFamily="18" charset="0"/>
              </a:rPr>
              <a:t>V</a:t>
            </a:r>
          </a:p>
        </p:txBody>
      </p:sp>
      <p:sp>
        <p:nvSpPr>
          <p:cNvPr id="24604" name="文本框 24603"/>
          <p:cNvSpPr txBox="1"/>
          <p:nvPr/>
        </p:nvSpPr>
        <p:spPr>
          <a:xfrm>
            <a:off x="7709218" y="3353118"/>
            <a:ext cx="361950" cy="366712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b="1" i="1"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24605" name="文本框 24604"/>
          <p:cNvSpPr txBox="1"/>
          <p:nvPr/>
        </p:nvSpPr>
        <p:spPr>
          <a:xfrm>
            <a:off x="9468168" y="2048193"/>
            <a:ext cx="387350" cy="366712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b="1" i="1">
                <a:latin typeface="Times New Roman" panose="02020603050405020304" pitchFamily="18" charset="0"/>
              </a:rPr>
              <a:t>W</a:t>
            </a:r>
          </a:p>
        </p:txBody>
      </p:sp>
      <p:sp>
        <p:nvSpPr>
          <p:cNvPr id="24606" name="文本框 24605"/>
          <p:cNvSpPr txBox="1"/>
          <p:nvPr/>
        </p:nvSpPr>
        <p:spPr>
          <a:xfrm>
            <a:off x="7671118" y="1783080"/>
            <a:ext cx="336550" cy="366713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b="1" i="1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24607" name="文本框 24606"/>
          <p:cNvSpPr txBox="1"/>
          <p:nvPr/>
        </p:nvSpPr>
        <p:spPr>
          <a:xfrm>
            <a:off x="7429818" y="2787968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>
                <a:latin typeface="Times New Roman" panose="02020603050405020304" pitchFamily="18" charset="0"/>
              </a:rPr>
              <a:t>a</a:t>
            </a:r>
            <a:endParaRPr lang="en-US" altLang="zh-CN" b="1">
              <a:latin typeface="Times New Roman" panose="02020603050405020304" pitchFamily="18" charset="0"/>
            </a:endParaRPr>
          </a:p>
        </p:txBody>
      </p:sp>
      <p:sp>
        <p:nvSpPr>
          <p:cNvPr id="24608" name="文本框 24607"/>
          <p:cNvSpPr txBox="1"/>
          <p:nvPr/>
        </p:nvSpPr>
        <p:spPr>
          <a:xfrm>
            <a:off x="9160193" y="1778318"/>
            <a:ext cx="461962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</a:t>
            </a:r>
            <a:endParaRPr lang="en-US" altLang="zh-CN" sz="2400" b="1" i="1">
              <a:latin typeface="Times New Roman" panose="02020603050405020304" pitchFamily="18" charset="0"/>
              <a:sym typeface="UniversalMath1 BT" panose="05050102010205020602" pitchFamily="18" charset="2"/>
            </a:endParaRPr>
          </a:p>
        </p:txBody>
      </p:sp>
      <p:sp>
        <p:nvSpPr>
          <p:cNvPr id="24609" name="文本框 24608"/>
          <p:cNvSpPr txBox="1"/>
          <p:nvPr/>
        </p:nvSpPr>
        <p:spPr>
          <a:xfrm>
            <a:off x="6966268" y="1154430"/>
            <a:ext cx="4889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i="1">
                <a:latin typeface="Times New Roman" panose="02020603050405020304" pitchFamily="18" charset="0"/>
                <a:sym typeface="EuroRoman" panose="00000400000000000000" pitchFamily="2" charset="2"/>
              </a:rPr>
              <a:t>a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</a:t>
            </a:r>
            <a:endParaRPr lang="en-US" altLang="zh-CN" sz="2400" b="1" i="1">
              <a:latin typeface="Times New Roman" panose="02020603050405020304" pitchFamily="18" charset="0"/>
              <a:sym typeface="UniversalMath1 BT" panose="05050102010205020602" pitchFamily="18" charset="2"/>
            </a:endParaRPr>
          </a:p>
        </p:txBody>
      </p:sp>
      <p:sp>
        <p:nvSpPr>
          <p:cNvPr id="24615" name="文本框 24614"/>
          <p:cNvSpPr txBox="1"/>
          <p:nvPr/>
        </p:nvSpPr>
        <p:spPr>
          <a:xfrm>
            <a:off x="6734493" y="1941830"/>
            <a:ext cx="44608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b="1" baseline="-25000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24616" name="文本框 24615"/>
          <p:cNvSpPr txBox="1"/>
          <p:nvPr/>
        </p:nvSpPr>
        <p:spPr>
          <a:xfrm>
            <a:off x="7998143" y="1106805"/>
            <a:ext cx="833437" cy="45720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algn="ctr"/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Z</a:t>
            </a:r>
          </a:p>
        </p:txBody>
      </p:sp>
      <p:sp>
        <p:nvSpPr>
          <p:cNvPr id="24617" name="文本框 24616"/>
          <p:cNvSpPr txBox="1"/>
          <p:nvPr/>
        </p:nvSpPr>
        <p:spPr>
          <a:xfrm>
            <a:off x="9134793" y="2684780"/>
            <a:ext cx="592137" cy="45720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algn="ctr"/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Y</a:t>
            </a:r>
          </a:p>
        </p:txBody>
      </p:sp>
      <p:sp>
        <p:nvSpPr>
          <p:cNvPr id="24618" name="文本框 24617"/>
          <p:cNvSpPr txBox="1"/>
          <p:nvPr/>
        </p:nvSpPr>
        <p:spPr>
          <a:xfrm>
            <a:off x="5572443" y="2114868"/>
            <a:ext cx="184150" cy="366712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endParaRPr lang="zh-CN" altLang="en-US" b="1" dirty="0">
              <a:latin typeface="Times New Roman" panose="02020603050405020304" pitchFamily="18" charset="0"/>
            </a:endParaRPr>
          </a:p>
        </p:txBody>
      </p:sp>
      <p:grpSp>
        <p:nvGrpSpPr>
          <p:cNvPr id="24649" name="组合 24648"/>
          <p:cNvGrpSpPr/>
          <p:nvPr/>
        </p:nvGrpSpPr>
        <p:grpSpPr>
          <a:xfrm>
            <a:off x="1822768" y="1048068"/>
            <a:ext cx="3629025" cy="2916237"/>
            <a:chOff x="305" y="731"/>
            <a:chExt cx="2286" cy="1837"/>
          </a:xfrm>
        </p:grpSpPr>
        <p:sp>
          <p:nvSpPr>
            <p:cNvPr id="24620" name="直接连接符 24619"/>
            <p:cNvSpPr/>
            <p:nvPr/>
          </p:nvSpPr>
          <p:spPr>
            <a:xfrm flipH="1">
              <a:off x="1615" y="1696"/>
              <a:ext cx="560" cy="5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21" name="未知"/>
            <p:cNvSpPr/>
            <p:nvPr/>
          </p:nvSpPr>
          <p:spPr>
            <a:xfrm>
              <a:off x="706" y="1041"/>
              <a:ext cx="1" cy="1214"/>
            </a:xfrm>
            <a:custGeom>
              <a:avLst/>
              <a:gdLst/>
              <a:ahLst/>
              <a:cxnLst/>
              <a:rect l="0" t="0" r="0" b="0"/>
              <a:pathLst>
                <a:path w="1" h="1214">
                  <a:moveTo>
                    <a:pt x="0" y="1214"/>
                  </a:moveTo>
                  <a:lnTo>
                    <a:pt x="0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22" name="直接连接符 24621"/>
            <p:cNvSpPr/>
            <p:nvPr/>
          </p:nvSpPr>
          <p:spPr>
            <a:xfrm flipH="1">
              <a:off x="694" y="2251"/>
              <a:ext cx="92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23" name="直接连接符 24622"/>
            <p:cNvSpPr/>
            <p:nvPr/>
          </p:nvSpPr>
          <p:spPr>
            <a:xfrm>
              <a:off x="2175" y="1066"/>
              <a:ext cx="0" cy="63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24" name="直接连接符 24623"/>
            <p:cNvSpPr/>
            <p:nvPr/>
          </p:nvSpPr>
          <p:spPr>
            <a:xfrm>
              <a:off x="709" y="1066"/>
              <a:ext cx="148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25" name="文本框 24624"/>
            <p:cNvSpPr txBox="1"/>
            <p:nvPr/>
          </p:nvSpPr>
          <p:spPr>
            <a:xfrm>
              <a:off x="754" y="1027"/>
              <a:ext cx="116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endParaRPr lang="zh-CN" altLang="en-US" sz="1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626" name="文本框 24625"/>
            <p:cNvSpPr txBox="1"/>
            <p:nvPr/>
          </p:nvSpPr>
          <p:spPr>
            <a:xfrm>
              <a:off x="595" y="2174"/>
              <a:ext cx="225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zh-CN" altLang="en-US" sz="10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●</a:t>
              </a:r>
              <a:endParaRPr lang="zh-CN" altLang="en-US" b="1">
                <a:latin typeface="Times New Roman" panose="02020603050405020304" pitchFamily="18" charset="0"/>
              </a:endParaRPr>
            </a:p>
          </p:txBody>
        </p:sp>
        <p:sp>
          <p:nvSpPr>
            <p:cNvPr id="24627" name="文本框 24626"/>
            <p:cNvSpPr txBox="1"/>
            <p:nvPr/>
          </p:nvSpPr>
          <p:spPr>
            <a:xfrm>
              <a:off x="2059" y="994"/>
              <a:ext cx="259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zh-CN" altLang="en-US" sz="10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●</a:t>
              </a:r>
            </a:p>
          </p:txBody>
        </p:sp>
        <p:sp>
          <p:nvSpPr>
            <p:cNvPr id="24628" name="文本框 24627"/>
            <p:cNvSpPr txBox="1"/>
            <p:nvPr/>
          </p:nvSpPr>
          <p:spPr>
            <a:xfrm>
              <a:off x="2286" y="1484"/>
              <a:ext cx="305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sz="2000" b="1" i="1">
                  <a:latin typeface="Times New Roman" panose="02020603050405020304" pitchFamily="18" charset="0"/>
                </a:rPr>
                <a:t>Y</a:t>
              </a:r>
              <a:endParaRPr lang="en-US" altLang="zh-CN" b="1" i="1">
                <a:latin typeface="Times New Roman" panose="02020603050405020304" pitchFamily="18" charset="0"/>
              </a:endParaRPr>
            </a:p>
          </p:txBody>
        </p:sp>
        <p:sp>
          <p:nvSpPr>
            <p:cNvPr id="24629" name="文本框 24628"/>
            <p:cNvSpPr txBox="1"/>
            <p:nvPr/>
          </p:nvSpPr>
          <p:spPr>
            <a:xfrm>
              <a:off x="1396" y="731"/>
              <a:ext cx="21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000" b="1" i="1">
                  <a:latin typeface="Times New Roman" panose="02020603050405020304" pitchFamily="18" charset="0"/>
                </a:rPr>
                <a:t>Z</a:t>
              </a:r>
              <a:endParaRPr lang="en-US" altLang="zh-CN" b="1" i="1">
                <a:latin typeface="Times New Roman" panose="02020603050405020304" pitchFamily="18" charset="0"/>
              </a:endParaRPr>
            </a:p>
          </p:txBody>
        </p:sp>
        <p:sp>
          <p:nvSpPr>
            <p:cNvPr id="24630" name="文本框 24629"/>
            <p:cNvSpPr txBox="1"/>
            <p:nvPr/>
          </p:nvSpPr>
          <p:spPr>
            <a:xfrm>
              <a:off x="1593" y="750"/>
              <a:ext cx="32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800" b="1" i="1">
                  <a:latin typeface="Times New Roman" panose="02020603050405020304" pitchFamily="18" charset="0"/>
                </a:rPr>
                <a:t>a</a:t>
              </a:r>
              <a:r>
                <a:rPr lang="en-US" altLang="zh-CN" sz="2800" b="1" i="1" baseline="-25000">
                  <a:latin typeface="Times New Roman" panose="02020603050405020304" pitchFamily="18" charset="0"/>
                </a:rPr>
                <a:t>Z</a:t>
              </a:r>
              <a:endParaRPr lang="en-US" altLang="zh-CN" sz="2800" b="1" i="1">
                <a:latin typeface="Times New Roman" panose="02020603050405020304" pitchFamily="18" charset="0"/>
              </a:endParaRPr>
            </a:p>
          </p:txBody>
        </p:sp>
        <p:sp>
          <p:nvSpPr>
            <p:cNvPr id="24631" name="未知"/>
            <p:cNvSpPr/>
            <p:nvPr/>
          </p:nvSpPr>
          <p:spPr>
            <a:xfrm>
              <a:off x="467" y="1697"/>
              <a:ext cx="2118" cy="1"/>
            </a:xfrm>
            <a:custGeom>
              <a:avLst/>
              <a:gdLst/>
              <a:ahLst/>
              <a:cxnLst/>
              <a:rect l="0" t="0" r="0" b="0"/>
              <a:pathLst>
                <a:path w="1751" h="1">
                  <a:moveTo>
                    <a:pt x="0" y="0"/>
                  </a:moveTo>
                  <a:lnTo>
                    <a:pt x="1751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32" name="未知"/>
            <p:cNvSpPr/>
            <p:nvPr/>
          </p:nvSpPr>
          <p:spPr>
            <a:xfrm>
              <a:off x="1611" y="889"/>
              <a:ext cx="1" cy="1523"/>
            </a:xfrm>
            <a:custGeom>
              <a:avLst/>
              <a:gdLst/>
              <a:ahLst/>
              <a:cxnLst/>
              <a:rect l="0" t="0" r="0" b="0"/>
              <a:pathLst>
                <a:path w="1" h="1473">
                  <a:moveTo>
                    <a:pt x="0" y="1473"/>
                  </a:moveTo>
                  <a:lnTo>
                    <a:pt x="1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33" name="文本框 24632"/>
            <p:cNvSpPr txBox="1"/>
            <p:nvPr/>
          </p:nvSpPr>
          <p:spPr>
            <a:xfrm>
              <a:off x="2133" y="817"/>
              <a:ext cx="29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a</a:t>
              </a:r>
              <a:r>
                <a:rPr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</a:t>
              </a:r>
              <a:endParaRPr lang="en-US" altLang="zh-CN" sz="2400" b="1" i="1">
                <a:latin typeface="Times New Roman" panose="02020603050405020304" pitchFamily="18" charset="0"/>
                <a:sym typeface="UniversalMath1 BT" panose="05050102010205020602" pitchFamily="18" charset="2"/>
              </a:endParaRPr>
            </a:p>
          </p:txBody>
        </p:sp>
        <p:sp>
          <p:nvSpPr>
            <p:cNvPr id="24634" name="文本框 24633"/>
            <p:cNvSpPr txBox="1"/>
            <p:nvPr/>
          </p:nvSpPr>
          <p:spPr>
            <a:xfrm>
              <a:off x="305" y="1478"/>
              <a:ext cx="30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sz="2000" b="1" i="1">
                  <a:latin typeface="Times New Roman" panose="02020603050405020304" pitchFamily="18" charset="0"/>
                </a:rPr>
                <a:t>X</a:t>
              </a:r>
              <a:endParaRPr lang="en-US" altLang="zh-CN" b="1" i="1">
                <a:latin typeface="Times New Roman" panose="02020603050405020304" pitchFamily="18" charset="0"/>
              </a:endParaRPr>
            </a:p>
          </p:txBody>
        </p:sp>
        <p:sp>
          <p:nvSpPr>
            <p:cNvPr id="24635" name="文本框 24634"/>
            <p:cNvSpPr txBox="1"/>
            <p:nvPr/>
          </p:nvSpPr>
          <p:spPr>
            <a:xfrm>
              <a:off x="1374" y="2318"/>
              <a:ext cx="30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sz="2000" b="1" i="1">
                  <a:latin typeface="Times New Roman" panose="02020603050405020304" pitchFamily="18" charset="0"/>
                </a:rPr>
                <a:t>Y</a:t>
              </a:r>
              <a:endParaRPr lang="en-US" altLang="zh-CN" b="1" i="1">
                <a:latin typeface="Times New Roman" panose="02020603050405020304" pitchFamily="18" charset="0"/>
              </a:endParaRPr>
            </a:p>
          </p:txBody>
        </p:sp>
        <p:sp>
          <p:nvSpPr>
            <p:cNvPr id="24636" name="文本框 24635"/>
            <p:cNvSpPr txBox="1"/>
            <p:nvPr/>
          </p:nvSpPr>
          <p:spPr>
            <a:xfrm>
              <a:off x="2126" y="1609"/>
              <a:ext cx="29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a</a:t>
              </a:r>
              <a:r>
                <a:rPr lang="en-US" altLang="zh-CN" sz="2400" b="1" i="1" baseline="-25000">
                  <a:latin typeface="Times New Roman" panose="02020603050405020304" pitchFamily="18" charset="0"/>
                </a:rPr>
                <a:t>Y</a:t>
              </a:r>
              <a:endParaRPr lang="en-US" altLang="zh-CN" b="1" i="1">
                <a:latin typeface="Times New Roman" panose="02020603050405020304" pitchFamily="18" charset="0"/>
              </a:endParaRPr>
            </a:p>
          </p:txBody>
        </p:sp>
        <p:sp>
          <p:nvSpPr>
            <p:cNvPr id="24637" name="文本框 24636"/>
            <p:cNvSpPr txBox="1"/>
            <p:nvPr/>
          </p:nvSpPr>
          <p:spPr>
            <a:xfrm>
              <a:off x="1621" y="1469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>
                  <a:latin typeface="Times New Roman" panose="02020603050405020304" pitchFamily="18" charset="0"/>
                </a:rPr>
                <a:t>O</a:t>
              </a:r>
              <a:endParaRPr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24638" name="文本框 24637"/>
            <p:cNvSpPr txBox="1"/>
            <p:nvPr/>
          </p:nvSpPr>
          <p:spPr>
            <a:xfrm>
              <a:off x="500" y="2152"/>
              <a:ext cx="27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sz="2800" b="1" i="1">
                  <a:latin typeface="Times New Roman" panose="02020603050405020304" pitchFamily="18" charset="0"/>
                </a:rPr>
                <a:t>a</a:t>
              </a:r>
              <a:endParaRPr lang="en-US" altLang="zh-CN" b="1" i="1">
                <a:latin typeface="Times New Roman" panose="02020603050405020304" pitchFamily="18" charset="0"/>
              </a:endParaRPr>
            </a:p>
          </p:txBody>
        </p:sp>
        <p:sp>
          <p:nvSpPr>
            <p:cNvPr id="24639" name="文本框 24638"/>
            <p:cNvSpPr txBox="1"/>
            <p:nvPr/>
          </p:nvSpPr>
          <p:spPr>
            <a:xfrm>
              <a:off x="672" y="1407"/>
              <a:ext cx="29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a</a:t>
              </a:r>
              <a:r>
                <a:rPr lang="en-US" altLang="zh-CN" sz="2400" b="1" i="1" baseline="-25000">
                  <a:latin typeface="Times New Roman" panose="02020603050405020304" pitchFamily="18" charset="0"/>
                </a:rPr>
                <a:t>X</a:t>
              </a:r>
              <a:endParaRPr lang="en-US" altLang="zh-CN" b="1" i="1">
                <a:latin typeface="Times New Roman" panose="02020603050405020304" pitchFamily="18" charset="0"/>
              </a:endParaRPr>
            </a:p>
          </p:txBody>
        </p:sp>
        <p:sp>
          <p:nvSpPr>
            <p:cNvPr id="24640" name="文本框 24639"/>
            <p:cNvSpPr txBox="1"/>
            <p:nvPr/>
          </p:nvSpPr>
          <p:spPr>
            <a:xfrm>
              <a:off x="1596" y="2073"/>
              <a:ext cx="32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800" b="1" i="1">
                  <a:latin typeface="Times New Roman" panose="02020603050405020304" pitchFamily="18" charset="0"/>
                </a:rPr>
                <a:t>a</a:t>
              </a:r>
              <a:r>
                <a:rPr lang="en-US" altLang="zh-CN" sz="2800" b="1" i="1" baseline="-25000">
                  <a:latin typeface="Times New Roman" panose="02020603050405020304" pitchFamily="18" charset="0"/>
                </a:rPr>
                <a:t>Y</a:t>
              </a:r>
              <a:endParaRPr lang="en-US" altLang="zh-CN" b="1" i="1">
                <a:latin typeface="Times New Roman" panose="02020603050405020304" pitchFamily="18" charset="0"/>
              </a:endParaRPr>
            </a:p>
          </p:txBody>
        </p:sp>
        <p:sp>
          <p:nvSpPr>
            <p:cNvPr id="24641" name="文本框 24640"/>
            <p:cNvSpPr txBox="1"/>
            <p:nvPr/>
          </p:nvSpPr>
          <p:spPr>
            <a:xfrm>
              <a:off x="530" y="838"/>
              <a:ext cx="26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  <a:sym typeface="EuroRoman" panose="00000400000000000000" pitchFamily="2" charset="2"/>
                </a:rPr>
                <a:t>a</a:t>
              </a:r>
              <a:r>
                <a:rPr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</a:t>
              </a:r>
              <a:endParaRPr lang="en-US" altLang="zh-CN" sz="2400" b="1" i="1">
                <a:latin typeface="Times New Roman" panose="02020603050405020304" pitchFamily="18" charset="0"/>
                <a:sym typeface="UniversalMath1 BT" panose="05050102010205020602" pitchFamily="18" charset="2"/>
              </a:endParaRPr>
            </a:p>
          </p:txBody>
        </p:sp>
        <p:sp>
          <p:nvSpPr>
            <p:cNvPr id="24642" name="文本框 24641"/>
            <p:cNvSpPr txBox="1"/>
            <p:nvPr/>
          </p:nvSpPr>
          <p:spPr>
            <a:xfrm>
              <a:off x="612" y="981"/>
              <a:ext cx="196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0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●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75"/>
                                        <p:tgtEl>
                                          <p:spTgt spid="24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" fill="hold"/>
                                        <p:tgtEl>
                                          <p:spTgt spid="246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" fill="hold"/>
                                        <p:tgtEl>
                                          <p:spTgt spid="246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75" fill="hold"/>
                                        <p:tgtEl>
                                          <p:spTgt spid="246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" fill="hold"/>
                                        <p:tgtEl>
                                          <p:spTgt spid="246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11" grpId="0"/>
      <p:bldP spid="24612" grpId="0"/>
      <p:bldP spid="24613" grpId="0"/>
      <p:bldP spid="24614" grpId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14" name="文本框 25613"/>
          <p:cNvSpPr txBox="1"/>
          <p:nvPr/>
        </p:nvSpPr>
        <p:spPr>
          <a:xfrm>
            <a:off x="976630" y="614839"/>
            <a:ext cx="7931150" cy="36830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algn="just"/>
            <a:r>
              <a:rPr lang="zh-CN" altLang="en-US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已知点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的两个投影，求第三投影。</a:t>
            </a:r>
          </a:p>
        </p:txBody>
      </p:sp>
      <p:sp>
        <p:nvSpPr>
          <p:cNvPr id="25602" name="未知"/>
          <p:cNvSpPr/>
          <p:nvPr/>
        </p:nvSpPr>
        <p:spPr>
          <a:xfrm>
            <a:off x="8108950" y="1956435"/>
            <a:ext cx="1711325" cy="1588"/>
          </a:xfrm>
          <a:custGeom>
            <a:avLst/>
            <a:gdLst/>
            <a:ahLst/>
            <a:cxnLst/>
            <a:rect l="0" t="0" r="0" b="0"/>
            <a:pathLst>
              <a:path w="1078" h="1">
                <a:moveTo>
                  <a:pt x="0" y="0"/>
                </a:moveTo>
                <a:lnTo>
                  <a:pt x="1078" y="0"/>
                </a:lnTo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603" name="未知"/>
          <p:cNvSpPr/>
          <p:nvPr/>
        </p:nvSpPr>
        <p:spPr>
          <a:xfrm>
            <a:off x="3248660" y="4346575"/>
            <a:ext cx="1654175" cy="3175"/>
          </a:xfrm>
          <a:custGeom>
            <a:avLst/>
            <a:gdLst/>
            <a:ahLst/>
            <a:cxnLst/>
            <a:rect l="0" t="0" r="0" b="0"/>
            <a:pathLst>
              <a:path w="1042" h="2">
                <a:moveTo>
                  <a:pt x="0" y="0"/>
                </a:moveTo>
                <a:lnTo>
                  <a:pt x="1042" y="2"/>
                </a:lnTo>
              </a:path>
            </a:pathLst>
          </a:custGeom>
          <a:noFill/>
          <a:ln w="1270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605" name="直接连接符 25604"/>
          <p:cNvSpPr/>
          <p:nvPr/>
        </p:nvSpPr>
        <p:spPr>
          <a:xfrm>
            <a:off x="8102600" y="2000885"/>
            <a:ext cx="0" cy="1411288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06" name="文本框 25605"/>
          <p:cNvSpPr txBox="1"/>
          <p:nvPr/>
        </p:nvSpPr>
        <p:spPr>
          <a:xfrm>
            <a:off x="7948613" y="1831023"/>
            <a:ext cx="336550" cy="274637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1200">
                <a:solidFill>
                  <a:srgbClr val="FF3300"/>
                </a:solidFill>
                <a:latin typeface="Times New Roman" panose="02020603050405020304" pitchFamily="18" charset="0"/>
              </a:rPr>
              <a:t>●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25607" name="文本框 25606"/>
          <p:cNvSpPr txBox="1"/>
          <p:nvPr/>
        </p:nvSpPr>
        <p:spPr>
          <a:xfrm>
            <a:off x="7947025" y="3262948"/>
            <a:ext cx="336550" cy="274637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1200">
                <a:solidFill>
                  <a:srgbClr val="FF3300"/>
                </a:solidFill>
                <a:latin typeface="Times New Roman" panose="02020603050405020304" pitchFamily="18" charset="0"/>
              </a:rPr>
              <a:t>●</a:t>
            </a:r>
          </a:p>
        </p:txBody>
      </p:sp>
      <p:sp>
        <p:nvSpPr>
          <p:cNvPr id="25608" name="直接连接符 25607"/>
          <p:cNvSpPr/>
          <p:nvPr/>
        </p:nvSpPr>
        <p:spPr>
          <a:xfrm>
            <a:off x="7747000" y="2869248"/>
            <a:ext cx="288607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09" name="直接连接符 25608"/>
          <p:cNvSpPr/>
          <p:nvPr/>
        </p:nvSpPr>
        <p:spPr>
          <a:xfrm>
            <a:off x="9183688" y="1535748"/>
            <a:ext cx="0" cy="24415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10" name="文本框 25609"/>
          <p:cNvSpPr txBox="1"/>
          <p:nvPr/>
        </p:nvSpPr>
        <p:spPr>
          <a:xfrm>
            <a:off x="7673975" y="1629410"/>
            <a:ext cx="582613" cy="45720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algn="ctr"/>
            <a:r>
              <a:rPr lang="en-US" altLang="zh-CN" sz="2400" b="1" i="1">
                <a:latin typeface="Times New Roman" panose="02020603050405020304" pitchFamily="18" charset="0"/>
                <a:sym typeface="EuroRoman" panose="00000400000000000000" pitchFamily="2" charset="2"/>
              </a:rPr>
              <a:t>a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endParaRPr lang="en-US" altLang="zh-CN" sz="2400" b="1" i="1">
              <a:latin typeface="Times New Roman" panose="02020603050405020304" pitchFamily="18" charset="0"/>
              <a:sym typeface="UniversalMath1 BT" panose="05050102010205020602" pitchFamily="18" charset="2"/>
            </a:endParaRPr>
          </a:p>
        </p:txBody>
      </p:sp>
      <p:sp>
        <p:nvSpPr>
          <p:cNvPr id="25611" name="文本框 25610"/>
          <p:cNvSpPr txBox="1"/>
          <p:nvPr/>
        </p:nvSpPr>
        <p:spPr>
          <a:xfrm>
            <a:off x="7758113" y="3162935"/>
            <a:ext cx="3619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endParaRPr lang="en-US" altLang="zh-CN" sz="2800" i="1">
              <a:latin typeface="Times New Roman" panose="02020603050405020304" pitchFamily="18" charset="0"/>
            </a:endParaRPr>
          </a:p>
        </p:txBody>
      </p:sp>
      <p:sp>
        <p:nvSpPr>
          <p:cNvPr id="25612" name="文本框 25611"/>
          <p:cNvSpPr txBox="1"/>
          <p:nvPr/>
        </p:nvSpPr>
        <p:spPr>
          <a:xfrm>
            <a:off x="8072438" y="2416810"/>
            <a:ext cx="4381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b="1" i="1" baseline="-25000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25613" name="未知"/>
          <p:cNvSpPr/>
          <p:nvPr/>
        </p:nvSpPr>
        <p:spPr>
          <a:xfrm>
            <a:off x="4881880" y="4356100"/>
            <a:ext cx="3175" cy="1450975"/>
          </a:xfrm>
          <a:custGeom>
            <a:avLst/>
            <a:gdLst/>
            <a:ahLst/>
            <a:cxnLst/>
            <a:rect l="0" t="0" r="0" b="0"/>
            <a:pathLst>
              <a:path w="2" h="914">
                <a:moveTo>
                  <a:pt x="0" y="0"/>
                </a:moveTo>
                <a:lnTo>
                  <a:pt x="2" y="914"/>
                </a:lnTo>
              </a:path>
            </a:pathLst>
          </a:custGeom>
          <a:noFill/>
          <a:ln w="1270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615" name="未知"/>
          <p:cNvSpPr/>
          <p:nvPr/>
        </p:nvSpPr>
        <p:spPr>
          <a:xfrm>
            <a:off x="3279775" y="5791518"/>
            <a:ext cx="1614488" cy="1587"/>
          </a:xfrm>
          <a:custGeom>
            <a:avLst/>
            <a:gdLst/>
            <a:ahLst/>
            <a:cxnLst/>
            <a:rect l="0" t="0" r="0" b="0"/>
            <a:pathLst>
              <a:path w="1017" h="1">
                <a:moveTo>
                  <a:pt x="0" y="0"/>
                </a:moveTo>
                <a:lnTo>
                  <a:pt x="1017" y="0"/>
                </a:lnTo>
              </a:path>
            </a:pathLst>
          </a:custGeom>
          <a:noFill/>
          <a:ln w="1270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25616" name="组合 25615"/>
          <p:cNvGrpSpPr/>
          <p:nvPr/>
        </p:nvGrpSpPr>
        <p:grpSpPr>
          <a:xfrm>
            <a:off x="4708525" y="4017645"/>
            <a:ext cx="614363" cy="479425"/>
            <a:chOff x="0" y="0"/>
            <a:chExt cx="387" cy="302"/>
          </a:xfrm>
        </p:grpSpPr>
        <p:sp>
          <p:nvSpPr>
            <p:cNvPr id="25617" name="文本框 25616"/>
            <p:cNvSpPr txBox="1"/>
            <p:nvPr/>
          </p:nvSpPr>
          <p:spPr>
            <a:xfrm>
              <a:off x="0" y="129"/>
              <a:ext cx="212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200">
                  <a:solidFill>
                    <a:srgbClr val="FF3300"/>
                  </a:solidFill>
                  <a:latin typeface="Times New Roman" panose="02020603050405020304" pitchFamily="18" charset="0"/>
                </a:rPr>
                <a:t>●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25618" name="文本框 25617"/>
            <p:cNvSpPr txBox="1"/>
            <p:nvPr/>
          </p:nvSpPr>
          <p:spPr>
            <a:xfrm>
              <a:off x="96" y="0"/>
              <a:ext cx="29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a</a:t>
              </a:r>
              <a:r>
                <a:rPr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</a:t>
              </a:r>
              <a:endParaRPr lang="en-US" altLang="zh-CN" sz="2400" b="1" i="1">
                <a:latin typeface="Times New Roman" panose="02020603050405020304" pitchFamily="18" charset="0"/>
                <a:sym typeface="CommercialPi BT" panose="05020102010206080802" pitchFamily="18" charset="2"/>
              </a:endParaRPr>
            </a:p>
          </p:txBody>
        </p:sp>
      </p:grpSp>
      <p:sp>
        <p:nvSpPr>
          <p:cNvPr id="25619" name="直接连接符 25618"/>
          <p:cNvSpPr/>
          <p:nvPr/>
        </p:nvSpPr>
        <p:spPr>
          <a:xfrm>
            <a:off x="3273425" y="4371658"/>
            <a:ext cx="0" cy="1411287"/>
          </a:xfrm>
          <a:prstGeom prst="line">
            <a:avLst/>
          </a:prstGeom>
          <a:ln w="1270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20" name="文本框 25619"/>
          <p:cNvSpPr txBox="1"/>
          <p:nvPr/>
        </p:nvSpPr>
        <p:spPr>
          <a:xfrm>
            <a:off x="3119438" y="4201795"/>
            <a:ext cx="336550" cy="274638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1200">
                <a:solidFill>
                  <a:srgbClr val="FF3300"/>
                </a:solidFill>
                <a:latin typeface="Times New Roman" panose="02020603050405020304" pitchFamily="18" charset="0"/>
              </a:rPr>
              <a:t>●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25621" name="文本框 25620"/>
          <p:cNvSpPr txBox="1"/>
          <p:nvPr/>
        </p:nvSpPr>
        <p:spPr>
          <a:xfrm>
            <a:off x="3117850" y="5633720"/>
            <a:ext cx="336550" cy="274638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1200">
                <a:solidFill>
                  <a:srgbClr val="FF3300"/>
                </a:solidFill>
                <a:latin typeface="Times New Roman" panose="02020603050405020304" pitchFamily="18" charset="0"/>
              </a:rPr>
              <a:t>●</a:t>
            </a:r>
          </a:p>
        </p:txBody>
      </p:sp>
      <p:sp>
        <p:nvSpPr>
          <p:cNvPr id="25622" name="直接连接符 25621"/>
          <p:cNvSpPr/>
          <p:nvPr/>
        </p:nvSpPr>
        <p:spPr>
          <a:xfrm>
            <a:off x="2917825" y="5240020"/>
            <a:ext cx="288607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23" name="直接连接符 25622"/>
          <p:cNvSpPr/>
          <p:nvPr/>
        </p:nvSpPr>
        <p:spPr>
          <a:xfrm>
            <a:off x="4354513" y="3906520"/>
            <a:ext cx="0" cy="24415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24" name="文本框 25623"/>
          <p:cNvSpPr txBox="1"/>
          <p:nvPr/>
        </p:nvSpPr>
        <p:spPr>
          <a:xfrm>
            <a:off x="2844800" y="4000183"/>
            <a:ext cx="582613" cy="45720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algn="ctr"/>
            <a:r>
              <a:rPr lang="en-US" altLang="zh-CN" sz="2400" b="1" i="1">
                <a:latin typeface="Times New Roman" panose="02020603050405020304" pitchFamily="18" charset="0"/>
                <a:sym typeface="EuroRoman" panose="00000400000000000000" pitchFamily="2" charset="2"/>
              </a:rPr>
              <a:t>a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endParaRPr lang="en-US" altLang="zh-CN" sz="2400" b="1" i="1">
              <a:latin typeface="Times New Roman" panose="02020603050405020304" pitchFamily="18" charset="0"/>
              <a:sym typeface="UniversalMath1 BT" panose="05050102010205020602" pitchFamily="18" charset="2"/>
            </a:endParaRPr>
          </a:p>
        </p:txBody>
      </p:sp>
      <p:sp>
        <p:nvSpPr>
          <p:cNvPr id="25625" name="文本框 25624"/>
          <p:cNvSpPr txBox="1"/>
          <p:nvPr/>
        </p:nvSpPr>
        <p:spPr>
          <a:xfrm>
            <a:off x="2928938" y="5533708"/>
            <a:ext cx="36195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endParaRPr lang="en-US" altLang="zh-CN" sz="2800" i="1">
              <a:latin typeface="Times New Roman" panose="02020603050405020304" pitchFamily="18" charset="0"/>
            </a:endParaRPr>
          </a:p>
        </p:txBody>
      </p:sp>
      <p:sp>
        <p:nvSpPr>
          <p:cNvPr id="25626" name="文本框 25625"/>
          <p:cNvSpPr txBox="1"/>
          <p:nvPr/>
        </p:nvSpPr>
        <p:spPr>
          <a:xfrm>
            <a:off x="2860675" y="4806633"/>
            <a:ext cx="47148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25627" name="文本框 25626"/>
          <p:cNvSpPr txBox="1"/>
          <p:nvPr/>
        </p:nvSpPr>
        <p:spPr>
          <a:xfrm>
            <a:off x="4322763" y="3900170"/>
            <a:ext cx="46037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err="1">
                <a:latin typeface="Times New Roman" panose="02020603050405020304" pitchFamily="18" charset="0"/>
              </a:rPr>
              <a:t>a</a:t>
            </a:r>
            <a:r>
              <a:rPr lang="en-US" altLang="zh-CN" sz="2400" b="1" i="1" baseline="-25000" err="1">
                <a:latin typeface="Times New Roman" panose="02020603050405020304" pitchFamily="18" charset="0"/>
              </a:rPr>
              <a:t>Z</a:t>
            </a:r>
            <a:endParaRPr lang="en-US" altLang="zh-CN" b="1" i="1" baseline="-25000">
              <a:latin typeface="Times New Roman" panose="02020603050405020304" pitchFamily="18" charset="0"/>
            </a:endParaRPr>
          </a:p>
        </p:txBody>
      </p:sp>
      <p:sp>
        <p:nvSpPr>
          <p:cNvPr id="25628" name="文本框 25627"/>
          <p:cNvSpPr txBox="1"/>
          <p:nvPr/>
        </p:nvSpPr>
        <p:spPr>
          <a:xfrm>
            <a:off x="9142413" y="1481773"/>
            <a:ext cx="430212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b="1" i="1" baseline="-25000">
                <a:latin typeface="Times New Roman" panose="02020603050405020304" pitchFamily="18" charset="0"/>
              </a:rPr>
              <a:t>Z</a:t>
            </a:r>
          </a:p>
        </p:txBody>
      </p:sp>
      <p:sp>
        <p:nvSpPr>
          <p:cNvPr id="25630" name="云形标注 25629"/>
          <p:cNvSpPr/>
          <p:nvPr/>
        </p:nvSpPr>
        <p:spPr>
          <a:xfrm>
            <a:off x="6826568" y="5275276"/>
            <a:ext cx="3644900" cy="512418"/>
          </a:xfrm>
          <a:prstGeom prst="cloudCallout">
            <a:avLst>
              <a:gd name="adj1" fmla="val -96611"/>
              <a:gd name="adj2" fmla="val 12799"/>
            </a:avLst>
          </a:prstGeom>
          <a:gradFill flip="none" rotWithShape="1">
            <a:gsLst>
              <a:gs pos="0">
                <a:srgbClr val="00B0F0"/>
              </a:gs>
              <a:gs pos="100000">
                <a:srgbClr val="FFFFFF"/>
              </a:gs>
            </a:gsLst>
            <a:lin ang="5400000" scaled="0"/>
          </a:gradFill>
          <a:ln w="19050" cap="flat" cmpd="sng">
            <a:noFill/>
            <a:prstDash val="solid"/>
            <a:headEnd type="none" w="med" len="med"/>
            <a:tailEnd type="none" w="med" len="med"/>
          </a:ln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1400">
                <a:latin typeface="+mn-ea"/>
                <a:cs typeface="+mn-ea"/>
              </a:rPr>
              <a:t>通过作</a:t>
            </a:r>
            <a:r>
              <a:rPr lang="en-US" altLang="zh-CN" sz="1400">
                <a:latin typeface="+mn-ea"/>
                <a:cs typeface="+mn-ea"/>
              </a:rPr>
              <a:t>45°</a:t>
            </a:r>
            <a:r>
              <a:rPr lang="zh-CN" altLang="en-US" sz="1400">
                <a:latin typeface="+mn-ea"/>
                <a:cs typeface="+mn-ea"/>
              </a:rPr>
              <a:t>线使</a:t>
            </a:r>
            <a:r>
              <a:rPr lang="en-US" altLang="zh-CN" sz="1400" i="1">
                <a:solidFill>
                  <a:srgbClr val="FF0000"/>
                </a:solidFill>
                <a:latin typeface="+mn-ea"/>
                <a:cs typeface="+mn-ea"/>
              </a:rPr>
              <a:t>a</a:t>
            </a:r>
            <a:r>
              <a:rPr lang="en-US" altLang="zh-CN" sz="1400" i="1">
                <a:solidFill>
                  <a:srgbClr val="FF0000"/>
                </a:solidFill>
                <a:latin typeface="+mn-ea"/>
                <a:cs typeface="+mn-ea"/>
                <a:sym typeface="Symbol" panose="05050102010706020507" pitchFamily="18" charset="2"/>
              </a:rPr>
              <a:t></a:t>
            </a:r>
            <a:r>
              <a:rPr lang="en-US" altLang="zh-CN" sz="1400" i="1">
                <a:solidFill>
                  <a:srgbClr val="FF3300"/>
                </a:solidFill>
                <a:latin typeface="+mn-ea"/>
                <a:cs typeface="+mn-ea"/>
              </a:rPr>
              <a:t>a</a:t>
            </a:r>
            <a:r>
              <a:rPr lang="en-US" altLang="zh-CN" sz="1400" i="1" baseline="-25000">
                <a:solidFill>
                  <a:srgbClr val="FF3300"/>
                </a:solidFill>
                <a:latin typeface="+mn-ea"/>
                <a:cs typeface="+mn-ea"/>
              </a:rPr>
              <a:t>Z</a:t>
            </a:r>
            <a:r>
              <a:rPr lang="en-US" altLang="zh-CN" sz="1400" i="1">
                <a:solidFill>
                  <a:srgbClr val="FF3300"/>
                </a:solidFill>
                <a:latin typeface="+mn-ea"/>
                <a:cs typeface="+mn-ea"/>
              </a:rPr>
              <a:t>=aa</a:t>
            </a:r>
            <a:r>
              <a:rPr lang="en-US" altLang="zh-CN" sz="1400" i="1" baseline="-25000">
                <a:solidFill>
                  <a:srgbClr val="FF3300"/>
                </a:solidFill>
                <a:latin typeface="+mn-ea"/>
                <a:cs typeface="+mn-ea"/>
              </a:rPr>
              <a:t>X</a:t>
            </a:r>
          </a:p>
        </p:txBody>
      </p:sp>
      <p:sp>
        <p:nvSpPr>
          <p:cNvPr id="25631" name="文本框 25630"/>
          <p:cNvSpPr txBox="1"/>
          <p:nvPr/>
        </p:nvSpPr>
        <p:spPr>
          <a:xfrm>
            <a:off x="1475423" y="1815307"/>
            <a:ext cx="758825" cy="306705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解法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</a:t>
            </a:r>
          </a:p>
        </p:txBody>
      </p:sp>
      <p:sp>
        <p:nvSpPr>
          <p:cNvPr id="25632" name="椭圆形标注 25631"/>
          <p:cNvSpPr/>
          <p:nvPr/>
        </p:nvSpPr>
        <p:spPr>
          <a:xfrm>
            <a:off x="2981008" y="2009708"/>
            <a:ext cx="3582987" cy="433841"/>
          </a:xfrm>
          <a:prstGeom prst="wedgeEllipseCallout">
            <a:avLst>
              <a:gd name="adj1" fmla="val 87058"/>
              <a:gd name="adj2" fmla="val 59448"/>
            </a:avLst>
          </a:prstGeom>
          <a:noFill/>
          <a:ln w="19050" cap="flat" cmpd="sng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prstDash val="solid"/>
            <a:miter/>
            <a:headEnd type="none" w="med" len="med"/>
            <a:tailEnd type="none" w="med" len="med"/>
          </a:ln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1400" dirty="0">
                <a:latin typeface="+mn-ea"/>
                <a:cs typeface="+mn-ea"/>
              </a:rPr>
              <a:t>用分规</a:t>
            </a:r>
            <a:r>
              <a:rPr lang="zh-CN" altLang="en-US" sz="1400">
                <a:latin typeface="+mn-ea"/>
                <a:cs typeface="+mn-ea"/>
              </a:rPr>
              <a:t>直接量取</a:t>
            </a:r>
            <a:r>
              <a:rPr lang="en-US" altLang="zh-CN" sz="1400" i="1">
                <a:solidFill>
                  <a:srgbClr val="FF0000"/>
                </a:solidFill>
                <a:latin typeface="+mn-ea"/>
                <a:cs typeface="+mn-ea"/>
              </a:rPr>
              <a:t>a</a:t>
            </a:r>
            <a:r>
              <a:rPr lang="en-US" altLang="zh-CN" sz="1400" i="1">
                <a:solidFill>
                  <a:srgbClr val="FF0000"/>
                </a:solidFill>
                <a:latin typeface="+mn-ea"/>
                <a:cs typeface="+mn-ea"/>
                <a:sym typeface="Symbol" panose="05050102010706020507" pitchFamily="18" charset="2"/>
              </a:rPr>
              <a:t></a:t>
            </a:r>
            <a:r>
              <a:rPr lang="en-US" altLang="zh-CN" sz="1400" i="1">
                <a:solidFill>
                  <a:srgbClr val="FF3300"/>
                </a:solidFill>
                <a:latin typeface="+mn-ea"/>
                <a:cs typeface="+mn-ea"/>
              </a:rPr>
              <a:t>a</a:t>
            </a:r>
            <a:r>
              <a:rPr lang="en-US" altLang="zh-CN" sz="1400" i="1" baseline="-25000">
                <a:solidFill>
                  <a:srgbClr val="FF3300"/>
                </a:solidFill>
                <a:latin typeface="+mn-ea"/>
                <a:cs typeface="+mn-ea"/>
              </a:rPr>
              <a:t>Z</a:t>
            </a:r>
            <a:r>
              <a:rPr lang="en-US" altLang="zh-CN" sz="1400" i="1">
                <a:solidFill>
                  <a:srgbClr val="FF3300"/>
                </a:solidFill>
                <a:latin typeface="+mn-ea"/>
                <a:cs typeface="+mn-ea"/>
              </a:rPr>
              <a:t>=aa</a:t>
            </a:r>
            <a:r>
              <a:rPr lang="en-US" altLang="zh-CN" sz="1400" i="1" baseline="-25000">
                <a:solidFill>
                  <a:srgbClr val="FF3300"/>
                </a:solidFill>
                <a:latin typeface="+mn-ea"/>
                <a:cs typeface="+mn-ea"/>
              </a:rPr>
              <a:t>X</a:t>
            </a:r>
          </a:p>
        </p:txBody>
      </p:sp>
      <p:sp>
        <p:nvSpPr>
          <p:cNvPr id="25633" name="直接连接符 25632"/>
          <p:cNvSpPr/>
          <p:nvPr/>
        </p:nvSpPr>
        <p:spPr>
          <a:xfrm>
            <a:off x="8285163" y="3451860"/>
            <a:ext cx="0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25634" name="组合 25633"/>
          <p:cNvGrpSpPr/>
          <p:nvPr/>
        </p:nvGrpSpPr>
        <p:grpSpPr>
          <a:xfrm>
            <a:off x="8111173" y="2866390"/>
            <a:ext cx="165100" cy="542925"/>
            <a:chOff x="0" y="0"/>
            <a:chExt cx="234" cy="342"/>
          </a:xfrm>
        </p:grpSpPr>
        <p:sp>
          <p:nvSpPr>
            <p:cNvPr id="25635" name="直接连接符 25634"/>
            <p:cNvSpPr/>
            <p:nvPr/>
          </p:nvSpPr>
          <p:spPr>
            <a:xfrm>
              <a:off x="0" y="0"/>
              <a:ext cx="115" cy="185"/>
            </a:xfrm>
            <a:prstGeom prst="line">
              <a:avLst/>
            </a:prstGeom>
            <a:ln w="19050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36" name="直接连接符 25635"/>
            <p:cNvSpPr/>
            <p:nvPr/>
          </p:nvSpPr>
          <p:spPr>
            <a:xfrm flipH="1">
              <a:off x="0" y="185"/>
              <a:ext cx="115" cy="157"/>
            </a:xfrm>
            <a:prstGeom prst="line">
              <a:avLst/>
            </a:prstGeom>
            <a:ln w="19050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37" name="未知"/>
            <p:cNvSpPr/>
            <p:nvPr/>
          </p:nvSpPr>
          <p:spPr>
            <a:xfrm>
              <a:off x="115" y="185"/>
              <a:ext cx="119" cy="5"/>
            </a:xfrm>
            <a:custGeom>
              <a:avLst/>
              <a:gdLst/>
              <a:ahLst/>
              <a:cxnLst/>
              <a:rect l="0" t="0" r="0" b="0"/>
              <a:pathLst>
                <a:path w="119" h="5">
                  <a:moveTo>
                    <a:pt x="0" y="0"/>
                  </a:moveTo>
                  <a:lnTo>
                    <a:pt x="119" y="5"/>
                  </a:lnTo>
                </a:path>
              </a:pathLst>
            </a:custGeom>
            <a:noFill/>
            <a:ln w="19050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5638" name="组合 25637"/>
          <p:cNvGrpSpPr/>
          <p:nvPr/>
        </p:nvGrpSpPr>
        <p:grpSpPr>
          <a:xfrm rot="5400000" flipV="1">
            <a:off x="9368473" y="1799908"/>
            <a:ext cx="204787" cy="542925"/>
            <a:chOff x="0" y="0"/>
            <a:chExt cx="234" cy="342"/>
          </a:xfrm>
        </p:grpSpPr>
        <p:sp>
          <p:nvSpPr>
            <p:cNvPr id="25639" name="直接连接符 25638"/>
            <p:cNvSpPr/>
            <p:nvPr/>
          </p:nvSpPr>
          <p:spPr>
            <a:xfrm>
              <a:off x="0" y="0"/>
              <a:ext cx="115" cy="185"/>
            </a:xfrm>
            <a:prstGeom prst="line">
              <a:avLst/>
            </a:prstGeom>
            <a:ln w="19050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40" name="直接连接符 25639"/>
            <p:cNvSpPr/>
            <p:nvPr/>
          </p:nvSpPr>
          <p:spPr>
            <a:xfrm flipH="1">
              <a:off x="0" y="185"/>
              <a:ext cx="115" cy="157"/>
            </a:xfrm>
            <a:prstGeom prst="line">
              <a:avLst/>
            </a:prstGeom>
            <a:ln w="19050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41" name="未知"/>
            <p:cNvSpPr/>
            <p:nvPr/>
          </p:nvSpPr>
          <p:spPr>
            <a:xfrm>
              <a:off x="115" y="185"/>
              <a:ext cx="119" cy="5"/>
            </a:xfrm>
            <a:custGeom>
              <a:avLst/>
              <a:gdLst/>
              <a:ahLst/>
              <a:cxnLst/>
              <a:rect l="0" t="0" r="0" b="0"/>
              <a:pathLst>
                <a:path w="119" h="5">
                  <a:moveTo>
                    <a:pt x="0" y="0"/>
                  </a:moveTo>
                  <a:lnTo>
                    <a:pt x="119" y="5"/>
                  </a:lnTo>
                </a:path>
              </a:pathLst>
            </a:custGeom>
            <a:noFill/>
            <a:ln w="19050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5642" name="直接连接符 25641"/>
          <p:cNvSpPr/>
          <p:nvPr/>
        </p:nvSpPr>
        <p:spPr>
          <a:xfrm>
            <a:off x="4344988" y="5247958"/>
            <a:ext cx="854075" cy="8540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25643" name="组合 25642"/>
          <p:cNvGrpSpPr/>
          <p:nvPr/>
        </p:nvGrpSpPr>
        <p:grpSpPr>
          <a:xfrm>
            <a:off x="9607550" y="1551623"/>
            <a:ext cx="573088" cy="538162"/>
            <a:chOff x="0" y="0"/>
            <a:chExt cx="361" cy="339"/>
          </a:xfrm>
        </p:grpSpPr>
        <p:sp>
          <p:nvSpPr>
            <p:cNvPr id="25644" name="文本框 25643"/>
            <p:cNvSpPr txBox="1"/>
            <p:nvPr/>
          </p:nvSpPr>
          <p:spPr>
            <a:xfrm>
              <a:off x="70" y="0"/>
              <a:ext cx="29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a</a:t>
              </a:r>
              <a:r>
                <a:rPr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</a:t>
              </a:r>
              <a:endParaRPr lang="en-US" altLang="zh-CN" sz="2400" b="1" i="1">
                <a:latin typeface="Times New Roman" panose="02020603050405020304" pitchFamily="18" charset="0"/>
                <a:sym typeface="CommercialPi BT" panose="05020102010206080802" pitchFamily="18" charset="2"/>
              </a:endParaRPr>
            </a:p>
          </p:txBody>
        </p:sp>
        <p:sp>
          <p:nvSpPr>
            <p:cNvPr id="25645" name="文本框 25644"/>
            <p:cNvSpPr txBox="1"/>
            <p:nvPr/>
          </p:nvSpPr>
          <p:spPr>
            <a:xfrm>
              <a:off x="0" y="166"/>
              <a:ext cx="212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200">
                  <a:solidFill>
                    <a:srgbClr val="FF3300"/>
                  </a:solidFill>
                  <a:latin typeface="Times New Roman" panose="02020603050405020304" pitchFamily="18" charset="0"/>
                </a:rPr>
                <a:t>●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5646" name="组合 25645"/>
          <p:cNvGrpSpPr/>
          <p:nvPr/>
        </p:nvGrpSpPr>
        <p:grpSpPr>
          <a:xfrm>
            <a:off x="6796088" y="1657350"/>
            <a:ext cx="458787" cy="1879600"/>
            <a:chOff x="0" y="0"/>
            <a:chExt cx="289" cy="1184"/>
          </a:xfrm>
        </p:grpSpPr>
        <p:sp>
          <p:nvSpPr>
            <p:cNvPr id="25647" name="直接连接符 25646"/>
            <p:cNvSpPr/>
            <p:nvPr/>
          </p:nvSpPr>
          <p:spPr>
            <a:xfrm rot="-132642" flipV="1">
              <a:off x="0" y="320"/>
              <a:ext cx="181" cy="72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48" name="直接连接符 25647"/>
            <p:cNvSpPr/>
            <p:nvPr/>
          </p:nvSpPr>
          <p:spPr>
            <a:xfrm rot="21467358">
              <a:off x="182" y="315"/>
              <a:ext cx="91" cy="77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49" name="椭圆 25648"/>
            <p:cNvSpPr/>
            <p:nvPr/>
          </p:nvSpPr>
          <p:spPr>
            <a:xfrm rot="21467358">
              <a:off x="93" y="180"/>
              <a:ext cx="136" cy="136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50" name="直接连接符 25649"/>
            <p:cNvSpPr/>
            <p:nvPr/>
          </p:nvSpPr>
          <p:spPr>
            <a:xfrm rot="-132642" flipH="1">
              <a:off x="17" y="1048"/>
              <a:ext cx="0" cy="136"/>
            </a:xfrm>
            <a:prstGeom prst="line">
              <a:avLst/>
            </a:prstGeom>
            <a:ln w="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51" name="直接连接符 25650"/>
            <p:cNvSpPr/>
            <p:nvPr/>
          </p:nvSpPr>
          <p:spPr>
            <a:xfrm rot="21467358">
              <a:off x="289" y="1038"/>
              <a:ext cx="0" cy="136"/>
            </a:xfrm>
            <a:prstGeom prst="line">
              <a:avLst/>
            </a:prstGeom>
            <a:ln w="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52" name="直接连接符 25651"/>
            <p:cNvSpPr/>
            <p:nvPr/>
          </p:nvSpPr>
          <p:spPr>
            <a:xfrm flipV="1">
              <a:off x="163" y="0"/>
              <a:ext cx="0" cy="18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" name="文本框 1"/>
          <p:cNvSpPr txBox="1"/>
          <p:nvPr/>
        </p:nvSpPr>
        <p:spPr>
          <a:xfrm>
            <a:off x="1475423" y="4063842"/>
            <a:ext cx="758825" cy="306705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解法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二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6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6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" dur="500"/>
                                        <p:tgtEl>
                                          <p:spTgt spid="25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75"/>
                                        <p:tgtEl>
                                          <p:spTgt spid="25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5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6" dur="500"/>
                                        <p:tgtEl>
                                          <p:spTgt spid="25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2" dur="3000" fill="hold"/>
                                        <p:tgtEl>
                                          <p:spTgt spid="256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56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56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25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56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56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56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56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56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56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25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5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75"/>
                                        <p:tgtEl>
                                          <p:spTgt spid="25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25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"/>
                            </p:stCondLst>
                            <p:childTnLst>
                              <p:par>
                                <p:cTn id="85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56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56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14" grpId="0"/>
      <p:bldP spid="25627" grpId="0" build="p"/>
      <p:bldP spid="25628" grpId="0" build="p"/>
      <p:bldP spid="25630" grpId="0" bldLvl="0" animBg="1"/>
      <p:bldP spid="25631" grpId="0"/>
      <p:bldP spid="25632" grpId="0" bldLvl="0" animBg="1"/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直接连接符 26626"/>
          <p:cNvSpPr/>
          <p:nvPr/>
        </p:nvSpPr>
        <p:spPr>
          <a:xfrm>
            <a:off x="2445068" y="5175250"/>
            <a:ext cx="0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26628" name="组合 26627"/>
          <p:cNvGrpSpPr/>
          <p:nvPr/>
        </p:nvGrpSpPr>
        <p:grpSpPr>
          <a:xfrm>
            <a:off x="2851468" y="2797175"/>
            <a:ext cx="573087" cy="538163"/>
            <a:chOff x="0" y="0"/>
            <a:chExt cx="361" cy="339"/>
          </a:xfrm>
        </p:grpSpPr>
        <p:sp>
          <p:nvSpPr>
            <p:cNvPr id="26629" name="文本框 26628"/>
            <p:cNvSpPr txBox="1"/>
            <p:nvPr/>
          </p:nvSpPr>
          <p:spPr>
            <a:xfrm>
              <a:off x="70" y="0"/>
              <a:ext cx="29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a</a:t>
              </a:r>
              <a:r>
                <a:rPr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</a:t>
              </a:r>
              <a:endParaRPr lang="en-US" altLang="zh-CN" sz="2400" b="1" i="1">
                <a:latin typeface="Times New Roman" panose="02020603050405020304" pitchFamily="18" charset="0"/>
                <a:sym typeface="CommercialPi BT" panose="05020102010206080802" pitchFamily="18" charset="2"/>
              </a:endParaRPr>
            </a:p>
          </p:txBody>
        </p:sp>
        <p:sp>
          <p:nvSpPr>
            <p:cNvPr id="26630" name="文本框 26629"/>
            <p:cNvSpPr txBox="1"/>
            <p:nvPr/>
          </p:nvSpPr>
          <p:spPr>
            <a:xfrm>
              <a:off x="0" y="166"/>
              <a:ext cx="212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200">
                  <a:solidFill>
                    <a:srgbClr val="FF3300"/>
                  </a:solidFill>
                  <a:latin typeface="Times New Roman" panose="02020603050405020304" pitchFamily="18" charset="0"/>
                </a:rPr>
                <a:t>●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26632" name="文本框 26631"/>
          <p:cNvSpPr txBox="1"/>
          <p:nvPr/>
        </p:nvSpPr>
        <p:spPr>
          <a:xfrm>
            <a:off x="1394143" y="5768975"/>
            <a:ext cx="3384550" cy="306705"/>
          </a:xfrm>
          <a:prstGeom prst="rect">
            <a:avLst/>
          </a:prstGeom>
          <a:gradFill rotWithShape="1">
            <a:gsLst>
              <a:gs pos="0">
                <a:schemeClr val="bg1">
                  <a:lumMod val="85000"/>
                </a:schemeClr>
              </a:gs>
              <a:gs pos="100000">
                <a:srgbClr val="FF9966">
                  <a:gamma/>
                  <a:tint val="0"/>
                  <a:invGamma/>
                </a:srgbClr>
              </a:gs>
            </a:gsLst>
            <a:lin ang="5400000" scaled="1"/>
            <a:tileRect/>
          </a:gradFill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空间点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OX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轴上</a:t>
            </a:r>
          </a:p>
        </p:txBody>
      </p:sp>
      <p:grpSp>
        <p:nvGrpSpPr>
          <p:cNvPr id="26647" name="组合 26646"/>
          <p:cNvGrpSpPr/>
          <p:nvPr/>
        </p:nvGrpSpPr>
        <p:grpSpPr>
          <a:xfrm>
            <a:off x="709930" y="971550"/>
            <a:ext cx="4679950" cy="4392613"/>
            <a:chOff x="0" y="0"/>
            <a:chExt cx="2948" cy="2767"/>
          </a:xfrm>
        </p:grpSpPr>
        <p:grpSp>
          <p:nvGrpSpPr>
            <p:cNvPr id="26648" name="组合 26647"/>
            <p:cNvGrpSpPr/>
            <p:nvPr/>
          </p:nvGrpSpPr>
          <p:grpSpPr>
            <a:xfrm>
              <a:off x="136" y="91"/>
              <a:ext cx="2722" cy="2676"/>
              <a:chOff x="0" y="0"/>
              <a:chExt cx="2722" cy="2676"/>
            </a:xfrm>
          </p:grpSpPr>
          <p:sp>
            <p:nvSpPr>
              <p:cNvPr id="26649" name="文本框 26648"/>
              <p:cNvSpPr txBox="1"/>
              <p:nvPr/>
            </p:nvSpPr>
            <p:spPr>
              <a:xfrm>
                <a:off x="287" y="1234"/>
                <a:ext cx="212" cy="17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zh-CN" altLang="en-US" sz="120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●</a:t>
                </a:r>
                <a:endParaRPr lang="zh-CN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650" name="文本框 26649"/>
              <p:cNvSpPr txBox="1"/>
              <p:nvPr/>
            </p:nvSpPr>
            <p:spPr>
              <a:xfrm>
                <a:off x="177" y="1064"/>
                <a:ext cx="367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>
                <a:spAutoFit/>
              </a:bodyPr>
              <a:lstStyle/>
              <a:p>
                <a:pPr algn="ctr"/>
                <a:r>
                  <a:rPr lang="en-US" altLang="zh-CN" sz="2400" b="1" i="1">
                    <a:latin typeface="Times New Roman" panose="02020603050405020304" pitchFamily="18" charset="0"/>
                    <a:sym typeface="EuroRoman" panose="00000400000000000000" pitchFamily="2" charset="2"/>
                  </a:rPr>
                  <a:t>a</a:t>
                </a:r>
                <a:r>
                  <a:rPr lang="en-US" altLang="zh-CN" sz="2400" b="1" i="1">
                    <a:latin typeface="Times New Roman" panose="02020603050405020304" pitchFamily="18" charset="0"/>
                    <a:sym typeface="Symbol" panose="05050102010706020507" pitchFamily="18" charset="2"/>
                  </a:rPr>
                  <a:t></a:t>
                </a:r>
                <a:endParaRPr lang="en-US" altLang="zh-CN" sz="2400" b="1" i="1">
                  <a:latin typeface="Times New Roman" panose="02020603050405020304" pitchFamily="18" charset="0"/>
                  <a:sym typeface="UniversalMath1 BT" panose="05050102010205020602" pitchFamily="18" charset="2"/>
                </a:endParaRPr>
              </a:p>
            </p:txBody>
          </p:sp>
          <p:sp>
            <p:nvSpPr>
              <p:cNvPr id="26651" name="文本框 26650"/>
              <p:cNvSpPr txBox="1"/>
              <p:nvPr/>
            </p:nvSpPr>
            <p:spPr>
              <a:xfrm>
                <a:off x="233" y="1263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2400" b="1" i="1">
                    <a:latin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26652" name="直接连接符 26651"/>
              <p:cNvSpPr/>
              <p:nvPr/>
            </p:nvSpPr>
            <p:spPr>
              <a:xfrm>
                <a:off x="0" y="1316"/>
                <a:ext cx="2722" cy="0"/>
              </a:xfrm>
              <a:prstGeom prst="line">
                <a:avLst/>
              </a:prstGeom>
              <a:ln w="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653" name="直接连接符 26652"/>
              <p:cNvSpPr/>
              <p:nvPr/>
            </p:nvSpPr>
            <p:spPr>
              <a:xfrm>
                <a:off x="1316" y="0"/>
                <a:ext cx="0" cy="2676"/>
              </a:xfrm>
              <a:prstGeom prst="line">
                <a:avLst/>
              </a:prstGeom>
              <a:ln w="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6654" name="文本框 26653"/>
            <p:cNvSpPr txBox="1"/>
            <p:nvPr/>
          </p:nvSpPr>
          <p:spPr>
            <a:xfrm>
              <a:off x="1451" y="0"/>
              <a:ext cx="18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b="1" i="1">
                  <a:latin typeface="Arial" panose="020B0604020202020204" pitchFamily="34" charset="0"/>
                </a:rPr>
                <a:t>Z</a:t>
              </a:r>
            </a:p>
          </p:txBody>
        </p:sp>
        <p:sp>
          <p:nvSpPr>
            <p:cNvPr id="26655" name="文本框 26654"/>
            <p:cNvSpPr txBox="1"/>
            <p:nvPr/>
          </p:nvSpPr>
          <p:spPr>
            <a:xfrm>
              <a:off x="1224" y="1134"/>
              <a:ext cx="2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b="1" i="1">
                  <a:latin typeface="Arial" panose="020B0604020202020204" pitchFamily="34" charset="0"/>
                </a:rPr>
                <a:t>O</a:t>
              </a:r>
            </a:p>
          </p:txBody>
        </p:sp>
        <p:sp>
          <p:nvSpPr>
            <p:cNvPr id="26656" name="文本框 26655"/>
            <p:cNvSpPr txBox="1"/>
            <p:nvPr/>
          </p:nvSpPr>
          <p:spPr>
            <a:xfrm>
              <a:off x="0" y="1180"/>
              <a:ext cx="2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b="1" i="1">
                  <a:latin typeface="Arial" panose="020B0604020202020204" pitchFamily="34" charset="0"/>
                </a:rPr>
                <a:t>X</a:t>
              </a:r>
            </a:p>
          </p:txBody>
        </p:sp>
        <p:sp>
          <p:nvSpPr>
            <p:cNvPr id="26657" name="文本框 26656"/>
            <p:cNvSpPr txBox="1"/>
            <p:nvPr/>
          </p:nvSpPr>
          <p:spPr>
            <a:xfrm>
              <a:off x="2676" y="1134"/>
              <a:ext cx="2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b="1" i="1">
                  <a:latin typeface="Arial" panose="020B0604020202020204" pitchFamily="34" charset="0"/>
                </a:rPr>
                <a:t>Y</a:t>
              </a:r>
            </a:p>
          </p:txBody>
        </p:sp>
      </p:grpSp>
      <p:grpSp>
        <p:nvGrpSpPr>
          <p:cNvPr id="26658" name="组合 26657"/>
          <p:cNvGrpSpPr/>
          <p:nvPr/>
        </p:nvGrpSpPr>
        <p:grpSpPr>
          <a:xfrm>
            <a:off x="3492500" y="1320800"/>
            <a:ext cx="2016125" cy="1152525"/>
            <a:chOff x="0" y="0"/>
            <a:chExt cx="1270" cy="726"/>
          </a:xfrm>
        </p:grpSpPr>
        <p:sp>
          <p:nvSpPr>
            <p:cNvPr id="26659" name="云形标注 26658"/>
            <p:cNvSpPr/>
            <p:nvPr/>
          </p:nvSpPr>
          <p:spPr>
            <a:xfrm>
              <a:off x="0" y="0"/>
              <a:ext cx="1270" cy="726"/>
            </a:xfrm>
            <a:prstGeom prst="cloudCallout">
              <a:avLst>
                <a:gd name="adj1" fmla="val -64958"/>
                <a:gd name="adj2" fmla="val 80028"/>
              </a:avLst>
            </a:prstGeom>
            <a:gradFill rotWithShape="1">
              <a:gsLst>
                <a:gs pos="0">
                  <a:schemeClr val="bg1">
                    <a:lumMod val="85000"/>
                  </a:schemeClr>
                </a:gs>
                <a:gs pos="100000">
                  <a:srgbClr val="FFCC99">
                    <a:gamma/>
                    <a:tint val="0"/>
                    <a:invGamma/>
                  </a:srgbClr>
                </a:gs>
              </a:gsLst>
              <a:lin ang="5400000" scaled="1"/>
              <a:tileRect/>
            </a:gradFill>
            <a:ln w="0" cap="flat" cmpd="sng">
              <a:noFill/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algn="ctr"/>
              <a:r>
                <a:rPr lang="zh-CN" altLang="en-US">
                  <a:latin typeface="Arial" panose="020B0604020202020204" pitchFamily="34" charset="0"/>
                </a:rPr>
                <a:t>   </a:t>
              </a:r>
            </a:p>
            <a:p>
              <a:pPr algn="ctr"/>
              <a:r>
                <a:rPr lang="zh-CN" altLang="en-US">
                  <a:latin typeface="Arial" panose="020B0604020202020204" pitchFamily="34" charset="0"/>
                </a:rPr>
                <a:t>    </a:t>
              </a:r>
              <a:r>
                <a:rPr lang="zh-CN" altLang="en-US">
                  <a:latin typeface="Arial" panose="020B0604020202020204" pitchFamily="34" charset="0"/>
                  <a:ea typeface="黑体" panose="02010609060101010101" pitchFamily="2" charset="-122"/>
                </a:rPr>
                <a:t>在哪里？</a:t>
              </a:r>
            </a:p>
          </p:txBody>
        </p:sp>
        <p:sp>
          <p:nvSpPr>
            <p:cNvPr id="26661" name="文本框 26660"/>
            <p:cNvSpPr txBox="1"/>
            <p:nvPr/>
          </p:nvSpPr>
          <p:spPr>
            <a:xfrm>
              <a:off x="138" y="234"/>
              <a:ext cx="247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1" i="1">
                  <a:latin typeface="Times New Roman" panose="02020603050405020304" pitchFamily="18" charset="0"/>
                </a:rPr>
                <a:t>a</a:t>
              </a:r>
              <a:r>
                <a:rPr lang="en-US" altLang="zh-CN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</a:t>
              </a:r>
              <a:endParaRPr lang="en-US" altLang="zh-CN" b="1" i="1">
                <a:latin typeface="Times New Roman" panose="02020603050405020304" pitchFamily="18" charset="0"/>
                <a:sym typeface="CommercialPi BT" panose="05020102010206080802" pitchFamily="18" charset="2"/>
              </a:endParaRPr>
            </a:p>
          </p:txBody>
        </p:sp>
      </p:grpSp>
      <p:sp>
        <p:nvSpPr>
          <p:cNvPr id="26668" name="文本框 26667"/>
          <p:cNvSpPr txBox="1"/>
          <p:nvPr/>
        </p:nvSpPr>
        <p:spPr>
          <a:xfrm>
            <a:off x="1394143" y="5049838"/>
            <a:ext cx="3384550" cy="30670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空间点</a:t>
            </a:r>
            <a:r>
              <a:rPr lang="en-US" altLang="zh-CN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lang="zh-CN" altLang="en-US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在哪里？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958138" y="1454150"/>
            <a:ext cx="461962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i="1">
                <a:latin typeface="Times New Roman" panose="02020603050405020304" pitchFamily="18" charset="0"/>
              </a:rPr>
              <a:t>b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</a:t>
            </a:r>
            <a:endParaRPr lang="en-US" altLang="zh-CN" sz="2400" b="1" i="1">
              <a:latin typeface="Times New Roman" panose="02020603050405020304" pitchFamily="18" charset="0"/>
              <a:sym typeface="CommercialPi BT" panose="05020102010206080802" pitchFamily="18" charset="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302375" y="5800725"/>
            <a:ext cx="3384550" cy="306705"/>
          </a:xfrm>
          <a:prstGeom prst="rect">
            <a:avLst/>
          </a:prstGeom>
          <a:gradFill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rgbClr val="FF9966">
                  <a:gamma/>
                  <a:tint val="0"/>
                  <a:invGamma/>
                </a:srgbClr>
              </a:gs>
            </a:gsLst>
            <a:lin ang="5400000" scaled="1"/>
            <a:tileRect/>
          </a:gradFill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空间点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OZ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轴上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753350" y="3055938"/>
            <a:ext cx="336550" cy="274637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1200">
                <a:solidFill>
                  <a:srgbClr val="FF3300"/>
                </a:solidFill>
                <a:latin typeface="Times New Roman" panose="02020603050405020304" pitchFamily="18" charset="0"/>
              </a:rPr>
              <a:t>●</a:t>
            </a:r>
          </a:p>
        </p:txBody>
      </p:sp>
      <p:grpSp>
        <p:nvGrpSpPr>
          <p:cNvPr id="26635" name="组合 26634"/>
          <p:cNvGrpSpPr/>
          <p:nvPr/>
        </p:nvGrpSpPr>
        <p:grpSpPr>
          <a:xfrm>
            <a:off x="5762625" y="806450"/>
            <a:ext cx="4392613" cy="4560888"/>
            <a:chOff x="0" y="0"/>
            <a:chExt cx="2767" cy="2873"/>
          </a:xfrm>
        </p:grpSpPr>
        <p:sp>
          <p:nvSpPr>
            <p:cNvPr id="26636" name="文本框 26635"/>
            <p:cNvSpPr txBox="1"/>
            <p:nvPr/>
          </p:nvSpPr>
          <p:spPr>
            <a:xfrm>
              <a:off x="1247" y="544"/>
              <a:ext cx="212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200">
                  <a:solidFill>
                    <a:srgbClr val="FF3300"/>
                  </a:solidFill>
                  <a:latin typeface="Times New Roman" panose="02020603050405020304" pitchFamily="18" charset="0"/>
                </a:rPr>
                <a:t>●</a:t>
              </a:r>
            </a:p>
          </p:txBody>
        </p:sp>
        <p:grpSp>
          <p:nvGrpSpPr>
            <p:cNvPr id="26637" name="组合 26636"/>
            <p:cNvGrpSpPr/>
            <p:nvPr/>
          </p:nvGrpSpPr>
          <p:grpSpPr>
            <a:xfrm>
              <a:off x="0" y="0"/>
              <a:ext cx="2767" cy="2873"/>
              <a:chOff x="0" y="0"/>
              <a:chExt cx="2767" cy="2873"/>
            </a:xfrm>
          </p:grpSpPr>
          <p:sp>
            <p:nvSpPr>
              <p:cNvPr id="26638" name="文本框 26637"/>
              <p:cNvSpPr txBox="1"/>
              <p:nvPr/>
            </p:nvSpPr>
            <p:spPr>
              <a:xfrm>
                <a:off x="1141" y="1460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2400" b="1" i="1">
                    <a:latin typeface="Times New Roman" panose="02020603050405020304" pitchFamily="18" charset="0"/>
                  </a:rPr>
                  <a:t>b</a:t>
                </a:r>
                <a:endParaRPr lang="en-US" altLang="zh-CN" sz="2400" i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639" name="文本框 26638"/>
              <p:cNvSpPr txBox="1"/>
              <p:nvPr/>
            </p:nvSpPr>
            <p:spPr>
              <a:xfrm>
                <a:off x="1088" y="424"/>
                <a:ext cx="367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>
                <a:spAutoFit/>
              </a:bodyPr>
              <a:lstStyle/>
              <a:p>
                <a:pPr algn="ctr"/>
                <a:r>
                  <a:rPr lang="en-US" altLang="zh-CN" sz="2400" b="1" i="1">
                    <a:latin typeface="Times New Roman" panose="02020603050405020304" pitchFamily="18" charset="0"/>
                    <a:sym typeface="EuroRoman" panose="00000400000000000000" pitchFamily="2" charset="2"/>
                  </a:rPr>
                  <a:t>b</a:t>
                </a:r>
                <a:r>
                  <a:rPr lang="en-US" altLang="zh-CN" sz="2400" b="1" i="1">
                    <a:latin typeface="Times New Roman" panose="02020603050405020304" pitchFamily="18" charset="0"/>
                    <a:sym typeface="Symbol" panose="05050102010706020507" pitchFamily="18" charset="2"/>
                  </a:rPr>
                  <a:t></a:t>
                </a:r>
                <a:endParaRPr lang="en-US" altLang="zh-CN" sz="2400" b="1" i="1">
                  <a:latin typeface="Times New Roman" panose="02020603050405020304" pitchFamily="18" charset="0"/>
                  <a:sym typeface="UniversalMath1 BT" panose="05050102010205020602" pitchFamily="18" charset="2"/>
                </a:endParaRPr>
              </a:p>
            </p:txBody>
          </p:sp>
          <p:grpSp>
            <p:nvGrpSpPr>
              <p:cNvPr id="26640" name="组合 26639"/>
              <p:cNvGrpSpPr/>
              <p:nvPr/>
            </p:nvGrpSpPr>
            <p:grpSpPr>
              <a:xfrm>
                <a:off x="0" y="0"/>
                <a:ext cx="2767" cy="2873"/>
                <a:chOff x="0" y="0"/>
                <a:chExt cx="2767" cy="2873"/>
              </a:xfrm>
            </p:grpSpPr>
            <p:sp>
              <p:nvSpPr>
                <p:cNvPr id="26641" name="直接连接符 26640"/>
                <p:cNvSpPr/>
                <p:nvPr/>
              </p:nvSpPr>
              <p:spPr>
                <a:xfrm>
                  <a:off x="45" y="1513"/>
                  <a:ext cx="2722" cy="0"/>
                </a:xfrm>
                <a:prstGeom prst="line">
                  <a:avLst/>
                </a:prstGeom>
                <a:ln w="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6642" name="直接连接符 26641"/>
                <p:cNvSpPr/>
                <p:nvPr/>
              </p:nvSpPr>
              <p:spPr>
                <a:xfrm>
                  <a:off x="1361" y="197"/>
                  <a:ext cx="0" cy="2676"/>
                </a:xfrm>
                <a:prstGeom prst="line">
                  <a:avLst/>
                </a:prstGeom>
                <a:ln w="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6643" name="文本框 26642"/>
                <p:cNvSpPr txBox="1"/>
                <p:nvPr/>
              </p:nvSpPr>
              <p:spPr>
                <a:xfrm>
                  <a:off x="1360" y="0"/>
                  <a:ext cx="181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400" b="1" i="1">
                      <a:latin typeface="Arial" panose="020B0604020202020204" pitchFamily="34" charset="0"/>
                    </a:rPr>
                    <a:t>Z</a:t>
                  </a:r>
                </a:p>
              </p:txBody>
            </p:sp>
            <p:sp>
              <p:nvSpPr>
                <p:cNvPr id="26644" name="文本框 26643"/>
                <p:cNvSpPr txBox="1"/>
                <p:nvPr/>
              </p:nvSpPr>
              <p:spPr>
                <a:xfrm>
                  <a:off x="1088" y="1270"/>
                  <a:ext cx="272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400" b="1" i="1">
                      <a:latin typeface="Arial" panose="020B0604020202020204" pitchFamily="34" charset="0"/>
                    </a:rPr>
                    <a:t>O</a:t>
                  </a:r>
                </a:p>
              </p:txBody>
            </p:sp>
            <p:sp>
              <p:nvSpPr>
                <p:cNvPr id="26645" name="文本框 26644"/>
                <p:cNvSpPr txBox="1"/>
                <p:nvPr/>
              </p:nvSpPr>
              <p:spPr>
                <a:xfrm>
                  <a:off x="0" y="1286"/>
                  <a:ext cx="272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400" b="1" i="1">
                      <a:latin typeface="Arial" panose="020B0604020202020204" pitchFamily="34" charset="0"/>
                    </a:rPr>
                    <a:t>X</a:t>
                  </a:r>
                </a:p>
              </p:txBody>
            </p:sp>
            <p:sp>
              <p:nvSpPr>
                <p:cNvPr id="26646" name="文本框 26645"/>
                <p:cNvSpPr txBox="1"/>
                <p:nvPr/>
              </p:nvSpPr>
              <p:spPr>
                <a:xfrm>
                  <a:off x="2449" y="1286"/>
                  <a:ext cx="272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400" b="1" i="1">
                      <a:latin typeface="Arial" panose="020B0604020202020204" pitchFamily="34" charset="0"/>
                    </a:rPr>
                    <a:t>Y</a:t>
                  </a:r>
                </a:p>
              </p:txBody>
            </p:sp>
          </p:grpSp>
        </p:grpSp>
      </p:grpSp>
      <p:grpSp>
        <p:nvGrpSpPr>
          <p:cNvPr id="5" name="组合 4"/>
          <p:cNvGrpSpPr/>
          <p:nvPr/>
        </p:nvGrpSpPr>
        <p:grpSpPr>
          <a:xfrm>
            <a:off x="8678863" y="1155700"/>
            <a:ext cx="2016125" cy="1152525"/>
            <a:chOff x="0" y="0"/>
            <a:chExt cx="1270" cy="726"/>
          </a:xfrm>
        </p:grpSpPr>
        <p:sp>
          <p:nvSpPr>
            <p:cNvPr id="6" name="云形标注 5"/>
            <p:cNvSpPr/>
            <p:nvPr/>
          </p:nvSpPr>
          <p:spPr>
            <a:xfrm>
              <a:off x="0" y="0"/>
              <a:ext cx="1270" cy="726"/>
            </a:xfrm>
            <a:prstGeom prst="cloudCallout">
              <a:avLst>
                <a:gd name="adj1" fmla="val -64958"/>
                <a:gd name="adj2" fmla="val 80028"/>
              </a:avLst>
            </a:prstGeom>
            <a:gradFill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rgbClr val="FFCC99">
                    <a:gamma/>
                    <a:tint val="0"/>
                    <a:invGamma/>
                  </a:srgbClr>
                </a:gs>
              </a:gsLst>
              <a:lin ang="5400000" scaled="1"/>
              <a:tileRect/>
            </a:gradFill>
            <a:ln w="0" cap="flat" cmpd="sng">
              <a:noFill/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algn="ctr"/>
              <a:r>
                <a:rPr lang="zh-CN" altLang="en-US">
                  <a:latin typeface="+mn-ea"/>
                  <a:cs typeface="+mn-ea"/>
                </a:rPr>
                <a:t>   </a:t>
              </a:r>
            </a:p>
            <a:p>
              <a:pPr algn="ctr"/>
              <a:r>
                <a:rPr lang="zh-CN" altLang="en-US">
                  <a:latin typeface="+mn-ea"/>
                  <a:cs typeface="+mn-ea"/>
                </a:rPr>
                <a:t>    在哪里？</a:t>
              </a: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38" y="234"/>
              <a:ext cx="247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1" i="1">
                  <a:latin typeface="Times New Roman" panose="02020603050405020304" pitchFamily="18" charset="0"/>
                </a:rPr>
                <a:t>b</a:t>
              </a:r>
              <a:r>
                <a:rPr lang="en-US" altLang="zh-CN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</a:t>
              </a:r>
              <a:endParaRPr lang="en-US" altLang="zh-CN" b="1" i="1">
                <a:latin typeface="Times New Roman" panose="02020603050405020304" pitchFamily="18" charset="0"/>
                <a:sym typeface="CommercialPi BT" panose="05020102010206080802" pitchFamily="18" charset="2"/>
              </a:endParaRP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6302375" y="5081588"/>
            <a:ext cx="3384550" cy="30670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空间点</a:t>
            </a:r>
            <a:r>
              <a:rPr lang="en-US" altLang="zh-CN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</a:t>
            </a:r>
            <a:r>
              <a:rPr lang="zh-CN" altLang="en-US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在哪里？</a:t>
            </a:r>
          </a:p>
        </p:txBody>
      </p:sp>
      <p:sp>
        <p:nvSpPr>
          <p:cNvPr id="26626" name="文本框 26625"/>
          <p:cNvSpPr txBox="1"/>
          <p:nvPr/>
        </p:nvSpPr>
        <p:spPr>
          <a:xfrm>
            <a:off x="488633" y="438309"/>
            <a:ext cx="7931150" cy="36830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algn="just"/>
            <a:r>
              <a:rPr lang="zh-CN" altLang="en-US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已知点的两个投影，求第三投影。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8080" y="4555490"/>
            <a:ext cx="711200" cy="89344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3785" y="5480685"/>
            <a:ext cx="878840" cy="10356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66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66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6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66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66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Par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32" grpId="0" bldLvl="0" animBg="1"/>
      <p:bldP spid="26668" grpId="0" bldLvl="0" animBg="1"/>
      <p:bldP spid="2" grpId="0"/>
      <p:bldP spid="3" grpId="0" bldLvl="0" animBg="1"/>
      <p:bldP spid="4" grpId="0"/>
      <p:bldP spid="10" grpId="0" bldLvl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739239" y="536953"/>
            <a:ext cx="6240780" cy="64516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l"/>
            <a:r>
              <a:rPr lang="zh-CN" altLang="en-US" sz="3600" b="1" i="1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3.</a:t>
            </a:r>
            <a:r>
              <a:rPr lang="en-US" altLang="zh-CN" sz="3600" b="1" i="1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3.2</a:t>
            </a:r>
            <a:r>
              <a:rPr lang="zh-CN" altLang="en-US" sz="3600" b="1" i="1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两点的相对位置和重影点</a:t>
            </a:r>
            <a:endParaRPr lang="zh-CN" altLang="en-US" sz="3600" b="1" i="1" dirty="0">
              <a:solidFill>
                <a:srgbClr val="0066CC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sp>
        <p:nvSpPr>
          <p:cNvPr id="27651" name="文本框 27650"/>
          <p:cNvSpPr txBox="1"/>
          <p:nvPr/>
        </p:nvSpPr>
        <p:spPr>
          <a:xfrm>
            <a:off x="1270635" y="1615123"/>
            <a:ext cx="706691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两点的相对位置指两点在空间的</a:t>
            </a:r>
            <a:r>
              <a:rPr lang="zh-CN" altLang="en-US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上下</a:t>
            </a:r>
            <a:r>
              <a:rPr lang="zh-CN" altLang="en-US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前后</a:t>
            </a:r>
            <a:r>
              <a:rPr lang="zh-CN" altLang="en-US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>
                <a:solidFill>
                  <a:srgbClr val="D6009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左右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位置关系。</a:t>
            </a:r>
          </a:p>
        </p:txBody>
      </p:sp>
      <p:sp>
        <p:nvSpPr>
          <p:cNvPr id="27652" name="文本框 27651"/>
          <p:cNvSpPr txBox="1"/>
          <p:nvPr/>
        </p:nvSpPr>
        <p:spPr>
          <a:xfrm>
            <a:off x="1935163" y="2486978"/>
            <a:ext cx="3943350" cy="36830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判断方法</a:t>
            </a:r>
          </a:p>
        </p:txBody>
      </p:sp>
      <p:sp>
        <p:nvSpPr>
          <p:cNvPr id="27653" name="文本框 27652"/>
          <p:cNvSpPr txBox="1"/>
          <p:nvPr/>
        </p:nvSpPr>
        <p:spPr>
          <a:xfrm>
            <a:off x="2350770" y="3068320"/>
            <a:ext cx="4629150" cy="30670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en-US" altLang="zh-CN" sz="1400" i="1">
                <a:latin typeface="+mn-ea"/>
                <a:cs typeface="+mn-ea"/>
              </a:rPr>
              <a:t>x</a:t>
            </a:r>
            <a:r>
              <a:rPr lang="en-US" altLang="zh-CN" sz="1400">
                <a:latin typeface="+mn-ea"/>
                <a:cs typeface="+mn-ea"/>
              </a:rPr>
              <a:t> </a:t>
            </a:r>
            <a:r>
              <a:rPr lang="zh-CN" altLang="en-US" sz="1400">
                <a:latin typeface="+mn-ea"/>
                <a:cs typeface="+mn-ea"/>
              </a:rPr>
              <a:t>坐标大的在</a:t>
            </a:r>
            <a:r>
              <a:rPr lang="zh-CN" altLang="en-US" sz="1400">
                <a:solidFill>
                  <a:srgbClr val="D60093"/>
                </a:solidFill>
                <a:latin typeface="+mn-ea"/>
                <a:cs typeface="+mn-ea"/>
              </a:rPr>
              <a:t>左</a:t>
            </a:r>
            <a:r>
              <a:rPr lang="zh-CN" altLang="en-US" sz="1400">
                <a:latin typeface="+mn-ea"/>
                <a:cs typeface="+mn-ea"/>
              </a:rPr>
              <a:t>  </a:t>
            </a:r>
          </a:p>
        </p:txBody>
      </p:sp>
      <p:sp>
        <p:nvSpPr>
          <p:cNvPr id="27654" name="文本框 27653"/>
          <p:cNvSpPr txBox="1"/>
          <p:nvPr/>
        </p:nvSpPr>
        <p:spPr>
          <a:xfrm>
            <a:off x="2352358" y="3593783"/>
            <a:ext cx="4460875" cy="30670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en-US" altLang="zh-CN" sz="1400" i="1">
                <a:latin typeface="+mn-ea"/>
                <a:cs typeface="+mn-ea"/>
              </a:rPr>
              <a:t>y</a:t>
            </a:r>
            <a:r>
              <a:rPr lang="en-US" altLang="zh-CN" sz="1400">
                <a:latin typeface="+mn-ea"/>
                <a:cs typeface="+mn-ea"/>
              </a:rPr>
              <a:t> </a:t>
            </a:r>
            <a:r>
              <a:rPr lang="zh-CN" altLang="en-US" sz="1400">
                <a:latin typeface="+mn-ea"/>
                <a:cs typeface="+mn-ea"/>
              </a:rPr>
              <a:t>坐标大的在</a:t>
            </a:r>
            <a:r>
              <a:rPr lang="zh-CN" altLang="en-US" sz="1400">
                <a:solidFill>
                  <a:schemeClr val="accent2"/>
                </a:solidFill>
                <a:latin typeface="+mn-ea"/>
                <a:cs typeface="+mn-ea"/>
              </a:rPr>
              <a:t>前</a:t>
            </a:r>
          </a:p>
        </p:txBody>
      </p:sp>
      <p:sp>
        <p:nvSpPr>
          <p:cNvPr id="27655" name="文本框 27654"/>
          <p:cNvSpPr txBox="1"/>
          <p:nvPr/>
        </p:nvSpPr>
        <p:spPr>
          <a:xfrm>
            <a:off x="2350453" y="4150995"/>
            <a:ext cx="4248150" cy="30670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en-US" altLang="zh-CN" sz="1400" i="1">
                <a:latin typeface="+mn-ea"/>
                <a:cs typeface="+mn-ea"/>
              </a:rPr>
              <a:t>z</a:t>
            </a:r>
            <a:r>
              <a:rPr lang="en-US" altLang="zh-CN" sz="1400">
                <a:latin typeface="+mn-ea"/>
                <a:cs typeface="+mn-ea"/>
              </a:rPr>
              <a:t> </a:t>
            </a:r>
            <a:r>
              <a:rPr lang="zh-CN" altLang="en-US" sz="1400">
                <a:latin typeface="+mn-ea"/>
                <a:cs typeface="+mn-ea"/>
              </a:rPr>
              <a:t>坐标大的在</a:t>
            </a:r>
            <a:r>
              <a:rPr lang="zh-CN" altLang="en-US" sz="1400">
                <a:solidFill>
                  <a:srgbClr val="FF3300"/>
                </a:solidFill>
                <a:latin typeface="+mn-ea"/>
                <a:cs typeface="+mn-ea"/>
              </a:rPr>
              <a:t>上</a:t>
            </a:r>
          </a:p>
        </p:txBody>
      </p:sp>
      <p:sp>
        <p:nvSpPr>
          <p:cNvPr id="27656" name="直接连接符 27655"/>
          <p:cNvSpPr/>
          <p:nvPr/>
        </p:nvSpPr>
        <p:spPr>
          <a:xfrm>
            <a:off x="8967788" y="3709670"/>
            <a:ext cx="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657" name="文本框 27656"/>
          <p:cNvSpPr txBox="1"/>
          <p:nvPr/>
        </p:nvSpPr>
        <p:spPr>
          <a:xfrm>
            <a:off x="8675688" y="3806508"/>
            <a:ext cx="4127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i="1">
                <a:latin typeface="Times New Roman" panose="02020603050405020304" pitchFamily="18" charset="0"/>
                <a:sym typeface="EuroRoman" panose="00000400000000000000" pitchFamily="2" charset="2"/>
              </a:rPr>
              <a:t>b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endParaRPr lang="en-US" altLang="zh-CN" sz="2400" b="1" i="1">
              <a:latin typeface="Times New Roman" panose="02020603050405020304" pitchFamily="18" charset="0"/>
              <a:sym typeface="UniversalMath1 BT" panose="05050102010205020602" pitchFamily="18" charset="2"/>
            </a:endParaRPr>
          </a:p>
        </p:txBody>
      </p:sp>
      <p:sp>
        <p:nvSpPr>
          <p:cNvPr id="27658" name="直接连接符 27657"/>
          <p:cNvSpPr/>
          <p:nvPr/>
        </p:nvSpPr>
        <p:spPr>
          <a:xfrm>
            <a:off x="7988300" y="4554220"/>
            <a:ext cx="286226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659" name="未知"/>
          <p:cNvSpPr/>
          <p:nvPr/>
        </p:nvSpPr>
        <p:spPr>
          <a:xfrm>
            <a:off x="9388475" y="3465195"/>
            <a:ext cx="1588" cy="2120900"/>
          </a:xfrm>
          <a:custGeom>
            <a:avLst/>
            <a:gdLst/>
            <a:ahLst/>
            <a:cxnLst/>
            <a:rect l="0" t="0" r="0" b="0"/>
            <a:pathLst>
              <a:path w="1" h="1336">
                <a:moveTo>
                  <a:pt x="0" y="0"/>
                </a:moveTo>
                <a:lnTo>
                  <a:pt x="0" y="1336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660" name="直接连接符 27659"/>
          <p:cNvSpPr/>
          <p:nvPr/>
        </p:nvSpPr>
        <p:spPr>
          <a:xfrm>
            <a:off x="8482013" y="3589020"/>
            <a:ext cx="0" cy="1433513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661" name="直接连接符 27660"/>
          <p:cNvSpPr/>
          <p:nvPr/>
        </p:nvSpPr>
        <p:spPr>
          <a:xfrm>
            <a:off x="8482013" y="3589020"/>
            <a:ext cx="140017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662" name="直接连接符 27661"/>
          <p:cNvSpPr/>
          <p:nvPr/>
        </p:nvSpPr>
        <p:spPr>
          <a:xfrm>
            <a:off x="8894763" y="4143058"/>
            <a:ext cx="0" cy="1316037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663" name="未知"/>
          <p:cNvSpPr/>
          <p:nvPr/>
        </p:nvSpPr>
        <p:spPr>
          <a:xfrm>
            <a:off x="8894763" y="4143058"/>
            <a:ext cx="1420812" cy="1587"/>
          </a:xfrm>
          <a:custGeom>
            <a:avLst/>
            <a:gdLst/>
            <a:ahLst/>
            <a:cxnLst/>
            <a:rect l="0" t="0" r="0" b="0"/>
            <a:pathLst>
              <a:path w="895" h="1">
                <a:moveTo>
                  <a:pt x="0" y="0"/>
                </a:moveTo>
                <a:lnTo>
                  <a:pt x="895" y="0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664" name="文本框 27663"/>
          <p:cNvSpPr txBox="1"/>
          <p:nvPr/>
        </p:nvSpPr>
        <p:spPr>
          <a:xfrm>
            <a:off x="8196263" y="484632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27665" name="文本框 27664"/>
          <p:cNvSpPr txBox="1"/>
          <p:nvPr/>
        </p:nvSpPr>
        <p:spPr>
          <a:xfrm>
            <a:off x="8205788" y="3239770"/>
            <a:ext cx="5651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i="1">
                <a:latin typeface="Times New Roman" panose="02020603050405020304" pitchFamily="18" charset="0"/>
                <a:sym typeface="EuroRoman" panose="00000400000000000000" pitchFamily="2" charset="2"/>
              </a:rPr>
              <a:t>a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400" b="1">
                <a:latin typeface="Times New Roman" panose="02020603050405020304" pitchFamily="18" charset="0"/>
                <a:sym typeface="UniversalMath1 BT" panose="05050102010205020602" pitchFamily="18" charset="2"/>
              </a:rPr>
              <a:t>  </a:t>
            </a:r>
          </a:p>
        </p:txBody>
      </p:sp>
      <p:sp>
        <p:nvSpPr>
          <p:cNvPr id="27666" name="文本框 27665"/>
          <p:cNvSpPr txBox="1"/>
          <p:nvPr/>
        </p:nvSpPr>
        <p:spPr>
          <a:xfrm>
            <a:off x="9839325" y="3242945"/>
            <a:ext cx="46196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</a:t>
            </a:r>
            <a:endParaRPr lang="en-US" altLang="zh-CN" sz="2400" b="1" i="1">
              <a:latin typeface="Times New Roman" panose="02020603050405020304" pitchFamily="18" charset="0"/>
              <a:sym typeface="UniversalMath1 BT" panose="05050102010205020602" pitchFamily="18" charset="2"/>
            </a:endParaRPr>
          </a:p>
        </p:txBody>
      </p:sp>
      <p:sp>
        <p:nvSpPr>
          <p:cNvPr id="27667" name="文本框 27666"/>
          <p:cNvSpPr txBox="1"/>
          <p:nvPr/>
        </p:nvSpPr>
        <p:spPr>
          <a:xfrm>
            <a:off x="10266363" y="3787458"/>
            <a:ext cx="461962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i="1">
                <a:latin typeface="Times New Roman" panose="02020603050405020304" pitchFamily="18" charset="0"/>
              </a:rPr>
              <a:t>b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</a:t>
            </a:r>
            <a:endParaRPr lang="en-US" altLang="zh-CN" sz="2400" b="1" i="1">
              <a:latin typeface="Times New Roman" panose="02020603050405020304" pitchFamily="18" charset="0"/>
              <a:sym typeface="UniversalMath1 BT" panose="05050102010205020602" pitchFamily="18" charset="2"/>
            </a:endParaRPr>
          </a:p>
        </p:txBody>
      </p:sp>
      <p:sp>
        <p:nvSpPr>
          <p:cNvPr id="27668" name="文本框 27667"/>
          <p:cNvSpPr txBox="1"/>
          <p:nvPr/>
        </p:nvSpPr>
        <p:spPr>
          <a:xfrm>
            <a:off x="8664575" y="5336858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i="1">
                <a:latin typeface="Times New Roman" panose="02020603050405020304" pitchFamily="18" charset="0"/>
              </a:rPr>
              <a:t>b</a:t>
            </a:r>
          </a:p>
        </p:txBody>
      </p:sp>
      <p:grpSp>
        <p:nvGrpSpPr>
          <p:cNvPr id="27669" name="组合 27668"/>
          <p:cNvGrpSpPr/>
          <p:nvPr/>
        </p:nvGrpSpPr>
        <p:grpSpPr>
          <a:xfrm>
            <a:off x="8332788" y="3471545"/>
            <a:ext cx="2092325" cy="2060575"/>
            <a:chOff x="0" y="0"/>
            <a:chExt cx="1318" cy="1298"/>
          </a:xfrm>
        </p:grpSpPr>
        <p:sp>
          <p:nvSpPr>
            <p:cNvPr id="27670" name="文本框 27669"/>
            <p:cNvSpPr txBox="1"/>
            <p:nvPr/>
          </p:nvSpPr>
          <p:spPr>
            <a:xfrm>
              <a:off x="267" y="355"/>
              <a:ext cx="189" cy="1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9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●</a:t>
              </a:r>
              <a:endParaRPr lang="zh-CN" altLang="en-US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27671" name="文本框 27670"/>
            <p:cNvSpPr txBox="1"/>
            <p:nvPr/>
          </p:nvSpPr>
          <p:spPr>
            <a:xfrm>
              <a:off x="869" y="2"/>
              <a:ext cx="189" cy="1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9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●</a:t>
              </a:r>
            </a:p>
          </p:txBody>
        </p:sp>
        <p:sp>
          <p:nvSpPr>
            <p:cNvPr id="27672" name="文本框 27671"/>
            <p:cNvSpPr txBox="1"/>
            <p:nvPr/>
          </p:nvSpPr>
          <p:spPr>
            <a:xfrm>
              <a:off x="0" y="885"/>
              <a:ext cx="189" cy="1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9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●</a:t>
              </a:r>
            </a:p>
          </p:txBody>
        </p:sp>
        <p:sp>
          <p:nvSpPr>
            <p:cNvPr id="27673" name="文本框 27672"/>
            <p:cNvSpPr txBox="1"/>
            <p:nvPr/>
          </p:nvSpPr>
          <p:spPr>
            <a:xfrm>
              <a:off x="1129" y="352"/>
              <a:ext cx="189" cy="1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9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●</a:t>
              </a:r>
            </a:p>
          </p:txBody>
        </p:sp>
        <p:sp>
          <p:nvSpPr>
            <p:cNvPr id="27674" name="文本框 27673"/>
            <p:cNvSpPr txBox="1"/>
            <p:nvPr/>
          </p:nvSpPr>
          <p:spPr>
            <a:xfrm>
              <a:off x="260" y="1154"/>
              <a:ext cx="189" cy="1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9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●</a:t>
              </a:r>
            </a:p>
          </p:txBody>
        </p:sp>
        <p:sp>
          <p:nvSpPr>
            <p:cNvPr id="27675" name="文本框 27674"/>
            <p:cNvSpPr txBox="1"/>
            <p:nvPr/>
          </p:nvSpPr>
          <p:spPr>
            <a:xfrm>
              <a:off x="3" y="0"/>
              <a:ext cx="189" cy="1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9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●</a:t>
              </a:r>
              <a:endParaRPr lang="zh-CN" altLang="en-US" sz="2400" b="1">
                <a:latin typeface="Times New Roman" panose="02020603050405020304" pitchFamily="18" charset="0"/>
              </a:endParaRPr>
            </a:p>
          </p:txBody>
        </p:sp>
      </p:grpSp>
      <p:sp>
        <p:nvSpPr>
          <p:cNvPr id="27677" name="文本框 27676"/>
          <p:cNvSpPr txBox="1"/>
          <p:nvPr/>
        </p:nvSpPr>
        <p:spPr>
          <a:xfrm>
            <a:off x="7794625" y="4190683"/>
            <a:ext cx="3873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/>
            <a:r>
              <a:rPr lang="en-US" altLang="zh-CN" sz="2400" b="1" i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27678" name="文本框 27677"/>
          <p:cNvSpPr txBox="1"/>
          <p:nvPr/>
        </p:nvSpPr>
        <p:spPr>
          <a:xfrm>
            <a:off x="9364663" y="5309870"/>
            <a:ext cx="52863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/>
            <a:r>
              <a:rPr lang="en-US" altLang="zh-CN" sz="2400" b="1" i="1">
                <a:latin typeface="Times New Roman" panose="02020603050405020304" pitchFamily="18" charset="0"/>
              </a:rPr>
              <a:t>Y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27679" name="文本框 27678"/>
          <p:cNvSpPr txBox="1"/>
          <p:nvPr/>
        </p:nvSpPr>
        <p:spPr>
          <a:xfrm>
            <a:off x="10317163" y="4506595"/>
            <a:ext cx="550862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/>
            <a:r>
              <a:rPr lang="en-US" altLang="zh-CN" sz="2400" b="1" i="1">
                <a:latin typeface="Times New Roman" panose="02020603050405020304" pitchFamily="18" charset="0"/>
              </a:rPr>
              <a:t>Y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W</a:t>
            </a:r>
            <a:endParaRPr lang="en-US" altLang="zh-CN" sz="2400" b="1" i="1">
              <a:latin typeface="Times New Roman" panose="02020603050405020304" pitchFamily="18" charset="0"/>
            </a:endParaRPr>
          </a:p>
        </p:txBody>
      </p:sp>
      <p:sp>
        <p:nvSpPr>
          <p:cNvPr id="27680" name="文本框 27679"/>
          <p:cNvSpPr txBox="1"/>
          <p:nvPr/>
        </p:nvSpPr>
        <p:spPr>
          <a:xfrm>
            <a:off x="9234488" y="3033395"/>
            <a:ext cx="369887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i="1">
                <a:latin typeface="Times New Roman" panose="02020603050405020304" pitchFamily="18" charset="0"/>
              </a:rPr>
              <a:t>Z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920990" y="5995670"/>
            <a:ext cx="34163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i="1" dirty="0">
                <a:latin typeface="Times New Roman" panose="02020603050405020304" pitchFamily="18" charset="0"/>
                <a:sym typeface="+mn-ea"/>
              </a:rPr>
              <a:t>B</a:t>
            </a:r>
            <a:r>
              <a:rPr lang="zh-CN" altLang="en-US" sz="1400" dirty="0">
                <a:latin typeface="Times New Roman" panose="02020603050405020304" pitchFamily="18" charset="0"/>
                <a:sym typeface="+mn-ea"/>
              </a:rPr>
              <a:t>点在</a:t>
            </a:r>
            <a:r>
              <a:rPr lang="zh-CN" altLang="en-US" sz="1400" i="1" dirty="0">
                <a:latin typeface="Times New Roman" panose="02020603050405020304" pitchFamily="18" charset="0"/>
                <a:sym typeface="+mn-ea"/>
              </a:rPr>
              <a:t>A</a:t>
            </a:r>
            <a:r>
              <a:rPr lang="zh-CN" altLang="en-US" sz="1400" dirty="0">
                <a:latin typeface="Times New Roman" panose="02020603050405020304" pitchFamily="18" charset="0"/>
                <a:sym typeface="+mn-ea"/>
              </a:rPr>
              <a:t>点</a:t>
            </a:r>
            <a:r>
              <a:rPr lang="zh-CN" altLang="en-US" sz="1400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之前</a:t>
            </a:r>
            <a:r>
              <a:rPr lang="zh-CN" altLang="en-US" sz="1400" dirty="0">
                <a:latin typeface="Times New Roman" panose="02020603050405020304" pitchFamily="18" charset="0"/>
                <a:sym typeface="+mn-ea"/>
              </a:rPr>
              <a:t>、</a:t>
            </a:r>
            <a:r>
              <a:rPr lang="zh-CN" altLang="en-US" sz="1400" dirty="0">
                <a:solidFill>
                  <a:srgbClr val="00B050"/>
                </a:solidFill>
                <a:latin typeface="Times New Roman" panose="02020603050405020304" pitchFamily="18" charset="0"/>
                <a:sym typeface="+mn-ea"/>
              </a:rPr>
              <a:t>之右</a:t>
            </a:r>
            <a:r>
              <a:rPr lang="zh-CN" altLang="en-US" sz="1400" dirty="0">
                <a:latin typeface="Times New Roman" panose="02020603050405020304" pitchFamily="18" charset="0"/>
                <a:sym typeface="+mn-ea"/>
              </a:rPr>
              <a:t>、</a:t>
            </a:r>
            <a:r>
              <a:rPr lang="zh-CN" altLang="en-US" sz="1400" dirty="0">
                <a:solidFill>
                  <a:srgbClr val="7030A0"/>
                </a:solidFill>
                <a:latin typeface="Times New Roman" panose="02020603050405020304" pitchFamily="18" charset="0"/>
                <a:sym typeface="+mn-ea"/>
              </a:rPr>
              <a:t>之下</a:t>
            </a:r>
            <a:r>
              <a:rPr lang="zh-CN" altLang="en-US" sz="1400" dirty="0">
                <a:latin typeface="Times New Roman" panose="02020603050405020304" pitchFamily="18" charset="0"/>
                <a:sym typeface="+mn-ea"/>
              </a:rPr>
              <a:t>。</a:t>
            </a:r>
            <a:endParaRPr lang="zh-CN" altLang="en-US" sz="1400"/>
          </a:p>
        </p:txBody>
      </p:sp>
      <p:sp>
        <p:nvSpPr>
          <p:cNvPr id="10" name="文本框 9"/>
          <p:cNvSpPr txBox="1"/>
          <p:nvPr/>
        </p:nvSpPr>
        <p:spPr>
          <a:xfrm>
            <a:off x="7343775" y="2415858"/>
            <a:ext cx="3384550" cy="30670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空间点</a:t>
            </a:r>
            <a:r>
              <a:rPr lang="en-US" altLang="zh-CN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lang="zh-CN" altLang="zh-CN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</a:t>
            </a:r>
            <a:r>
              <a:rPr lang="zh-CN" altLang="en-US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的相对位置如何？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8325" y="1879600"/>
            <a:ext cx="711200" cy="8934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6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6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75"/>
                                        <p:tgtEl>
                                          <p:spTgt spid="276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75"/>
                                        <p:tgtEl>
                                          <p:spTgt spid="276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75"/>
                                        <p:tgtEl>
                                          <p:spTgt spid="276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/>
      <p:bldP spid="27652" grpId="0"/>
      <p:bldP spid="27653" grpId="0" build="p"/>
      <p:bldP spid="27654" grpId="0" build="p"/>
      <p:bldP spid="27655" grpId="0" build="p"/>
      <p:bldP spid="27657" grpId="0"/>
      <p:bldP spid="27659" grpId="0" bldLvl="0" animBg="1"/>
      <p:bldP spid="27663" grpId="0" bldLvl="0" animBg="1"/>
      <p:bldP spid="27664" grpId="0"/>
      <p:bldP spid="27665" grpId="0"/>
      <p:bldP spid="27666" grpId="0"/>
      <p:bldP spid="27667" grpId="0"/>
      <p:bldP spid="27668" grpId="0"/>
      <p:bldP spid="27677" grpId="0"/>
      <p:bldP spid="27678" grpId="0"/>
      <p:bldP spid="27679" grpId="0"/>
      <p:bldP spid="27680" grpId="0"/>
      <p:bldP spid="2" grpId="0"/>
      <p:bldP spid="10" grpId="0" bldLvl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未知"/>
          <p:cNvSpPr/>
          <p:nvPr/>
        </p:nvSpPr>
        <p:spPr>
          <a:xfrm>
            <a:off x="6273800" y="1831975"/>
            <a:ext cx="1588" cy="1720850"/>
          </a:xfrm>
          <a:custGeom>
            <a:avLst/>
            <a:gdLst/>
            <a:ahLst/>
            <a:cxnLst/>
            <a:rect l="0" t="0" r="0" b="0"/>
            <a:pathLst>
              <a:path w="1" h="895">
                <a:moveTo>
                  <a:pt x="0" y="0"/>
                </a:moveTo>
                <a:lnTo>
                  <a:pt x="0" y="895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675" name="未知"/>
          <p:cNvSpPr/>
          <p:nvPr/>
        </p:nvSpPr>
        <p:spPr>
          <a:xfrm>
            <a:off x="6273800" y="1831975"/>
            <a:ext cx="1738313" cy="1588"/>
          </a:xfrm>
          <a:custGeom>
            <a:avLst/>
            <a:gdLst/>
            <a:ahLst/>
            <a:cxnLst/>
            <a:rect l="0" t="0" r="0" b="0"/>
            <a:pathLst>
              <a:path w="921" h="1">
                <a:moveTo>
                  <a:pt x="0" y="0"/>
                </a:moveTo>
                <a:lnTo>
                  <a:pt x="921" y="0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678" name="矩形标注 28677"/>
          <p:cNvSpPr/>
          <p:nvPr/>
        </p:nvSpPr>
        <p:spPr>
          <a:xfrm>
            <a:off x="2211705" y="1964533"/>
            <a:ext cx="3519488" cy="306704"/>
          </a:xfrm>
          <a:prstGeom prst="wedgeRectCallout">
            <a:avLst>
              <a:gd name="adj1" fmla="val 57135"/>
              <a:gd name="adj2" fmla="val 314957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lang="en-US" altLang="zh-CN" sz="1400">
                <a:latin typeface="+mn-ea"/>
                <a:cs typeface="+mn-ea"/>
              </a:rPr>
              <a:t>A</a:t>
            </a:r>
            <a:r>
              <a:rPr lang="zh-CN" altLang="en-US" sz="1400">
                <a:latin typeface="+mn-ea"/>
                <a:cs typeface="+mn-ea"/>
              </a:rPr>
              <a:t>、</a:t>
            </a:r>
            <a:r>
              <a:rPr lang="en-US" altLang="zh-CN" sz="1400">
                <a:latin typeface="+mn-ea"/>
                <a:cs typeface="+mn-ea"/>
              </a:rPr>
              <a:t>C</a:t>
            </a:r>
            <a:r>
              <a:rPr lang="zh-CN" altLang="en-US" sz="1400">
                <a:latin typeface="+mn-ea"/>
                <a:cs typeface="+mn-ea"/>
              </a:rPr>
              <a:t>为</a:t>
            </a:r>
            <a:r>
              <a:rPr lang="en-US" altLang="zh-CN" sz="1400">
                <a:latin typeface="+mn-ea"/>
                <a:cs typeface="+mn-ea"/>
              </a:rPr>
              <a:t>H</a:t>
            </a:r>
            <a:r>
              <a:rPr lang="zh-CN" altLang="en-US" sz="1400">
                <a:latin typeface="+mn-ea"/>
                <a:cs typeface="+mn-ea"/>
              </a:rPr>
              <a:t>面的重影点</a:t>
            </a:r>
          </a:p>
        </p:txBody>
      </p:sp>
      <p:grpSp>
        <p:nvGrpSpPr>
          <p:cNvPr id="28679" name="组合 28678"/>
          <p:cNvGrpSpPr/>
          <p:nvPr/>
        </p:nvGrpSpPr>
        <p:grpSpPr>
          <a:xfrm>
            <a:off x="6113463" y="1704975"/>
            <a:ext cx="2105025" cy="1944688"/>
            <a:chOff x="0" y="0"/>
            <a:chExt cx="1116" cy="1012"/>
          </a:xfrm>
        </p:grpSpPr>
        <p:sp>
          <p:nvSpPr>
            <p:cNvPr id="28680" name="文本框 28679"/>
            <p:cNvSpPr txBox="1"/>
            <p:nvPr/>
          </p:nvSpPr>
          <p:spPr>
            <a:xfrm>
              <a:off x="9" y="893"/>
              <a:ext cx="159" cy="11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9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●</a:t>
              </a:r>
              <a:endParaRPr lang="zh-CN" altLang="en-US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28681" name="文本框 28680"/>
            <p:cNvSpPr txBox="1"/>
            <p:nvPr/>
          </p:nvSpPr>
          <p:spPr>
            <a:xfrm>
              <a:off x="937" y="288"/>
              <a:ext cx="179" cy="14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200" b="1">
                  <a:latin typeface="Times New Roman" panose="02020603050405020304" pitchFamily="18" charset="0"/>
                </a:rPr>
                <a:t>●</a:t>
              </a:r>
              <a:endParaRPr lang="zh-CN" altLang="en-US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28682" name="文本框 28681"/>
            <p:cNvSpPr txBox="1"/>
            <p:nvPr/>
          </p:nvSpPr>
          <p:spPr>
            <a:xfrm>
              <a:off x="1" y="0"/>
              <a:ext cx="159" cy="11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9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●</a:t>
              </a:r>
            </a:p>
          </p:txBody>
        </p:sp>
        <p:sp>
          <p:nvSpPr>
            <p:cNvPr id="28683" name="文本框 28682"/>
            <p:cNvSpPr txBox="1"/>
            <p:nvPr/>
          </p:nvSpPr>
          <p:spPr>
            <a:xfrm>
              <a:off x="933" y="0"/>
              <a:ext cx="159" cy="11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9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●</a:t>
              </a:r>
            </a:p>
          </p:txBody>
        </p:sp>
        <p:sp>
          <p:nvSpPr>
            <p:cNvPr id="28684" name="文本框 28683"/>
            <p:cNvSpPr txBox="1"/>
            <p:nvPr/>
          </p:nvSpPr>
          <p:spPr>
            <a:xfrm>
              <a:off x="0" y="275"/>
              <a:ext cx="179" cy="14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200" b="1">
                  <a:latin typeface="Times New Roman" panose="02020603050405020304" pitchFamily="18" charset="0"/>
                </a:rPr>
                <a:t>●</a:t>
              </a:r>
            </a:p>
          </p:txBody>
        </p:sp>
      </p:grpSp>
      <p:sp>
        <p:nvSpPr>
          <p:cNvPr id="28685" name="直接连接符 28684"/>
          <p:cNvSpPr/>
          <p:nvPr/>
        </p:nvSpPr>
        <p:spPr>
          <a:xfrm>
            <a:off x="5986463" y="2679700"/>
            <a:ext cx="23876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86" name="直接连接符 28685"/>
          <p:cNvSpPr/>
          <p:nvPr/>
        </p:nvSpPr>
        <p:spPr>
          <a:xfrm>
            <a:off x="7340600" y="1347788"/>
            <a:ext cx="0" cy="2395537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87" name="直接连接符 28686"/>
          <p:cNvSpPr/>
          <p:nvPr/>
        </p:nvSpPr>
        <p:spPr>
          <a:xfrm>
            <a:off x="6273800" y="2365375"/>
            <a:ext cx="17383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88" name="文本框 28687"/>
          <p:cNvSpPr txBox="1"/>
          <p:nvPr/>
        </p:nvSpPr>
        <p:spPr>
          <a:xfrm>
            <a:off x="6010275" y="1435100"/>
            <a:ext cx="4127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i="1">
                <a:latin typeface="Times New Roman" panose="02020603050405020304" pitchFamily="18" charset="0"/>
                <a:sym typeface="EuroRoman" panose="00000400000000000000" pitchFamily="2" charset="2"/>
              </a:rPr>
              <a:t>a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endParaRPr lang="en-US" altLang="zh-CN" sz="2400" b="1" i="1">
              <a:latin typeface="Times New Roman" panose="02020603050405020304" pitchFamily="18" charset="0"/>
              <a:sym typeface="UniversalMath1 BT" panose="05050102010205020602" pitchFamily="18" charset="2"/>
            </a:endParaRPr>
          </a:p>
        </p:txBody>
      </p:sp>
      <p:sp>
        <p:nvSpPr>
          <p:cNvPr id="28689" name="文本框 28688"/>
          <p:cNvSpPr txBox="1"/>
          <p:nvPr/>
        </p:nvSpPr>
        <p:spPr>
          <a:xfrm>
            <a:off x="7924800" y="1449388"/>
            <a:ext cx="46196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</a:t>
            </a:r>
            <a:endParaRPr lang="en-US" altLang="zh-CN" sz="2400" b="1" i="1">
              <a:latin typeface="Times New Roman" panose="02020603050405020304" pitchFamily="18" charset="0"/>
              <a:sym typeface="UniversalMath1 BT" panose="05050102010205020602" pitchFamily="18" charset="2"/>
            </a:endParaRPr>
          </a:p>
        </p:txBody>
      </p:sp>
      <p:grpSp>
        <p:nvGrpSpPr>
          <p:cNvPr id="28690" name="组合 28689"/>
          <p:cNvGrpSpPr/>
          <p:nvPr/>
        </p:nvGrpSpPr>
        <p:grpSpPr>
          <a:xfrm>
            <a:off x="8105775" y="2178050"/>
            <a:ext cx="498475" cy="457200"/>
            <a:chOff x="0" y="0"/>
            <a:chExt cx="264" cy="124"/>
          </a:xfrm>
        </p:grpSpPr>
        <p:sp>
          <p:nvSpPr>
            <p:cNvPr id="28691" name="文本框 28690"/>
            <p:cNvSpPr txBox="1"/>
            <p:nvPr/>
          </p:nvSpPr>
          <p:spPr>
            <a:xfrm>
              <a:off x="0" y="0"/>
              <a:ext cx="235" cy="12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c</a:t>
              </a:r>
              <a:r>
                <a:rPr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</a:t>
              </a:r>
              <a:endParaRPr lang="en-US" altLang="zh-CN" sz="2400" b="1" i="1">
                <a:latin typeface="Times New Roman" panose="02020603050405020304" pitchFamily="18" charset="0"/>
                <a:sym typeface="UniversalMath1 BT" panose="05050102010205020602" pitchFamily="18" charset="2"/>
              </a:endParaRPr>
            </a:p>
          </p:txBody>
        </p:sp>
        <p:sp>
          <p:nvSpPr>
            <p:cNvPr id="28692" name="文本框 28691"/>
            <p:cNvSpPr txBox="1"/>
            <p:nvPr/>
          </p:nvSpPr>
          <p:spPr>
            <a:xfrm>
              <a:off x="167" y="0"/>
              <a:ext cx="97" cy="12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8693" name="文本框 28692"/>
          <p:cNvSpPr txBox="1"/>
          <p:nvPr/>
        </p:nvSpPr>
        <p:spPr>
          <a:xfrm>
            <a:off x="5867400" y="2105025"/>
            <a:ext cx="39528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i="1">
                <a:latin typeface="Times New Roman" panose="02020603050405020304" pitchFamily="18" charset="0"/>
                <a:sym typeface="EuroRoman" panose="00000400000000000000" pitchFamily="2" charset="2"/>
              </a:rPr>
              <a:t>c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endParaRPr lang="en-US" altLang="zh-CN" sz="2400" b="1" i="1">
              <a:latin typeface="Times New Roman" panose="02020603050405020304" pitchFamily="18" charset="0"/>
              <a:sym typeface="UniversalMath1 BT" panose="05050102010205020602" pitchFamily="18" charset="2"/>
            </a:endParaRPr>
          </a:p>
        </p:txBody>
      </p:sp>
      <p:sp>
        <p:nvSpPr>
          <p:cNvPr id="28694" name="圆角矩形标注 28693"/>
          <p:cNvSpPr/>
          <p:nvPr/>
        </p:nvSpPr>
        <p:spPr>
          <a:xfrm>
            <a:off x="2597150" y="4278228"/>
            <a:ext cx="2262188" cy="339895"/>
          </a:xfrm>
          <a:prstGeom prst="wedgeRoundRectCallout">
            <a:avLst>
              <a:gd name="adj1" fmla="val 116849"/>
              <a:gd name="adj2" fmla="val -179304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 w="9525"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1400">
                <a:solidFill>
                  <a:srgbClr val="FF0000"/>
                </a:solidFill>
                <a:latin typeface="+mn-ea"/>
                <a:cs typeface="+mn-ea"/>
              </a:rPr>
              <a:t>被挡住的投影加</a:t>
            </a:r>
            <a:r>
              <a:rPr lang="en-US" altLang="zh-CN" sz="1400">
                <a:solidFill>
                  <a:srgbClr val="FF0000"/>
                </a:solidFill>
                <a:latin typeface="+mn-ea"/>
                <a:cs typeface="+mn-ea"/>
              </a:rPr>
              <a:t>( )</a:t>
            </a:r>
          </a:p>
        </p:txBody>
      </p:sp>
      <p:sp>
        <p:nvSpPr>
          <p:cNvPr id="28695" name="文本框 28694"/>
          <p:cNvSpPr txBox="1"/>
          <p:nvPr/>
        </p:nvSpPr>
        <p:spPr>
          <a:xfrm>
            <a:off x="6134100" y="3440113"/>
            <a:ext cx="5397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/>
            <a:r>
              <a:rPr lang="en-US" altLang="zh-CN" sz="2400" b="1">
                <a:latin typeface="Times New Roman" panose="02020603050405020304" pitchFamily="18" charset="0"/>
              </a:rPr>
              <a:t>(  )</a:t>
            </a:r>
          </a:p>
        </p:txBody>
      </p:sp>
      <p:sp>
        <p:nvSpPr>
          <p:cNvPr id="28696" name="文本框 28695"/>
          <p:cNvSpPr txBox="1"/>
          <p:nvPr/>
        </p:nvSpPr>
        <p:spPr>
          <a:xfrm>
            <a:off x="7138035" y="5158740"/>
            <a:ext cx="4027805" cy="3067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1400" i="1">
                <a:solidFill>
                  <a:srgbClr val="FF0000"/>
                </a:solidFill>
                <a:latin typeface="+mn-ea"/>
                <a:cs typeface="+mn-ea"/>
              </a:rPr>
              <a:t>A</a:t>
            </a:r>
            <a:r>
              <a:rPr lang="zh-CN" altLang="en-US" sz="1400">
                <a:solidFill>
                  <a:srgbClr val="FF0000"/>
                </a:solidFill>
                <a:latin typeface="+mn-ea"/>
                <a:cs typeface="+mn-ea"/>
              </a:rPr>
              <a:t>、</a:t>
            </a:r>
            <a:r>
              <a:rPr lang="en-US" altLang="zh-CN" sz="1400" i="1">
                <a:solidFill>
                  <a:srgbClr val="FF0000"/>
                </a:solidFill>
                <a:latin typeface="+mn-ea"/>
                <a:cs typeface="+mn-ea"/>
              </a:rPr>
              <a:t>C</a:t>
            </a:r>
            <a:r>
              <a:rPr lang="zh-CN" altLang="en-US" sz="1400">
                <a:solidFill>
                  <a:srgbClr val="FF0000"/>
                </a:solidFill>
                <a:latin typeface="+mn-ea"/>
                <a:cs typeface="+mn-ea"/>
              </a:rPr>
              <a:t>为哪个投影面的重影点呢？</a:t>
            </a:r>
            <a:endParaRPr lang="en-US" altLang="zh-CN" sz="1400">
              <a:solidFill>
                <a:srgbClr val="FF0000"/>
              </a:solidFill>
              <a:latin typeface="+mn-ea"/>
              <a:cs typeface="+mn-ea"/>
            </a:endParaRPr>
          </a:p>
        </p:txBody>
      </p:sp>
      <p:sp>
        <p:nvSpPr>
          <p:cNvPr id="28697" name="文本框 28696"/>
          <p:cNvSpPr txBox="1"/>
          <p:nvPr/>
        </p:nvSpPr>
        <p:spPr>
          <a:xfrm>
            <a:off x="5919788" y="3452813"/>
            <a:ext cx="62388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i="1">
                <a:latin typeface="Times New Roman" panose="02020603050405020304" pitchFamily="18" charset="0"/>
              </a:rPr>
              <a:t>a  c</a:t>
            </a:r>
          </a:p>
        </p:txBody>
      </p:sp>
      <p:sp>
        <p:nvSpPr>
          <p:cNvPr id="28704" name="矩形 28703"/>
          <p:cNvSpPr/>
          <p:nvPr/>
        </p:nvSpPr>
        <p:spPr>
          <a:xfrm>
            <a:off x="1776730" y="788035"/>
            <a:ext cx="2959735" cy="306705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表达点的相对位置关系</a:t>
            </a:r>
          </a:p>
        </p:txBody>
      </p:sp>
      <p:sp>
        <p:nvSpPr>
          <p:cNvPr id="2" name="矩形 1"/>
          <p:cNvSpPr/>
          <p:nvPr/>
        </p:nvSpPr>
        <p:spPr>
          <a:xfrm>
            <a:off x="983615" y="736600"/>
            <a:ext cx="4114165" cy="3683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重影点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375" y="4674870"/>
            <a:ext cx="711200" cy="8934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6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86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28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86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86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8" grpId="0" bldLvl="0" animBg="1"/>
      <p:bldP spid="28694" grpId="0" bldLvl="0" animBg="1"/>
      <p:bldP spid="28695" grpId="0"/>
      <p:bldP spid="2869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742430" y="2469138"/>
            <a:ext cx="2586990" cy="64516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zh-CN" altLang="en-US" sz="3600" b="1" i="1" dirty="0">
                <a:solidFill>
                  <a:srgbClr val="0066CC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</a:rPr>
              <a:t> 直线</a:t>
            </a:r>
            <a:r>
              <a:rPr lang="zh-CN" altLang="en-US" sz="3600" b="1" i="1" dirty="0">
                <a:solidFill>
                  <a:srgbClr val="0066CC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rPr>
              <a:t>的投影</a:t>
            </a:r>
            <a:endParaRPr lang="zh-CN" altLang="en-US" sz="3600" b="1" i="1" dirty="0">
              <a:solidFill>
                <a:srgbClr val="0066CC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43607" y="205040"/>
            <a:ext cx="3088640" cy="644715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en-US" altLang="zh-CN" sz="41300" dirty="0">
                <a:solidFill>
                  <a:srgbClr val="0066CC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3</a:t>
            </a:r>
            <a:endParaRPr lang="zh-CN" altLang="en-US" sz="4800" dirty="0">
              <a:solidFill>
                <a:srgbClr val="0066CC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925452" y="3533259"/>
            <a:ext cx="4704080" cy="1476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algn="l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2000">
                <a:sym typeface="+mn-ea"/>
              </a:rPr>
              <a:t>直线投影的特性</a:t>
            </a:r>
          </a:p>
          <a:p>
            <a:pPr marL="457200" indent="-457200" algn="l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2000">
                <a:sym typeface="+mn-ea"/>
              </a:rPr>
              <a:t>点与直线的相对位置及其投影特性</a:t>
            </a:r>
          </a:p>
          <a:p>
            <a:pPr marL="457200" indent="-457200" algn="l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2000">
                <a:sym typeface="+mn-ea"/>
              </a:rPr>
              <a:t>直线与直线的相对位置及其投影特性</a:t>
            </a:r>
          </a:p>
        </p:txBody>
      </p:sp>
      <p:sp>
        <p:nvSpPr>
          <p:cNvPr id="5" name="矩形 4"/>
          <p:cNvSpPr/>
          <p:nvPr/>
        </p:nvSpPr>
        <p:spPr>
          <a:xfrm>
            <a:off x="3385562" y="189165"/>
            <a:ext cx="3088640" cy="644715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en-US" sz="41300" dirty="0">
                <a:solidFill>
                  <a:srgbClr val="0066CC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4</a:t>
            </a:r>
            <a:endParaRPr lang="en-US" sz="4800" dirty="0">
              <a:solidFill>
                <a:srgbClr val="0066CC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454652" y="205675"/>
            <a:ext cx="1635760" cy="644715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en-US" sz="41300" dirty="0">
                <a:solidFill>
                  <a:srgbClr val="0066CC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.</a:t>
            </a:r>
            <a:endParaRPr lang="en-US" sz="4800" dirty="0">
              <a:solidFill>
                <a:srgbClr val="0066CC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668754" y="536953"/>
            <a:ext cx="4411980" cy="64516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l"/>
            <a:r>
              <a:rPr lang="zh-CN" altLang="en-US" sz="3600" b="1" i="1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3.</a:t>
            </a:r>
            <a:r>
              <a:rPr lang="en-US" altLang="zh-CN" sz="3600" b="1" i="1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4.1</a:t>
            </a:r>
            <a:r>
              <a:rPr lang="zh-CN" altLang="en-US" sz="3600" b="1" i="1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直线投影的特性</a:t>
            </a:r>
            <a:endParaRPr lang="zh-CN" altLang="en-US" sz="3600" b="1" i="1" dirty="0">
              <a:solidFill>
                <a:srgbClr val="0066CC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sp>
        <p:nvSpPr>
          <p:cNvPr id="29703" name="文本框 29702"/>
          <p:cNvSpPr txBox="1"/>
          <p:nvPr/>
        </p:nvSpPr>
        <p:spPr>
          <a:xfrm>
            <a:off x="8026400" y="701040"/>
            <a:ext cx="1841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29722" name="文本框 29721"/>
          <p:cNvSpPr txBox="1"/>
          <p:nvPr/>
        </p:nvSpPr>
        <p:spPr>
          <a:xfrm>
            <a:off x="868680" y="1463675"/>
            <a:ext cx="7016750" cy="30670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/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将两点的</a:t>
            </a:r>
            <a:r>
              <a:rPr lang="zh-CN" altLang="en-US" sz="14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同面投影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用直线段连接，就得到直线段的同面投影。</a:t>
            </a:r>
          </a:p>
        </p:txBody>
      </p:sp>
      <p:sp>
        <p:nvSpPr>
          <p:cNvPr id="29723" name="文本框 29722"/>
          <p:cNvSpPr txBox="1"/>
          <p:nvPr/>
        </p:nvSpPr>
        <p:spPr>
          <a:xfrm>
            <a:off x="533083" y="2706847"/>
            <a:ext cx="5507037" cy="30670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algn="ctr"/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直线对</a:t>
            </a:r>
            <a:r>
              <a:rPr lang="zh-CN" altLang="en-US" sz="140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一个投影面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的投影</a:t>
            </a:r>
            <a:r>
              <a:rPr lang="zh-CN" altLang="en-US" sz="140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特性：</a:t>
            </a:r>
          </a:p>
        </p:txBody>
      </p:sp>
      <p:sp>
        <p:nvSpPr>
          <p:cNvPr id="29724" name="文本框 29723"/>
          <p:cNvSpPr txBox="1"/>
          <p:nvPr/>
        </p:nvSpPr>
        <p:spPr>
          <a:xfrm>
            <a:off x="858520" y="2038827"/>
            <a:ext cx="5019675" cy="36830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各种位置直线的投影特性</a:t>
            </a:r>
          </a:p>
        </p:txBody>
      </p:sp>
      <p:sp>
        <p:nvSpPr>
          <p:cNvPr id="29725" name="文本框 29724"/>
          <p:cNvSpPr txBox="1"/>
          <p:nvPr/>
        </p:nvSpPr>
        <p:spPr>
          <a:xfrm>
            <a:off x="2235200" y="5710556"/>
            <a:ext cx="160528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直线垂直于投影面</a:t>
            </a:r>
          </a:p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投影重合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为一点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endParaRPr lang="zh-CN" altLang="en-US" sz="140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9726" name="文本框 29725"/>
          <p:cNvSpPr txBox="1"/>
          <p:nvPr/>
        </p:nvSpPr>
        <p:spPr>
          <a:xfrm>
            <a:off x="5266055" y="5715953"/>
            <a:ext cx="2070735" cy="73723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/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直线平行于投影面</a:t>
            </a:r>
          </a:p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投影反映线段实长</a:t>
            </a:r>
          </a:p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</a:t>
            </a:r>
            <a:r>
              <a:rPr lang="en-US" altLang="zh-CN" sz="1400" i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ab=AB</a:t>
            </a:r>
          </a:p>
        </p:txBody>
      </p:sp>
      <p:sp>
        <p:nvSpPr>
          <p:cNvPr id="29727" name="文本框 29726"/>
          <p:cNvSpPr txBox="1"/>
          <p:nvPr/>
        </p:nvSpPr>
        <p:spPr>
          <a:xfrm>
            <a:off x="8329613" y="5380990"/>
            <a:ext cx="184150" cy="366713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29728" name="文本框 29727"/>
          <p:cNvSpPr txBox="1"/>
          <p:nvPr/>
        </p:nvSpPr>
        <p:spPr>
          <a:xfrm>
            <a:off x="7818755" y="5723890"/>
            <a:ext cx="3131820" cy="73723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直线倾斜于投影面</a:t>
            </a:r>
          </a:p>
          <a:p>
            <a:pPr algn="ctr"/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投影比空间线段短</a:t>
            </a:r>
          </a:p>
          <a:p>
            <a:pPr algn="ctr"/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1400" i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ab=ABcosα</a:t>
            </a:r>
          </a:p>
        </p:txBody>
      </p:sp>
      <p:grpSp>
        <p:nvGrpSpPr>
          <p:cNvPr id="29799" name="组合 29798"/>
          <p:cNvGrpSpPr/>
          <p:nvPr/>
        </p:nvGrpSpPr>
        <p:grpSpPr>
          <a:xfrm>
            <a:off x="7667625" y="704215"/>
            <a:ext cx="2862263" cy="2551113"/>
            <a:chOff x="3560" y="302"/>
            <a:chExt cx="1803" cy="1607"/>
          </a:xfrm>
        </p:grpSpPr>
        <p:sp>
          <p:nvSpPr>
            <p:cNvPr id="29705" name="文本框 29704"/>
            <p:cNvSpPr txBox="1"/>
            <p:nvPr/>
          </p:nvSpPr>
          <p:spPr>
            <a:xfrm>
              <a:off x="4681" y="302"/>
              <a:ext cx="29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a</a:t>
              </a:r>
              <a:r>
                <a:rPr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</a:t>
              </a:r>
              <a:endParaRPr lang="en-US" altLang="zh-CN" sz="2400" b="1" i="1">
                <a:latin typeface="Times New Roman" panose="02020603050405020304" pitchFamily="18" charset="0"/>
                <a:sym typeface="UniversalMath1 BT" panose="05050102010205020602" pitchFamily="18" charset="2"/>
              </a:endParaRPr>
            </a:p>
          </p:txBody>
        </p:sp>
        <p:sp>
          <p:nvSpPr>
            <p:cNvPr id="29708" name="文本框 29707"/>
            <p:cNvSpPr txBox="1"/>
            <p:nvPr/>
          </p:nvSpPr>
          <p:spPr>
            <a:xfrm>
              <a:off x="4000" y="1621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b</a:t>
              </a:r>
            </a:p>
          </p:txBody>
        </p:sp>
        <p:grpSp>
          <p:nvGrpSpPr>
            <p:cNvPr id="29794" name="组合 29793"/>
            <p:cNvGrpSpPr/>
            <p:nvPr/>
          </p:nvGrpSpPr>
          <p:grpSpPr>
            <a:xfrm>
              <a:off x="3560" y="342"/>
              <a:ext cx="1803" cy="1487"/>
              <a:chOff x="3560" y="342"/>
              <a:chExt cx="1803" cy="1487"/>
            </a:xfrm>
          </p:grpSpPr>
          <p:sp>
            <p:nvSpPr>
              <p:cNvPr id="29698" name="未知"/>
              <p:cNvSpPr/>
              <p:nvPr/>
            </p:nvSpPr>
            <p:spPr>
              <a:xfrm>
                <a:off x="4756" y="548"/>
                <a:ext cx="268" cy="297"/>
              </a:xfrm>
              <a:custGeom>
                <a:avLst/>
                <a:gdLst/>
                <a:ahLst/>
                <a:cxnLst/>
                <a:rect l="0" t="0" r="0" b="0"/>
                <a:pathLst>
                  <a:path w="268" h="297">
                    <a:moveTo>
                      <a:pt x="0" y="0"/>
                    </a:moveTo>
                    <a:lnTo>
                      <a:pt x="268" y="297"/>
                    </a:lnTo>
                  </a:path>
                </a:pathLst>
              </a:custGeom>
              <a:noFill/>
              <a:ln w="3810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699" name="直接连接符 29698"/>
              <p:cNvSpPr/>
              <p:nvPr/>
            </p:nvSpPr>
            <p:spPr>
              <a:xfrm>
                <a:off x="3884" y="1435"/>
                <a:ext cx="260" cy="275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700" name="未知"/>
              <p:cNvSpPr/>
              <p:nvPr/>
            </p:nvSpPr>
            <p:spPr>
              <a:xfrm>
                <a:off x="3905" y="561"/>
                <a:ext cx="261" cy="326"/>
              </a:xfrm>
              <a:custGeom>
                <a:avLst/>
                <a:gdLst/>
                <a:ahLst/>
                <a:cxnLst/>
                <a:rect l="0" t="0" r="0" b="0"/>
                <a:pathLst>
                  <a:path w="261" h="326">
                    <a:moveTo>
                      <a:pt x="0" y="0"/>
                    </a:moveTo>
                    <a:lnTo>
                      <a:pt x="261" y="326"/>
                    </a:lnTo>
                  </a:path>
                </a:pathLst>
              </a:custGeom>
              <a:noFill/>
              <a:ln w="3810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702" name="文本框 29701"/>
              <p:cNvSpPr txBox="1"/>
              <p:nvPr/>
            </p:nvSpPr>
            <p:spPr>
              <a:xfrm>
                <a:off x="3705" y="1312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2400" b="1" i="1">
                    <a:latin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29704" name="文本框 29703"/>
              <p:cNvSpPr txBox="1"/>
              <p:nvPr/>
            </p:nvSpPr>
            <p:spPr>
              <a:xfrm>
                <a:off x="3715" y="342"/>
                <a:ext cx="260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2400" b="1" i="1">
                    <a:latin typeface="Times New Roman" panose="02020603050405020304" pitchFamily="18" charset="0"/>
                    <a:sym typeface="EuroRoman" panose="00000400000000000000" pitchFamily="2" charset="2"/>
                  </a:rPr>
                  <a:t>a</a:t>
                </a:r>
                <a:r>
                  <a:rPr lang="en-US" altLang="zh-CN" sz="2400" b="1" i="1">
                    <a:latin typeface="Times New Roman" panose="02020603050405020304" pitchFamily="18" charset="0"/>
                    <a:sym typeface="Symbol" panose="05050102010706020507" pitchFamily="18" charset="2"/>
                  </a:rPr>
                  <a:t></a:t>
                </a:r>
                <a:endParaRPr lang="en-US" altLang="zh-CN" sz="2400" b="1" i="1">
                  <a:latin typeface="Times New Roman" panose="02020603050405020304" pitchFamily="18" charset="0"/>
                  <a:sym typeface="UniversalMath1 BT" panose="05050102010205020602" pitchFamily="18" charset="2"/>
                </a:endParaRPr>
              </a:p>
            </p:txBody>
          </p:sp>
          <p:sp>
            <p:nvSpPr>
              <p:cNvPr id="29706" name="文本框 29705"/>
              <p:cNvSpPr txBox="1"/>
              <p:nvPr/>
            </p:nvSpPr>
            <p:spPr>
              <a:xfrm>
                <a:off x="5020" y="675"/>
                <a:ext cx="291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2400" b="1" i="1">
                    <a:latin typeface="Times New Roman" panose="02020603050405020304" pitchFamily="18" charset="0"/>
                  </a:rPr>
                  <a:t>b</a:t>
                </a:r>
                <a:r>
                  <a:rPr lang="en-US" altLang="zh-CN" sz="2400" b="1" i="1">
                    <a:latin typeface="Times New Roman" panose="02020603050405020304" pitchFamily="18" charset="0"/>
                    <a:sym typeface="Symbol" panose="05050102010706020507" pitchFamily="18" charset="2"/>
                  </a:rPr>
                  <a:t></a:t>
                </a:r>
              </a:p>
            </p:txBody>
          </p:sp>
          <p:sp>
            <p:nvSpPr>
              <p:cNvPr id="29707" name="文本框 29706"/>
              <p:cNvSpPr txBox="1"/>
              <p:nvPr/>
            </p:nvSpPr>
            <p:spPr>
              <a:xfrm>
                <a:off x="4092" y="612"/>
                <a:ext cx="260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2400" b="1" i="1">
                    <a:latin typeface="Times New Roman" panose="02020603050405020304" pitchFamily="18" charset="0"/>
                  </a:rPr>
                  <a:t>b</a:t>
                </a:r>
                <a:r>
                  <a:rPr lang="en-US" altLang="zh-CN" sz="2400" b="1" i="1">
                    <a:latin typeface="Times New Roman" panose="02020603050405020304" pitchFamily="18" charset="0"/>
                    <a:sym typeface="Symbol" panose="05050102010706020507" pitchFamily="18" charset="2"/>
                  </a:rPr>
                  <a:t></a:t>
                </a:r>
              </a:p>
            </p:txBody>
          </p:sp>
          <p:sp>
            <p:nvSpPr>
              <p:cNvPr id="29709" name="直接连接符 29708"/>
              <p:cNvSpPr/>
              <p:nvPr/>
            </p:nvSpPr>
            <p:spPr>
              <a:xfrm>
                <a:off x="3560" y="1128"/>
                <a:ext cx="1803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710" name="未知"/>
              <p:cNvSpPr/>
              <p:nvPr/>
            </p:nvSpPr>
            <p:spPr>
              <a:xfrm>
                <a:off x="4442" y="442"/>
                <a:ext cx="1" cy="1336"/>
              </a:xfrm>
              <a:custGeom>
                <a:avLst/>
                <a:gdLst/>
                <a:ahLst/>
                <a:cxnLst/>
                <a:rect l="0" t="0" r="0" b="0"/>
                <a:pathLst>
                  <a:path w="1" h="1336">
                    <a:moveTo>
                      <a:pt x="0" y="0"/>
                    </a:moveTo>
                    <a:lnTo>
                      <a:pt x="0" y="1336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711" name="直接连接符 29710"/>
              <p:cNvSpPr/>
              <p:nvPr/>
            </p:nvSpPr>
            <p:spPr>
              <a:xfrm>
                <a:off x="3871" y="520"/>
                <a:ext cx="0" cy="90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712" name="直接连接符 29711"/>
              <p:cNvSpPr/>
              <p:nvPr/>
            </p:nvSpPr>
            <p:spPr>
              <a:xfrm>
                <a:off x="3871" y="520"/>
                <a:ext cx="882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713" name="直接连接符 29712"/>
              <p:cNvSpPr/>
              <p:nvPr/>
            </p:nvSpPr>
            <p:spPr>
              <a:xfrm>
                <a:off x="4131" y="869"/>
                <a:ext cx="0" cy="829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714" name="未知"/>
              <p:cNvSpPr/>
              <p:nvPr/>
            </p:nvSpPr>
            <p:spPr>
              <a:xfrm>
                <a:off x="4131" y="869"/>
                <a:ext cx="895" cy="1"/>
              </a:xfrm>
              <a:custGeom>
                <a:avLst/>
                <a:gdLst/>
                <a:ahLst/>
                <a:cxnLst/>
                <a:rect l="0" t="0" r="0" b="0"/>
                <a:pathLst>
                  <a:path w="895" h="1">
                    <a:moveTo>
                      <a:pt x="0" y="0"/>
                    </a:moveTo>
                    <a:lnTo>
                      <a:pt x="895" y="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715" name="文本框 29714"/>
              <p:cNvSpPr txBox="1"/>
              <p:nvPr/>
            </p:nvSpPr>
            <p:spPr>
              <a:xfrm>
                <a:off x="4041" y="791"/>
                <a:ext cx="197" cy="15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zh-CN" altLang="en-US" sz="1000" b="1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●</a:t>
                </a:r>
                <a:endParaRPr lang="zh-CN" altLang="en-US" sz="2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16" name="文本框 29715"/>
              <p:cNvSpPr txBox="1"/>
              <p:nvPr/>
            </p:nvSpPr>
            <p:spPr>
              <a:xfrm>
                <a:off x="3774" y="1351"/>
                <a:ext cx="197" cy="15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zh-CN" altLang="en-US" sz="1000" b="1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●</a:t>
                </a:r>
              </a:p>
            </p:txBody>
          </p:sp>
          <p:sp>
            <p:nvSpPr>
              <p:cNvPr id="29717" name="文本框 29716"/>
              <p:cNvSpPr txBox="1"/>
              <p:nvPr/>
            </p:nvSpPr>
            <p:spPr>
              <a:xfrm>
                <a:off x="4036" y="1622"/>
                <a:ext cx="197" cy="15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zh-CN" altLang="en-US" sz="1000" b="1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●</a:t>
                </a:r>
              </a:p>
            </p:txBody>
          </p:sp>
          <p:sp>
            <p:nvSpPr>
              <p:cNvPr id="29718" name="文本框 29717"/>
              <p:cNvSpPr txBox="1"/>
              <p:nvPr/>
            </p:nvSpPr>
            <p:spPr>
              <a:xfrm>
                <a:off x="4648" y="444"/>
                <a:ext cx="197" cy="15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zh-CN" altLang="en-US" sz="1000" b="1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●</a:t>
                </a:r>
              </a:p>
            </p:txBody>
          </p:sp>
          <p:sp>
            <p:nvSpPr>
              <p:cNvPr id="29719" name="文本框 29718"/>
              <p:cNvSpPr txBox="1"/>
              <p:nvPr/>
            </p:nvSpPr>
            <p:spPr>
              <a:xfrm>
                <a:off x="4931" y="781"/>
                <a:ext cx="197" cy="15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zh-CN" altLang="en-US" sz="1000" b="1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●</a:t>
                </a:r>
              </a:p>
            </p:txBody>
          </p:sp>
          <p:sp>
            <p:nvSpPr>
              <p:cNvPr id="29720" name="文本框 29719"/>
              <p:cNvSpPr txBox="1"/>
              <p:nvPr/>
            </p:nvSpPr>
            <p:spPr>
              <a:xfrm>
                <a:off x="3790" y="461"/>
                <a:ext cx="197" cy="15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zh-CN" altLang="en-US" sz="1000" b="1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●</a:t>
                </a:r>
              </a:p>
            </p:txBody>
          </p:sp>
          <p:sp>
            <p:nvSpPr>
              <p:cNvPr id="29729" name="直接连接符 29728"/>
              <p:cNvSpPr/>
              <p:nvPr/>
            </p:nvSpPr>
            <p:spPr>
              <a:xfrm flipV="1">
                <a:off x="4406" y="1401"/>
                <a:ext cx="0" cy="428"/>
              </a:xfrm>
              <a:prstGeom prst="line">
                <a:avLst/>
              </a:prstGeom>
              <a:ln w="9525">
                <a:noFill/>
              </a:ln>
            </p:spPr>
          </p:sp>
          <p:sp>
            <p:nvSpPr>
              <p:cNvPr id="29730" name="直接连接符 29729"/>
              <p:cNvSpPr/>
              <p:nvPr/>
            </p:nvSpPr>
            <p:spPr>
              <a:xfrm flipV="1">
                <a:off x="4772" y="1038"/>
                <a:ext cx="0" cy="584"/>
              </a:xfrm>
              <a:prstGeom prst="line">
                <a:avLst/>
              </a:prstGeom>
              <a:ln w="9525">
                <a:noFill/>
              </a:ln>
            </p:spPr>
          </p:sp>
          <p:sp>
            <p:nvSpPr>
              <p:cNvPr id="29731" name="直接连接符 29730"/>
              <p:cNvSpPr/>
              <p:nvPr/>
            </p:nvSpPr>
            <p:spPr>
              <a:xfrm flipV="1">
                <a:off x="4406" y="1035"/>
                <a:ext cx="366" cy="366"/>
              </a:xfrm>
              <a:prstGeom prst="line">
                <a:avLst/>
              </a:prstGeom>
              <a:ln w="9525">
                <a:noFill/>
              </a:ln>
            </p:spPr>
          </p:sp>
          <p:sp>
            <p:nvSpPr>
              <p:cNvPr id="29732" name="直接连接符 29731"/>
              <p:cNvSpPr/>
              <p:nvPr/>
            </p:nvSpPr>
            <p:spPr>
              <a:xfrm flipV="1">
                <a:off x="4401" y="1205"/>
                <a:ext cx="366" cy="211"/>
              </a:xfrm>
              <a:prstGeom prst="line">
                <a:avLst/>
              </a:prstGeom>
              <a:ln w="9525">
                <a:noFill/>
              </a:ln>
            </p:spPr>
          </p:sp>
        </p:grpSp>
      </p:grpSp>
      <p:grpSp>
        <p:nvGrpSpPr>
          <p:cNvPr id="29792" name="组合 29791"/>
          <p:cNvGrpSpPr/>
          <p:nvPr/>
        </p:nvGrpSpPr>
        <p:grpSpPr>
          <a:xfrm>
            <a:off x="8459788" y="3148965"/>
            <a:ext cx="1944687" cy="1965325"/>
            <a:chOff x="4059" y="1842"/>
            <a:chExt cx="1225" cy="1238"/>
          </a:xfrm>
        </p:grpSpPr>
        <p:grpSp>
          <p:nvGrpSpPr>
            <p:cNvPr id="29752" name="组合 29751"/>
            <p:cNvGrpSpPr/>
            <p:nvPr/>
          </p:nvGrpSpPr>
          <p:grpSpPr>
            <a:xfrm>
              <a:off x="4252" y="1842"/>
              <a:ext cx="837" cy="648"/>
              <a:chOff x="0" y="0"/>
              <a:chExt cx="724" cy="545"/>
            </a:xfrm>
          </p:grpSpPr>
          <p:sp>
            <p:nvSpPr>
              <p:cNvPr id="29753" name="文本框 29752"/>
              <p:cNvSpPr txBox="1"/>
              <p:nvPr/>
            </p:nvSpPr>
            <p:spPr>
              <a:xfrm>
                <a:off x="0" y="350"/>
                <a:ext cx="184" cy="19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b="1" i="1">
                    <a:latin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29754" name="文本框 29753"/>
              <p:cNvSpPr txBox="1"/>
              <p:nvPr/>
            </p:nvSpPr>
            <p:spPr>
              <a:xfrm>
                <a:off x="541" y="0"/>
                <a:ext cx="183" cy="19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b="1" i="1">
                    <a:latin typeface="Times New Roman" panose="02020603050405020304" pitchFamily="18" charset="0"/>
                  </a:rPr>
                  <a:t>B</a:t>
                </a:r>
              </a:p>
            </p:txBody>
          </p:sp>
        </p:grpSp>
        <p:sp>
          <p:nvSpPr>
            <p:cNvPr id="29756" name="平行四边形 29755"/>
            <p:cNvSpPr/>
            <p:nvPr/>
          </p:nvSpPr>
          <p:spPr>
            <a:xfrm>
              <a:off x="4059" y="2648"/>
              <a:ext cx="1225" cy="432"/>
            </a:xfrm>
            <a:prstGeom prst="parallelogram">
              <a:avLst>
                <a:gd name="adj" fmla="val 70891"/>
              </a:avLst>
            </a:prstGeom>
            <a:noFill/>
            <a:ln w="12700" cap="flat" cmpd="sng">
              <a:solidFill>
                <a:srgbClr val="6699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9758" name="组合 29757"/>
            <p:cNvGrpSpPr/>
            <p:nvPr/>
          </p:nvGrpSpPr>
          <p:grpSpPr>
            <a:xfrm>
              <a:off x="4344" y="2669"/>
              <a:ext cx="628" cy="382"/>
              <a:chOff x="0" y="0"/>
              <a:chExt cx="543" cy="322"/>
            </a:xfrm>
          </p:grpSpPr>
          <p:sp>
            <p:nvSpPr>
              <p:cNvPr id="29759" name="文本框 29758"/>
              <p:cNvSpPr txBox="1"/>
              <p:nvPr/>
            </p:nvSpPr>
            <p:spPr>
              <a:xfrm>
                <a:off x="0" y="193"/>
                <a:ext cx="169" cy="1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zh-CN" altLang="en-US" sz="1000" b="1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●</a:t>
                </a:r>
              </a:p>
            </p:txBody>
          </p:sp>
          <p:sp>
            <p:nvSpPr>
              <p:cNvPr id="29760" name="文本框 29759"/>
              <p:cNvSpPr txBox="1"/>
              <p:nvPr/>
            </p:nvSpPr>
            <p:spPr>
              <a:xfrm>
                <a:off x="374" y="0"/>
                <a:ext cx="169" cy="1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zh-CN" altLang="en-US" sz="1000" b="1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●</a:t>
                </a:r>
              </a:p>
            </p:txBody>
          </p:sp>
        </p:grpSp>
        <p:sp>
          <p:nvSpPr>
            <p:cNvPr id="29763" name="文本框 29762"/>
            <p:cNvSpPr txBox="1"/>
            <p:nvPr/>
          </p:nvSpPr>
          <p:spPr>
            <a:xfrm>
              <a:off x="4377" y="2432"/>
              <a:ext cx="196" cy="15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0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●</a:t>
              </a:r>
            </a:p>
          </p:txBody>
        </p:sp>
        <p:sp>
          <p:nvSpPr>
            <p:cNvPr id="29764" name="文本框 29763"/>
            <p:cNvSpPr txBox="1"/>
            <p:nvPr/>
          </p:nvSpPr>
          <p:spPr>
            <a:xfrm>
              <a:off x="4785" y="1961"/>
              <a:ext cx="196" cy="15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0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●</a:t>
              </a:r>
            </a:p>
          </p:txBody>
        </p:sp>
        <p:sp>
          <p:nvSpPr>
            <p:cNvPr id="29765" name="文本框 29764"/>
            <p:cNvSpPr txBox="1"/>
            <p:nvPr/>
          </p:nvSpPr>
          <p:spPr>
            <a:xfrm>
              <a:off x="4230" y="2794"/>
              <a:ext cx="188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1" i="1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9766" name="文本框 29765"/>
            <p:cNvSpPr txBox="1"/>
            <p:nvPr/>
          </p:nvSpPr>
          <p:spPr>
            <a:xfrm>
              <a:off x="4905" y="2613"/>
              <a:ext cx="187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1" i="1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9767" name="直接连接符 29766"/>
            <p:cNvSpPr/>
            <p:nvPr/>
          </p:nvSpPr>
          <p:spPr>
            <a:xfrm flipV="1">
              <a:off x="4459" y="2729"/>
              <a:ext cx="423" cy="251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68" name="文本框 29767"/>
            <p:cNvSpPr txBox="1"/>
            <p:nvPr/>
          </p:nvSpPr>
          <p:spPr>
            <a:xfrm>
              <a:off x="4599" y="2202"/>
              <a:ext cx="26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1">
                  <a:latin typeface="Times New Roman" panose="02020603050405020304" pitchFamily="18" charset="0"/>
                </a:rPr>
                <a:t>α</a:t>
              </a:r>
            </a:p>
          </p:txBody>
        </p:sp>
        <p:sp>
          <p:nvSpPr>
            <p:cNvPr id="29769" name="直接连接符 29768"/>
            <p:cNvSpPr/>
            <p:nvPr/>
          </p:nvSpPr>
          <p:spPr>
            <a:xfrm flipV="1">
              <a:off x="4477" y="2033"/>
              <a:ext cx="420" cy="48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70" name="直接连接符 29769"/>
            <p:cNvSpPr/>
            <p:nvPr/>
          </p:nvSpPr>
          <p:spPr>
            <a:xfrm flipV="1">
              <a:off x="4477" y="2303"/>
              <a:ext cx="420" cy="216"/>
            </a:xfrm>
            <a:prstGeom prst="line">
              <a:avLst/>
            </a:prstGeom>
            <a:ln w="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9795" name="组合 29794"/>
          <p:cNvGrpSpPr/>
          <p:nvPr/>
        </p:nvGrpSpPr>
        <p:grpSpPr>
          <a:xfrm>
            <a:off x="2339975" y="3318828"/>
            <a:ext cx="2365375" cy="1801812"/>
            <a:chOff x="204" y="1949"/>
            <a:chExt cx="1490" cy="1135"/>
          </a:xfrm>
        </p:grpSpPr>
        <p:grpSp>
          <p:nvGrpSpPr>
            <p:cNvPr id="29772" name="组合 29771"/>
            <p:cNvGrpSpPr/>
            <p:nvPr/>
          </p:nvGrpSpPr>
          <p:grpSpPr>
            <a:xfrm>
              <a:off x="204" y="1949"/>
              <a:ext cx="1490" cy="1135"/>
              <a:chOff x="0" y="0"/>
              <a:chExt cx="1233" cy="1001"/>
            </a:xfrm>
          </p:grpSpPr>
          <p:grpSp>
            <p:nvGrpSpPr>
              <p:cNvPr id="29773" name="组合 29772"/>
              <p:cNvGrpSpPr/>
              <p:nvPr/>
            </p:nvGrpSpPr>
            <p:grpSpPr>
              <a:xfrm>
                <a:off x="447" y="0"/>
                <a:ext cx="203" cy="662"/>
                <a:chOff x="0" y="0"/>
                <a:chExt cx="203" cy="662"/>
              </a:xfrm>
            </p:grpSpPr>
            <p:sp>
              <p:nvSpPr>
                <p:cNvPr id="29774" name="未知"/>
                <p:cNvSpPr/>
                <p:nvPr/>
              </p:nvSpPr>
              <p:spPr>
                <a:xfrm>
                  <a:off x="202" y="115"/>
                  <a:ext cx="1" cy="469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" h="554">
                      <a:moveTo>
                        <a:pt x="0" y="0"/>
                      </a:moveTo>
                      <a:lnTo>
                        <a:pt x="0" y="554"/>
                      </a:lnTo>
                    </a:path>
                  </a:pathLst>
                </a:custGeom>
                <a:noFill/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9775" name="组合 29774"/>
                <p:cNvGrpSpPr/>
                <p:nvPr/>
              </p:nvGrpSpPr>
              <p:grpSpPr>
                <a:xfrm>
                  <a:off x="0" y="0"/>
                  <a:ext cx="203" cy="662"/>
                  <a:chOff x="0" y="0"/>
                  <a:chExt cx="203" cy="662"/>
                </a:xfrm>
              </p:grpSpPr>
              <p:sp>
                <p:nvSpPr>
                  <p:cNvPr id="29776" name="文本框 29775"/>
                  <p:cNvSpPr txBox="1"/>
                  <p:nvPr/>
                </p:nvSpPr>
                <p:spPr>
                  <a:xfrm>
                    <a:off x="14" y="0"/>
                    <a:ext cx="175" cy="204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ctr">
                    <a:spAutoFit/>
                  </a:bodyPr>
                  <a:lstStyle/>
                  <a:p>
                    <a:pPr algn="ctr"/>
                    <a:r>
                      <a:rPr lang="en-US" altLang="zh-CN" b="1" i="1">
                        <a:latin typeface="Times New Roman" panose="02020603050405020304" pitchFamily="18" charset="0"/>
                      </a:rPr>
                      <a:t>A</a:t>
                    </a:r>
                    <a:endParaRPr lang="en-US" altLang="zh-CN" sz="2800" b="1" i="1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9777" name="文本框 29776"/>
                  <p:cNvSpPr txBox="1"/>
                  <p:nvPr/>
                </p:nvSpPr>
                <p:spPr>
                  <a:xfrm>
                    <a:off x="0" y="250"/>
                    <a:ext cx="203" cy="204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ctr">
                    <a:spAutoFit/>
                  </a:bodyPr>
                  <a:lstStyle/>
                  <a:p>
                    <a:pPr algn="ctr"/>
                    <a:r>
                      <a:rPr lang="en-US" altLang="zh-CN" b="1" i="1">
                        <a:latin typeface="Times New Roman" panose="02020603050405020304" pitchFamily="18" charset="0"/>
                      </a:rPr>
                      <a:t>M</a:t>
                    </a:r>
                  </a:p>
                </p:txBody>
              </p:sp>
              <p:sp>
                <p:nvSpPr>
                  <p:cNvPr id="29778" name="文本框 29777"/>
                  <p:cNvSpPr txBox="1"/>
                  <p:nvPr/>
                </p:nvSpPr>
                <p:spPr>
                  <a:xfrm>
                    <a:off x="14" y="458"/>
                    <a:ext cx="175" cy="204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ctr">
                    <a:spAutoFit/>
                  </a:bodyPr>
                  <a:lstStyle/>
                  <a:p>
                    <a:pPr algn="ctr"/>
                    <a:r>
                      <a:rPr lang="en-US" altLang="zh-CN" b="1" i="1">
                        <a:latin typeface="Times New Roman" panose="02020603050405020304" pitchFamily="18" charset="0"/>
                      </a:rPr>
                      <a:t>B</a:t>
                    </a:r>
                  </a:p>
                </p:txBody>
              </p:sp>
            </p:grpSp>
          </p:grpSp>
          <p:sp>
            <p:nvSpPr>
              <p:cNvPr id="29779" name="文本框 29778"/>
              <p:cNvSpPr txBox="1"/>
              <p:nvPr/>
            </p:nvSpPr>
            <p:spPr>
              <a:xfrm>
                <a:off x="568" y="481"/>
                <a:ext cx="163" cy="1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zh-CN" altLang="en-US" sz="1000" b="1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●</a:t>
                </a:r>
              </a:p>
            </p:txBody>
          </p:sp>
          <p:sp>
            <p:nvSpPr>
              <p:cNvPr id="29780" name="平行四边形 29779"/>
              <p:cNvSpPr/>
              <p:nvPr/>
            </p:nvSpPr>
            <p:spPr>
              <a:xfrm>
                <a:off x="0" y="693"/>
                <a:ext cx="1233" cy="308"/>
              </a:xfrm>
              <a:prstGeom prst="parallelogram">
                <a:avLst>
                  <a:gd name="adj" fmla="val 100081"/>
                </a:avLst>
              </a:prstGeom>
              <a:noFill/>
              <a:ln w="12700" cap="flat" cmpd="sng">
                <a:solidFill>
                  <a:srgbClr val="6699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781" name="文本框 29780"/>
              <p:cNvSpPr txBox="1"/>
              <p:nvPr/>
            </p:nvSpPr>
            <p:spPr>
              <a:xfrm>
                <a:off x="349" y="763"/>
                <a:ext cx="678" cy="20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>
                <a:spAutoFit/>
              </a:bodyPr>
              <a:lstStyle/>
              <a:p>
                <a:pPr algn="ctr"/>
                <a:r>
                  <a:rPr lang="en-US" altLang="zh-CN" b="1" i="1">
                    <a:latin typeface="Times New Roman" panose="02020603050405020304" pitchFamily="18" charset="0"/>
                  </a:rPr>
                  <a:t>a≡b≡m</a:t>
                </a:r>
              </a:p>
            </p:txBody>
          </p:sp>
          <p:sp>
            <p:nvSpPr>
              <p:cNvPr id="29782" name="文本框 29781"/>
              <p:cNvSpPr txBox="1"/>
              <p:nvPr/>
            </p:nvSpPr>
            <p:spPr>
              <a:xfrm>
                <a:off x="565" y="706"/>
                <a:ext cx="162" cy="13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zh-CN" altLang="en-US" sz="1000" b="1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●</a:t>
                </a:r>
              </a:p>
            </p:txBody>
          </p:sp>
          <p:sp>
            <p:nvSpPr>
              <p:cNvPr id="29783" name="直接连接符 29782"/>
              <p:cNvSpPr/>
              <p:nvPr/>
            </p:nvSpPr>
            <p:spPr>
              <a:xfrm>
                <a:off x="649" y="576"/>
                <a:ext cx="0" cy="187"/>
              </a:xfrm>
              <a:prstGeom prst="line">
                <a:avLst/>
              </a:prstGeom>
              <a:ln w="9525">
                <a:noFill/>
              </a:ln>
            </p:spPr>
          </p:sp>
          <p:sp>
            <p:nvSpPr>
              <p:cNvPr id="29784" name="文本框 29783"/>
              <p:cNvSpPr txBox="1"/>
              <p:nvPr/>
            </p:nvSpPr>
            <p:spPr>
              <a:xfrm>
                <a:off x="572" y="53"/>
                <a:ext cx="162" cy="1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zh-CN" altLang="en-US" sz="1000" b="1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●</a:t>
                </a:r>
              </a:p>
            </p:txBody>
          </p:sp>
          <p:sp>
            <p:nvSpPr>
              <p:cNvPr id="29785" name="文本框 29784"/>
              <p:cNvSpPr txBox="1"/>
              <p:nvPr/>
            </p:nvSpPr>
            <p:spPr>
              <a:xfrm>
                <a:off x="564" y="285"/>
                <a:ext cx="163" cy="1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zh-CN" altLang="en-US" sz="1000" b="1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●</a:t>
                </a:r>
              </a:p>
            </p:txBody>
          </p:sp>
        </p:grpSp>
        <p:sp>
          <p:nvSpPr>
            <p:cNvPr id="29786" name="直接连接符 29785"/>
            <p:cNvSpPr/>
            <p:nvPr/>
          </p:nvSpPr>
          <p:spPr>
            <a:xfrm flipH="1">
              <a:off x="979" y="2086"/>
              <a:ext cx="9" cy="48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9796" name="矩形 29795"/>
          <p:cNvSpPr/>
          <p:nvPr/>
        </p:nvSpPr>
        <p:spPr>
          <a:xfrm>
            <a:off x="2813685" y="5123498"/>
            <a:ext cx="716280" cy="306705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1400" b="1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积聚性</a:t>
            </a:r>
          </a:p>
        </p:txBody>
      </p:sp>
      <p:sp>
        <p:nvSpPr>
          <p:cNvPr id="29797" name="矩形 29796"/>
          <p:cNvSpPr/>
          <p:nvPr/>
        </p:nvSpPr>
        <p:spPr>
          <a:xfrm>
            <a:off x="5842000" y="5093653"/>
            <a:ext cx="716280" cy="306705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1400" b="1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真形性</a:t>
            </a:r>
          </a:p>
        </p:txBody>
      </p:sp>
      <p:sp>
        <p:nvSpPr>
          <p:cNvPr id="29798" name="矩形 29797"/>
          <p:cNvSpPr/>
          <p:nvPr/>
        </p:nvSpPr>
        <p:spPr>
          <a:xfrm>
            <a:off x="8740775" y="5109528"/>
            <a:ext cx="716280" cy="306705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1400" b="1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类似性</a:t>
            </a:r>
          </a:p>
        </p:txBody>
      </p:sp>
      <p:grpSp>
        <p:nvGrpSpPr>
          <p:cNvPr id="29793" name="组合 29792"/>
          <p:cNvGrpSpPr/>
          <p:nvPr/>
        </p:nvGrpSpPr>
        <p:grpSpPr>
          <a:xfrm>
            <a:off x="5653088" y="3221990"/>
            <a:ext cx="1797050" cy="1936750"/>
            <a:chOff x="2291" y="1888"/>
            <a:chExt cx="1132" cy="1220"/>
          </a:xfrm>
        </p:grpSpPr>
        <p:sp>
          <p:nvSpPr>
            <p:cNvPr id="29735" name="直接连接符 29734"/>
            <p:cNvSpPr/>
            <p:nvPr/>
          </p:nvSpPr>
          <p:spPr>
            <a:xfrm flipV="1">
              <a:off x="2566" y="2325"/>
              <a:ext cx="0" cy="68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36" name="未知"/>
            <p:cNvSpPr/>
            <p:nvPr/>
          </p:nvSpPr>
          <p:spPr>
            <a:xfrm>
              <a:off x="3057" y="2083"/>
              <a:ext cx="5" cy="683"/>
            </a:xfrm>
            <a:custGeom>
              <a:avLst/>
              <a:gdLst/>
              <a:ahLst/>
              <a:cxnLst/>
              <a:rect l="0" t="0" r="0" b="0"/>
              <a:pathLst>
                <a:path w="4" h="585">
                  <a:moveTo>
                    <a:pt x="4" y="585"/>
                  </a:moveTo>
                  <a:lnTo>
                    <a:pt x="0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9737" name="组合 29736"/>
            <p:cNvGrpSpPr/>
            <p:nvPr/>
          </p:nvGrpSpPr>
          <p:grpSpPr>
            <a:xfrm>
              <a:off x="2291" y="1888"/>
              <a:ext cx="1132" cy="1176"/>
              <a:chOff x="0" y="0"/>
              <a:chExt cx="1056" cy="1007"/>
            </a:xfrm>
          </p:grpSpPr>
          <p:sp>
            <p:nvSpPr>
              <p:cNvPr id="29738" name="平行四边形 29737"/>
              <p:cNvSpPr/>
              <p:nvPr/>
            </p:nvSpPr>
            <p:spPr>
              <a:xfrm>
                <a:off x="0" y="676"/>
                <a:ext cx="1056" cy="331"/>
              </a:xfrm>
              <a:prstGeom prst="parallelogram">
                <a:avLst>
                  <a:gd name="adj" fmla="val 79758"/>
                </a:avLst>
              </a:prstGeom>
              <a:noFill/>
              <a:ln w="12700" cap="flat" cmpd="sng">
                <a:solidFill>
                  <a:srgbClr val="6699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>
                <a:spAutoFit/>
              </a:bodyPr>
              <a:lstStyle/>
              <a:p>
                <a:pPr algn="ctr"/>
                <a:endParaRPr lang="zh-CN" altLang="en-US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39" name="未知"/>
              <p:cNvSpPr/>
              <p:nvPr/>
            </p:nvSpPr>
            <p:spPr>
              <a:xfrm>
                <a:off x="248" y="193"/>
                <a:ext cx="471" cy="207"/>
              </a:xfrm>
              <a:custGeom>
                <a:avLst/>
                <a:gdLst/>
                <a:ahLst/>
                <a:cxnLst/>
                <a:rect l="0" t="0" r="0" b="0"/>
                <a:pathLst>
                  <a:path w="471" h="207">
                    <a:moveTo>
                      <a:pt x="0" y="207"/>
                    </a:moveTo>
                    <a:lnTo>
                      <a:pt x="471" y="0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740" name="文本框 29739"/>
              <p:cNvSpPr txBox="1"/>
              <p:nvPr/>
            </p:nvSpPr>
            <p:spPr>
              <a:xfrm>
                <a:off x="84" y="262"/>
                <a:ext cx="198" cy="19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b="1" i="1">
                    <a:latin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29741" name="文本框 29740"/>
              <p:cNvSpPr txBox="1"/>
              <p:nvPr/>
            </p:nvSpPr>
            <p:spPr>
              <a:xfrm>
                <a:off x="655" y="0"/>
                <a:ext cx="198" cy="19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b="1" i="1">
                    <a:latin typeface="Times New Roman" panose="02020603050405020304" pitchFamily="18" charset="0"/>
                  </a:rPr>
                  <a:t>B</a:t>
                </a:r>
              </a:p>
            </p:txBody>
          </p:sp>
        </p:grpSp>
        <p:sp>
          <p:nvSpPr>
            <p:cNvPr id="29743" name="文本框 29742"/>
            <p:cNvSpPr txBox="1"/>
            <p:nvPr/>
          </p:nvSpPr>
          <p:spPr>
            <a:xfrm>
              <a:off x="2482" y="2932"/>
              <a:ext cx="196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0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●</a:t>
              </a:r>
            </a:p>
          </p:txBody>
        </p:sp>
        <p:sp>
          <p:nvSpPr>
            <p:cNvPr id="29745" name="文本框 29744"/>
            <p:cNvSpPr txBox="1"/>
            <p:nvPr/>
          </p:nvSpPr>
          <p:spPr>
            <a:xfrm>
              <a:off x="2977" y="2687"/>
              <a:ext cx="196" cy="15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0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●</a:t>
              </a:r>
            </a:p>
          </p:txBody>
        </p:sp>
        <p:sp>
          <p:nvSpPr>
            <p:cNvPr id="29746" name="文本框 29745"/>
            <p:cNvSpPr txBox="1"/>
            <p:nvPr/>
          </p:nvSpPr>
          <p:spPr>
            <a:xfrm>
              <a:off x="2472" y="2251"/>
              <a:ext cx="196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0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●</a:t>
              </a:r>
            </a:p>
          </p:txBody>
        </p:sp>
        <p:sp>
          <p:nvSpPr>
            <p:cNvPr id="29747" name="文本框 29746"/>
            <p:cNvSpPr txBox="1"/>
            <p:nvPr/>
          </p:nvSpPr>
          <p:spPr>
            <a:xfrm>
              <a:off x="2971" y="2024"/>
              <a:ext cx="196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0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●</a:t>
              </a:r>
            </a:p>
          </p:txBody>
        </p:sp>
        <p:sp>
          <p:nvSpPr>
            <p:cNvPr id="29748" name="文本框 29747"/>
            <p:cNvSpPr txBox="1"/>
            <p:nvPr/>
          </p:nvSpPr>
          <p:spPr>
            <a:xfrm>
              <a:off x="2409" y="2877"/>
              <a:ext cx="18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1" i="1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9749" name="文本框 29748"/>
            <p:cNvSpPr txBox="1"/>
            <p:nvPr/>
          </p:nvSpPr>
          <p:spPr>
            <a:xfrm>
              <a:off x="3066" y="2668"/>
              <a:ext cx="18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1" i="1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9750" name="未知"/>
            <p:cNvSpPr/>
            <p:nvPr/>
          </p:nvSpPr>
          <p:spPr>
            <a:xfrm>
              <a:off x="2565" y="2781"/>
              <a:ext cx="505" cy="242"/>
            </a:xfrm>
            <a:custGeom>
              <a:avLst/>
              <a:gdLst/>
              <a:ahLst/>
              <a:cxnLst/>
              <a:rect l="0" t="0" r="0" b="0"/>
              <a:pathLst>
                <a:path w="471" h="207">
                  <a:moveTo>
                    <a:pt x="0" y="207"/>
                  </a:moveTo>
                  <a:lnTo>
                    <a:pt x="471" y="0"/>
                  </a:lnTo>
                </a:path>
              </a:pathLst>
            </a:custGeom>
            <a:noFill/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1" fill="hold"/>
                                        <p:tgtEl>
                                          <p:spTgt spid="29799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75"/>
                                        <p:tgtEl>
                                          <p:spTgt spid="29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0" dur="500"/>
                                        <p:tgtEl>
                                          <p:spTgt spid="29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75"/>
                                        <p:tgtEl>
                                          <p:spTgt spid="297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75"/>
                                        <p:tgtEl>
                                          <p:spTgt spid="297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75"/>
                                        <p:tgtEl>
                                          <p:spTgt spid="297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675"/>
                            </p:stCondLst>
                            <p:childTnLst>
                              <p:par>
                                <p:cTn id="37" presetID="24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" fill="hold"/>
                                        <p:tgtEl>
                                          <p:spTgt spid="29796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75"/>
                                        <p:tgtEl>
                                          <p:spTgt spid="297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75"/>
                                        <p:tgtEl>
                                          <p:spTgt spid="297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75"/>
                                        <p:tgtEl>
                                          <p:spTgt spid="297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825"/>
                            </p:stCondLst>
                            <p:childTnLst>
                              <p:par>
                                <p:cTn id="54" presetID="24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" fill="hold"/>
                                        <p:tgtEl>
                                          <p:spTgt spid="29797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75"/>
                                        <p:tgtEl>
                                          <p:spTgt spid="297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75"/>
                                        <p:tgtEl>
                                          <p:spTgt spid="297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75"/>
                                        <p:tgtEl>
                                          <p:spTgt spid="297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750"/>
                            </p:stCondLst>
                            <p:childTnLst>
                              <p:par>
                                <p:cTn id="71" presetID="24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" fill="hold"/>
                                        <p:tgtEl>
                                          <p:spTgt spid="29798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22" grpId="0"/>
      <p:bldP spid="29723" grpId="0" bldLvl="0" animBg="1"/>
      <p:bldP spid="29724" grpId="0" build="p"/>
      <p:bldP spid="29725" grpId="0" build="p"/>
      <p:bldP spid="29726" grpId="0" uiExpand="1" build="p"/>
      <p:bldP spid="29727" grpId="0" build="p"/>
      <p:bldP spid="29728" grpId="0" uiExpand="1" build="p"/>
      <p:bldP spid="29796" grpId="0"/>
      <p:bldP spid="29797" grpId="0"/>
      <p:bldP spid="2979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文本框 30721"/>
          <p:cNvSpPr txBox="1"/>
          <p:nvPr/>
        </p:nvSpPr>
        <p:spPr>
          <a:xfrm>
            <a:off x="1836103" y="315119"/>
            <a:ext cx="6697662" cy="52197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algn="ctr"/>
            <a:r>
              <a:rPr lang="zh-CN" altLang="en-US" sz="2800" b="1">
                <a:solidFill>
                  <a:srgbClr val="FF33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</a:t>
            </a:r>
            <a:endParaRPr lang="zh-CN" altLang="en-US" sz="3200" b="1">
              <a:solidFill>
                <a:srgbClr val="FF33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339970" name="AutoShape 2"/>
          <p:cNvSpPr/>
          <p:nvPr/>
        </p:nvSpPr>
        <p:spPr>
          <a:xfrm>
            <a:off x="2066290" y="1710690"/>
            <a:ext cx="3181350" cy="990600"/>
          </a:xfrm>
          <a:prstGeom prst="rightArrow">
            <a:avLst>
              <a:gd name="adj1" fmla="val 50000"/>
              <a:gd name="adj2" fmla="val 71308"/>
            </a:avLst>
          </a:prstGeom>
          <a:solidFill>
            <a:schemeClr val="bg1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 lang="zh-CN" altLang="en-US" b="1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339971" name="AutoShape 3"/>
          <p:cNvSpPr/>
          <p:nvPr/>
        </p:nvSpPr>
        <p:spPr>
          <a:xfrm>
            <a:off x="2026920" y="4731385"/>
            <a:ext cx="3352800" cy="1464310"/>
          </a:xfrm>
          <a:prstGeom prst="right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 lang="zh-CN" altLang="en-US" b="1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339972" name="AutoShape 4"/>
          <p:cNvSpPr/>
          <p:nvPr/>
        </p:nvSpPr>
        <p:spPr>
          <a:xfrm>
            <a:off x="2026920" y="2971165"/>
            <a:ext cx="3352800" cy="1553210"/>
          </a:xfrm>
          <a:prstGeom prst="right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 lang="zh-CN" altLang="en-US" b="1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339974" name="Text Box 6"/>
          <p:cNvSpPr txBox="1"/>
          <p:nvPr/>
        </p:nvSpPr>
        <p:spPr>
          <a:xfrm>
            <a:off x="5489575" y="3577908"/>
            <a:ext cx="1567180" cy="30670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/>
          <a:p>
            <a:r>
              <a:rPr lang="zh-CN" altLang="en-US" sz="14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投影面平行线</a:t>
            </a:r>
          </a:p>
        </p:txBody>
      </p:sp>
      <p:sp>
        <p:nvSpPr>
          <p:cNvPr id="339975" name="Text Box 7"/>
          <p:cNvSpPr txBox="1"/>
          <p:nvPr/>
        </p:nvSpPr>
        <p:spPr>
          <a:xfrm>
            <a:off x="5379720" y="5363528"/>
            <a:ext cx="1903730" cy="30670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14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投影面垂直线</a:t>
            </a:r>
          </a:p>
        </p:txBody>
      </p:sp>
      <p:sp>
        <p:nvSpPr>
          <p:cNvPr id="339976" name="Text Box 8"/>
          <p:cNvSpPr txBox="1"/>
          <p:nvPr/>
        </p:nvSpPr>
        <p:spPr>
          <a:xfrm>
            <a:off x="5400040" y="2074863"/>
            <a:ext cx="2667000" cy="30670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一般位置直线</a:t>
            </a:r>
          </a:p>
        </p:txBody>
      </p:sp>
      <p:sp>
        <p:nvSpPr>
          <p:cNvPr id="339977" name="Text Box 9"/>
          <p:cNvSpPr txBox="1"/>
          <p:nvPr/>
        </p:nvSpPr>
        <p:spPr>
          <a:xfrm>
            <a:off x="2033270" y="3455988"/>
            <a:ext cx="2971800" cy="52197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algn="l"/>
            <a:r>
              <a:rPr lang="zh-CN" altLang="en-US" sz="1400" dirty="0">
                <a:solidFill>
                  <a:srgbClr val="FF33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平行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于某一投影面，</a:t>
            </a:r>
          </a:p>
          <a:p>
            <a:pPr algn="l"/>
            <a:r>
              <a:rPr lang="zh-CN" altLang="en-US" sz="1400" dirty="0">
                <a:solidFill>
                  <a:srgbClr val="FF33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倾斜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于另两个投影面</a:t>
            </a:r>
          </a:p>
        </p:txBody>
      </p:sp>
      <p:sp>
        <p:nvSpPr>
          <p:cNvPr id="339978" name="Text Box 10"/>
          <p:cNvSpPr txBox="1"/>
          <p:nvPr/>
        </p:nvSpPr>
        <p:spPr>
          <a:xfrm>
            <a:off x="2069783" y="5227638"/>
            <a:ext cx="3429000" cy="52197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zh-CN" altLang="en-US" sz="1400" dirty="0">
                <a:solidFill>
                  <a:srgbClr val="FF33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垂直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于某一投影面，</a:t>
            </a:r>
          </a:p>
          <a:p>
            <a:r>
              <a:rPr lang="zh-CN" altLang="en-US" sz="1400" dirty="0">
                <a:solidFill>
                  <a:srgbClr val="FF33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平行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于另两个投影面</a:t>
            </a:r>
          </a:p>
        </p:txBody>
      </p:sp>
      <p:sp>
        <p:nvSpPr>
          <p:cNvPr id="339979" name="Text Box 11"/>
          <p:cNvSpPr txBox="1"/>
          <p:nvPr/>
        </p:nvSpPr>
        <p:spPr>
          <a:xfrm>
            <a:off x="2070100" y="2052003"/>
            <a:ext cx="3352800" cy="30670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与三个投影面都倾斜</a:t>
            </a:r>
          </a:p>
        </p:txBody>
      </p:sp>
      <p:sp>
        <p:nvSpPr>
          <p:cNvPr id="339980" name="Text Box 12"/>
          <p:cNvSpPr txBox="1"/>
          <p:nvPr/>
        </p:nvSpPr>
        <p:spPr>
          <a:xfrm>
            <a:off x="7354570" y="3132615"/>
            <a:ext cx="2249488" cy="30670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正平线</a:t>
            </a:r>
          </a:p>
        </p:txBody>
      </p:sp>
      <p:sp>
        <p:nvSpPr>
          <p:cNvPr id="339981" name="Text Box 13"/>
          <p:cNvSpPr txBox="1"/>
          <p:nvPr/>
        </p:nvSpPr>
        <p:spPr>
          <a:xfrm>
            <a:off x="7354570" y="3589815"/>
            <a:ext cx="2003425" cy="30670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zh-CN" altLang="en-US" sz="1400" dirty="0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水平线</a:t>
            </a:r>
          </a:p>
        </p:txBody>
      </p:sp>
      <p:sp>
        <p:nvSpPr>
          <p:cNvPr id="339982" name="Text Box 14"/>
          <p:cNvSpPr txBox="1"/>
          <p:nvPr/>
        </p:nvSpPr>
        <p:spPr>
          <a:xfrm>
            <a:off x="7480300" y="4094163"/>
            <a:ext cx="1071880" cy="30670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lang="zh-CN" altLang="en-US" sz="1400" dirty="0">
                <a:solidFill>
                  <a:srgbClr val="7021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侧平线</a:t>
            </a:r>
          </a:p>
        </p:txBody>
      </p:sp>
      <p:sp>
        <p:nvSpPr>
          <p:cNvPr id="339983" name="AutoShape 15"/>
          <p:cNvSpPr/>
          <p:nvPr/>
        </p:nvSpPr>
        <p:spPr>
          <a:xfrm>
            <a:off x="7340283" y="3226435"/>
            <a:ext cx="119062" cy="990600"/>
          </a:xfrm>
          <a:prstGeom prst="leftBrace">
            <a:avLst>
              <a:gd name="adj1" fmla="val 69333"/>
              <a:gd name="adj2" fmla="val 50000"/>
            </a:avLst>
          </a:prstGeom>
          <a:noFill/>
          <a:ln w="1905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 lang="zh-CN" altLang="en-US" b="1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30749" name="AutoShape 16"/>
          <p:cNvSpPr/>
          <p:nvPr/>
        </p:nvSpPr>
        <p:spPr>
          <a:xfrm>
            <a:off x="7475220" y="5526723"/>
            <a:ext cx="184150" cy="381000"/>
          </a:xfrm>
          <a:prstGeom prst="leftBrace">
            <a:avLst>
              <a:gd name="adj1" fmla="val 17241"/>
              <a:gd name="adj2" fmla="val 50000"/>
            </a:avLst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endParaRPr lang="zh-CN" altLang="en-US" b="1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pSp>
        <p:nvGrpSpPr>
          <p:cNvPr id="3" name="Group 22"/>
          <p:cNvGrpSpPr/>
          <p:nvPr/>
        </p:nvGrpSpPr>
        <p:grpSpPr>
          <a:xfrm>
            <a:off x="5176863" y="4216217"/>
            <a:ext cx="2241121" cy="1003142"/>
            <a:chOff x="2476" y="1647"/>
            <a:chExt cx="1274" cy="575"/>
          </a:xfrm>
        </p:grpSpPr>
        <p:sp>
          <p:nvSpPr>
            <p:cNvPr id="30756" name="AutoShape 23"/>
            <p:cNvSpPr/>
            <p:nvPr/>
          </p:nvSpPr>
          <p:spPr>
            <a:xfrm>
              <a:off x="2644" y="1647"/>
              <a:ext cx="901" cy="575"/>
            </a:xfrm>
            <a:prstGeom prst="upDownArrowCallout">
              <a:avLst>
                <a:gd name="adj1" fmla="val 77083"/>
                <a:gd name="adj2" fmla="val 77083"/>
                <a:gd name="adj3" fmla="val 12500"/>
                <a:gd name="adj4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400" dirty="0"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0757" name="Text Box 24"/>
            <p:cNvSpPr txBox="1"/>
            <p:nvPr/>
          </p:nvSpPr>
          <p:spPr>
            <a:xfrm>
              <a:off x="2476" y="1829"/>
              <a:ext cx="1274" cy="17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zh-CN" altLang="en-US" sz="1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特殊位置直线</a:t>
              </a:r>
            </a:p>
          </p:txBody>
        </p:sp>
      </p:grpSp>
      <p:grpSp>
        <p:nvGrpSpPr>
          <p:cNvPr id="30766" name="组合 30765"/>
          <p:cNvGrpSpPr/>
          <p:nvPr/>
        </p:nvGrpSpPr>
        <p:grpSpPr>
          <a:xfrm>
            <a:off x="7349808" y="4944111"/>
            <a:ext cx="2330450" cy="1341438"/>
            <a:chOff x="4179" y="3038"/>
            <a:chExt cx="1468" cy="845"/>
          </a:xfrm>
        </p:grpSpPr>
        <p:sp>
          <p:nvSpPr>
            <p:cNvPr id="30759" name="Text Box 18"/>
            <p:cNvSpPr txBox="1"/>
            <p:nvPr/>
          </p:nvSpPr>
          <p:spPr>
            <a:xfrm>
              <a:off x="4179" y="3038"/>
              <a:ext cx="1361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lstStyle/>
            <a:p>
              <a:r>
                <a:rPr lang="en-US" altLang="zh-CN" sz="14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 </a:t>
              </a:r>
              <a:r>
                <a:rPr lang="zh-CN" altLang="en-US" sz="1400" dirty="0">
                  <a:solidFill>
                    <a:srgbClr val="0066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正垂线</a:t>
              </a:r>
            </a:p>
          </p:txBody>
        </p:sp>
        <p:sp>
          <p:nvSpPr>
            <p:cNvPr id="30760" name="Text Box 19"/>
            <p:cNvSpPr txBox="1"/>
            <p:nvPr/>
          </p:nvSpPr>
          <p:spPr>
            <a:xfrm>
              <a:off x="4189" y="3385"/>
              <a:ext cx="1458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lstStyle/>
            <a:p>
              <a:r>
                <a:rPr lang="en-US" altLang="zh-CN" sz="14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 </a:t>
              </a:r>
              <a:r>
                <a:rPr lang="zh-CN" altLang="en-US" sz="1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铅垂线</a:t>
              </a:r>
            </a:p>
          </p:txBody>
        </p:sp>
        <p:sp>
          <p:nvSpPr>
            <p:cNvPr id="30761" name="Text Box 20"/>
            <p:cNvSpPr txBox="1"/>
            <p:nvPr/>
          </p:nvSpPr>
          <p:spPr>
            <a:xfrm>
              <a:off x="4218" y="3690"/>
              <a:ext cx="1024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lstStyle/>
            <a:p>
              <a:r>
                <a:rPr lang="en-US" altLang="zh-CN" sz="14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</a:t>
              </a:r>
              <a:r>
                <a:rPr lang="zh-CN" altLang="en-US" sz="1400" dirty="0">
                  <a:solidFill>
                    <a:srgbClr val="7030A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侧垂线</a:t>
              </a:r>
            </a:p>
          </p:txBody>
        </p:sp>
        <p:sp>
          <p:nvSpPr>
            <p:cNvPr id="2" name="AutoShape 15"/>
            <p:cNvSpPr/>
            <p:nvPr/>
          </p:nvSpPr>
          <p:spPr>
            <a:xfrm>
              <a:off x="4195" y="3158"/>
              <a:ext cx="75" cy="624"/>
            </a:xfrm>
            <a:prstGeom prst="leftBrace">
              <a:avLst>
                <a:gd name="adj1" fmla="val 69333"/>
                <a:gd name="adj2" fmla="val 50000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9724" name="文本框 29723"/>
          <p:cNvSpPr txBox="1"/>
          <p:nvPr/>
        </p:nvSpPr>
        <p:spPr>
          <a:xfrm>
            <a:off x="756920" y="815023"/>
            <a:ext cx="622744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直线在三个投影面中的投影特性：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29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" fill="hold"/>
                                        <p:tgtEl>
                                          <p:spTgt spid="3399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" fill="hold"/>
                                        <p:tgtEl>
                                          <p:spTgt spid="3399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" fill="hold"/>
                                        <p:tgtEl>
                                          <p:spTgt spid="3399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" fill="hold"/>
                                        <p:tgtEl>
                                          <p:spTgt spid="3399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399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399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399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399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75"/>
                                        <p:tgtEl>
                                          <p:spTgt spid="3399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75" fill="hold"/>
                                        <p:tgtEl>
                                          <p:spTgt spid="3399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" fill="hold"/>
                                        <p:tgtEl>
                                          <p:spTgt spid="3399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399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399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399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399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75"/>
                                        <p:tgtEl>
                                          <p:spTgt spid="3399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39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339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39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39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75" fill="hold"/>
                                        <p:tgtEl>
                                          <p:spTgt spid="3399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75" fill="hold"/>
                                        <p:tgtEl>
                                          <p:spTgt spid="3399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75" fill="hold"/>
                                        <p:tgtEl>
                                          <p:spTgt spid="3399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75" fill="hold"/>
                                        <p:tgtEl>
                                          <p:spTgt spid="3399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399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399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399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399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75"/>
                                        <p:tgtEl>
                                          <p:spTgt spid="3399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8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9970" grpId="0" bldLvl="0" animBg="1"/>
      <p:bldP spid="339971" grpId="0" bldLvl="0" animBg="1"/>
      <p:bldP spid="339972" grpId="0" bldLvl="0" animBg="1"/>
      <p:bldP spid="339974" grpId="0" build="p" advAuto="1000"/>
      <p:bldP spid="339975" grpId="0" build="p" advAuto="1000"/>
      <p:bldP spid="339976" grpId="0" build="p" advAuto="1000"/>
      <p:bldP spid="339977" grpId="0"/>
      <p:bldP spid="339978" grpId="0"/>
      <p:bldP spid="339979" grpId="0"/>
      <p:bldP spid="339980" grpId="0"/>
      <p:bldP spid="339981" grpId="0"/>
      <p:bldP spid="339982" grpId="0"/>
      <p:bldP spid="339983" grpId="0" bldLvl="0" animBg="1"/>
      <p:bldP spid="29724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46" name="组合 31745"/>
          <p:cNvGrpSpPr/>
          <p:nvPr/>
        </p:nvGrpSpPr>
        <p:grpSpPr>
          <a:xfrm>
            <a:off x="5112703" y="2236788"/>
            <a:ext cx="2212975" cy="2322512"/>
            <a:chOff x="0" y="0"/>
            <a:chExt cx="1239" cy="1196"/>
          </a:xfrm>
        </p:grpSpPr>
        <p:sp>
          <p:nvSpPr>
            <p:cNvPr id="31747" name="直接连接符 31746"/>
            <p:cNvSpPr/>
            <p:nvPr/>
          </p:nvSpPr>
          <p:spPr>
            <a:xfrm>
              <a:off x="534" y="196"/>
              <a:ext cx="473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48" name="未知"/>
            <p:cNvSpPr/>
            <p:nvPr/>
          </p:nvSpPr>
          <p:spPr>
            <a:xfrm>
              <a:off x="0" y="683"/>
              <a:ext cx="1214" cy="13"/>
            </a:xfrm>
            <a:custGeom>
              <a:avLst/>
              <a:gdLst/>
              <a:ahLst/>
              <a:cxnLst/>
              <a:rect l="0" t="0" r="0" b="0"/>
              <a:pathLst>
                <a:path w="1214" h="13">
                  <a:moveTo>
                    <a:pt x="0" y="13"/>
                  </a:moveTo>
                  <a:lnTo>
                    <a:pt x="1200" y="13"/>
                  </a:lnTo>
                  <a:lnTo>
                    <a:pt x="1214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49" name="直接连接符 31748"/>
            <p:cNvSpPr/>
            <p:nvPr/>
          </p:nvSpPr>
          <p:spPr>
            <a:xfrm>
              <a:off x="706" y="696"/>
              <a:ext cx="303" cy="303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50" name="未知"/>
            <p:cNvSpPr/>
            <p:nvPr/>
          </p:nvSpPr>
          <p:spPr>
            <a:xfrm>
              <a:off x="174" y="189"/>
              <a:ext cx="362" cy="241"/>
            </a:xfrm>
            <a:custGeom>
              <a:avLst/>
              <a:gdLst/>
              <a:ahLst/>
              <a:cxnLst/>
              <a:rect l="0" t="0" r="0" b="0"/>
              <a:pathLst>
                <a:path w="362" h="241">
                  <a:moveTo>
                    <a:pt x="0" y="241"/>
                  </a:moveTo>
                  <a:lnTo>
                    <a:pt x="362" y="0"/>
                  </a:lnTo>
                </a:path>
              </a:pathLst>
            </a:custGeom>
            <a:noFill/>
            <a:ln w="38100" cap="flat" cmpd="sng">
              <a:solidFill>
                <a:srgbClr val="003399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51" name="直接连接符 31750"/>
            <p:cNvSpPr/>
            <p:nvPr/>
          </p:nvSpPr>
          <p:spPr>
            <a:xfrm>
              <a:off x="174" y="430"/>
              <a:ext cx="833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52" name="直接连接符 31751"/>
            <p:cNvSpPr/>
            <p:nvPr/>
          </p:nvSpPr>
          <p:spPr>
            <a:xfrm>
              <a:off x="706" y="93"/>
              <a:ext cx="0" cy="1103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53" name="未知"/>
            <p:cNvSpPr/>
            <p:nvPr/>
          </p:nvSpPr>
          <p:spPr>
            <a:xfrm>
              <a:off x="537" y="198"/>
              <a:ext cx="1" cy="779"/>
            </a:xfrm>
            <a:custGeom>
              <a:avLst/>
              <a:gdLst/>
              <a:ahLst/>
              <a:cxnLst/>
              <a:rect l="0" t="0" r="0" b="0"/>
              <a:pathLst>
                <a:path w="1" h="779">
                  <a:moveTo>
                    <a:pt x="0" y="0"/>
                  </a:moveTo>
                  <a:lnTo>
                    <a:pt x="0" y="779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54" name="矩形 31753"/>
            <p:cNvSpPr/>
            <p:nvPr/>
          </p:nvSpPr>
          <p:spPr>
            <a:xfrm>
              <a:off x="980" y="305"/>
              <a:ext cx="259" cy="23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b</a:t>
              </a:r>
              <a:r>
                <a:rPr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</a:t>
              </a:r>
            </a:p>
          </p:txBody>
        </p:sp>
        <p:sp>
          <p:nvSpPr>
            <p:cNvPr id="31755" name="未知"/>
            <p:cNvSpPr/>
            <p:nvPr/>
          </p:nvSpPr>
          <p:spPr>
            <a:xfrm>
              <a:off x="550" y="978"/>
              <a:ext cx="452" cy="1"/>
            </a:xfrm>
            <a:custGeom>
              <a:avLst/>
              <a:gdLst/>
              <a:ahLst/>
              <a:cxnLst/>
              <a:rect l="0" t="0" r="0" b="0"/>
              <a:pathLst>
                <a:path w="452" h="1">
                  <a:moveTo>
                    <a:pt x="0" y="0"/>
                  </a:moveTo>
                  <a:lnTo>
                    <a:pt x="452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56" name="未知"/>
            <p:cNvSpPr/>
            <p:nvPr/>
          </p:nvSpPr>
          <p:spPr>
            <a:xfrm>
              <a:off x="175" y="430"/>
              <a:ext cx="4" cy="561"/>
            </a:xfrm>
            <a:custGeom>
              <a:avLst/>
              <a:gdLst/>
              <a:ahLst/>
              <a:cxnLst/>
              <a:rect l="0" t="0" r="0" b="0"/>
              <a:pathLst>
                <a:path w="4" h="561">
                  <a:moveTo>
                    <a:pt x="4" y="561"/>
                  </a:moveTo>
                  <a:lnTo>
                    <a:pt x="0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57" name="文本框 31756"/>
            <p:cNvSpPr txBox="1"/>
            <p:nvPr/>
          </p:nvSpPr>
          <p:spPr>
            <a:xfrm>
              <a:off x="976" y="32"/>
              <a:ext cx="258" cy="23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a</a:t>
              </a:r>
              <a:r>
                <a:rPr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</a:t>
              </a:r>
            </a:p>
          </p:txBody>
        </p:sp>
        <p:sp>
          <p:nvSpPr>
            <p:cNvPr id="31758" name="未知"/>
            <p:cNvSpPr/>
            <p:nvPr/>
          </p:nvSpPr>
          <p:spPr>
            <a:xfrm>
              <a:off x="176" y="978"/>
              <a:ext cx="367" cy="1"/>
            </a:xfrm>
            <a:custGeom>
              <a:avLst/>
              <a:gdLst/>
              <a:ahLst/>
              <a:cxnLst/>
              <a:rect l="0" t="0" r="0" b="0"/>
              <a:pathLst>
                <a:path w="367" h="1">
                  <a:moveTo>
                    <a:pt x="0" y="0"/>
                  </a:moveTo>
                  <a:lnTo>
                    <a:pt x="367" y="0"/>
                  </a:lnTo>
                </a:path>
              </a:pathLst>
            </a:custGeom>
            <a:noFill/>
            <a:ln w="38100" cap="flat" cmpd="sng">
              <a:solidFill>
                <a:srgbClr val="003399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59" name="未知"/>
            <p:cNvSpPr/>
            <p:nvPr/>
          </p:nvSpPr>
          <p:spPr>
            <a:xfrm>
              <a:off x="988" y="442"/>
              <a:ext cx="1" cy="550"/>
            </a:xfrm>
            <a:custGeom>
              <a:avLst/>
              <a:gdLst/>
              <a:ahLst/>
              <a:cxnLst/>
              <a:rect l="0" t="0" r="0" b="0"/>
              <a:pathLst>
                <a:path w="1" h="550">
                  <a:moveTo>
                    <a:pt x="0" y="0"/>
                  </a:moveTo>
                  <a:lnTo>
                    <a:pt x="0" y="55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60" name="文本框 31759"/>
            <p:cNvSpPr txBox="1"/>
            <p:nvPr/>
          </p:nvSpPr>
          <p:spPr>
            <a:xfrm>
              <a:off x="455" y="923"/>
              <a:ext cx="188" cy="23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31761" name="文本框 31760"/>
            <p:cNvSpPr txBox="1"/>
            <p:nvPr/>
          </p:nvSpPr>
          <p:spPr>
            <a:xfrm>
              <a:off x="58" y="922"/>
              <a:ext cx="188" cy="2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31762" name="未知"/>
            <p:cNvSpPr/>
            <p:nvPr/>
          </p:nvSpPr>
          <p:spPr>
            <a:xfrm>
              <a:off x="988" y="206"/>
              <a:ext cx="1" cy="225"/>
            </a:xfrm>
            <a:custGeom>
              <a:avLst/>
              <a:gdLst/>
              <a:ahLst/>
              <a:cxnLst/>
              <a:rect l="0" t="0" r="0" b="0"/>
              <a:pathLst>
                <a:path w="1" h="225">
                  <a:moveTo>
                    <a:pt x="0" y="0"/>
                  </a:moveTo>
                  <a:lnTo>
                    <a:pt x="0" y="225"/>
                  </a:lnTo>
                </a:path>
              </a:pathLst>
            </a:custGeom>
            <a:noFill/>
            <a:ln w="38100" cap="flat" cmpd="sng">
              <a:solidFill>
                <a:srgbClr val="003399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63" name="文本框 31762"/>
            <p:cNvSpPr txBox="1"/>
            <p:nvPr/>
          </p:nvSpPr>
          <p:spPr>
            <a:xfrm>
              <a:off x="406" y="0"/>
              <a:ext cx="231" cy="2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  <a:sym typeface="EuroRoman" panose="00000400000000000000" pitchFamily="2" charset="2"/>
                </a:rPr>
                <a:t>a</a:t>
              </a:r>
              <a:r>
                <a:rPr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</a:t>
              </a:r>
            </a:p>
          </p:txBody>
        </p:sp>
        <p:sp>
          <p:nvSpPr>
            <p:cNvPr id="31764" name="文本框 31763"/>
            <p:cNvSpPr txBox="1"/>
            <p:nvPr/>
          </p:nvSpPr>
          <p:spPr>
            <a:xfrm>
              <a:off x="13" y="266"/>
              <a:ext cx="241" cy="23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>
                  <a:latin typeface="Times New Roman" panose="02020603050405020304" pitchFamily="18" charset="0"/>
                </a:rPr>
                <a:t>b</a:t>
              </a:r>
              <a:r>
                <a:rPr lang="en-US" altLang="zh-CN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</a:t>
              </a:r>
            </a:p>
          </p:txBody>
        </p:sp>
      </p:grpSp>
      <p:grpSp>
        <p:nvGrpSpPr>
          <p:cNvPr id="31765" name="组合 31764"/>
          <p:cNvGrpSpPr/>
          <p:nvPr/>
        </p:nvGrpSpPr>
        <p:grpSpPr>
          <a:xfrm>
            <a:off x="7760653" y="2411413"/>
            <a:ext cx="2336800" cy="2201862"/>
            <a:chOff x="0" y="0"/>
            <a:chExt cx="1355" cy="1218"/>
          </a:xfrm>
        </p:grpSpPr>
        <p:sp>
          <p:nvSpPr>
            <p:cNvPr id="31766" name="文本框 31765"/>
            <p:cNvSpPr txBox="1"/>
            <p:nvPr/>
          </p:nvSpPr>
          <p:spPr>
            <a:xfrm>
              <a:off x="1071" y="321"/>
              <a:ext cx="268" cy="25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b</a:t>
              </a:r>
              <a:r>
                <a:rPr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</a:t>
              </a:r>
            </a:p>
          </p:txBody>
        </p:sp>
        <p:sp>
          <p:nvSpPr>
            <p:cNvPr id="31767" name="文本框 31766"/>
            <p:cNvSpPr txBox="1"/>
            <p:nvPr/>
          </p:nvSpPr>
          <p:spPr>
            <a:xfrm>
              <a:off x="64" y="676"/>
              <a:ext cx="195" cy="25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31768" name="矩形 31767"/>
            <p:cNvSpPr/>
            <p:nvPr/>
          </p:nvSpPr>
          <p:spPr>
            <a:xfrm>
              <a:off x="764" y="0"/>
              <a:ext cx="268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a</a:t>
              </a:r>
              <a:r>
                <a:rPr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</a:t>
              </a:r>
            </a:p>
          </p:txBody>
        </p:sp>
        <p:sp>
          <p:nvSpPr>
            <p:cNvPr id="31769" name="文本框 31768"/>
            <p:cNvSpPr txBox="1"/>
            <p:nvPr/>
          </p:nvSpPr>
          <p:spPr>
            <a:xfrm>
              <a:off x="3" y="354"/>
              <a:ext cx="239" cy="25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b</a:t>
              </a:r>
              <a:r>
                <a:rPr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</a:t>
              </a:r>
            </a:p>
          </p:txBody>
        </p:sp>
        <p:sp>
          <p:nvSpPr>
            <p:cNvPr id="31770" name="文本框 31769"/>
            <p:cNvSpPr txBox="1"/>
            <p:nvPr/>
          </p:nvSpPr>
          <p:spPr>
            <a:xfrm>
              <a:off x="99" y="962"/>
              <a:ext cx="196" cy="25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31771" name="文本框 31770"/>
            <p:cNvSpPr txBox="1"/>
            <p:nvPr/>
          </p:nvSpPr>
          <p:spPr>
            <a:xfrm>
              <a:off x="17" y="66"/>
              <a:ext cx="239" cy="25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  <a:sym typeface="EuroRoman" panose="00000400000000000000" pitchFamily="2" charset="2"/>
                </a:rPr>
                <a:t>a</a:t>
              </a:r>
              <a:r>
                <a:rPr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</a:t>
              </a:r>
            </a:p>
          </p:txBody>
        </p:sp>
        <p:sp>
          <p:nvSpPr>
            <p:cNvPr id="31772" name="直接连接符 31771"/>
            <p:cNvSpPr/>
            <p:nvPr/>
          </p:nvSpPr>
          <p:spPr>
            <a:xfrm>
              <a:off x="801" y="218"/>
              <a:ext cx="259" cy="259"/>
            </a:xfrm>
            <a:prstGeom prst="line">
              <a:avLst/>
            </a:prstGeom>
            <a:ln w="38100" cap="flat" cmpd="sng">
              <a:solidFill>
                <a:srgbClr val="00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73" name="直接连接符 31772"/>
            <p:cNvSpPr/>
            <p:nvPr/>
          </p:nvSpPr>
          <p:spPr>
            <a:xfrm>
              <a:off x="1060" y="464"/>
              <a:ext cx="0" cy="62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74" name="直接连接符 31773"/>
            <p:cNvSpPr/>
            <p:nvPr/>
          </p:nvSpPr>
          <p:spPr>
            <a:xfrm>
              <a:off x="801" y="231"/>
              <a:ext cx="0" cy="61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75" name="直接连接符 31774"/>
            <p:cNvSpPr/>
            <p:nvPr/>
          </p:nvSpPr>
          <p:spPr>
            <a:xfrm>
              <a:off x="646" y="674"/>
              <a:ext cx="428" cy="42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76" name="直接连接符 31775"/>
            <p:cNvSpPr/>
            <p:nvPr/>
          </p:nvSpPr>
          <p:spPr>
            <a:xfrm>
              <a:off x="646" y="115"/>
              <a:ext cx="0" cy="1103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77" name="直接连接符 31776"/>
            <p:cNvSpPr/>
            <p:nvPr/>
          </p:nvSpPr>
          <p:spPr>
            <a:xfrm>
              <a:off x="0" y="673"/>
              <a:ext cx="1355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78" name="未知"/>
            <p:cNvSpPr/>
            <p:nvPr/>
          </p:nvSpPr>
          <p:spPr>
            <a:xfrm>
              <a:off x="230" y="1088"/>
              <a:ext cx="831" cy="1"/>
            </a:xfrm>
            <a:custGeom>
              <a:avLst/>
              <a:gdLst/>
              <a:ahLst/>
              <a:cxnLst/>
              <a:rect l="0" t="0" r="0" b="0"/>
              <a:pathLst>
                <a:path w="831" h="1">
                  <a:moveTo>
                    <a:pt x="831" y="0"/>
                  </a:moveTo>
                  <a:lnTo>
                    <a:pt x="0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79" name="未知"/>
            <p:cNvSpPr/>
            <p:nvPr/>
          </p:nvSpPr>
          <p:spPr>
            <a:xfrm>
              <a:off x="230" y="827"/>
              <a:ext cx="571" cy="1"/>
            </a:xfrm>
            <a:custGeom>
              <a:avLst/>
              <a:gdLst/>
              <a:ahLst/>
              <a:cxnLst/>
              <a:rect l="0" t="0" r="0" b="0"/>
              <a:pathLst>
                <a:path w="571" h="1">
                  <a:moveTo>
                    <a:pt x="571" y="0"/>
                  </a:moveTo>
                  <a:lnTo>
                    <a:pt x="0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80" name="直接连接符 31779"/>
            <p:cNvSpPr/>
            <p:nvPr/>
          </p:nvSpPr>
          <p:spPr>
            <a:xfrm flipH="1">
              <a:off x="243" y="218"/>
              <a:ext cx="558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81" name="直接连接符 31780"/>
            <p:cNvSpPr/>
            <p:nvPr/>
          </p:nvSpPr>
          <p:spPr>
            <a:xfrm flipH="1">
              <a:off x="243" y="477"/>
              <a:ext cx="817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82" name="直接连接符 31781"/>
            <p:cNvSpPr/>
            <p:nvPr/>
          </p:nvSpPr>
          <p:spPr>
            <a:xfrm>
              <a:off x="243" y="464"/>
              <a:ext cx="0" cy="36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83" name="直接连接符 31782"/>
            <p:cNvSpPr/>
            <p:nvPr/>
          </p:nvSpPr>
          <p:spPr>
            <a:xfrm>
              <a:off x="243" y="828"/>
              <a:ext cx="0" cy="260"/>
            </a:xfrm>
            <a:prstGeom prst="line">
              <a:avLst/>
            </a:prstGeom>
            <a:ln w="38100" cap="flat" cmpd="sng">
              <a:solidFill>
                <a:srgbClr val="00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84" name="直接连接符 31783"/>
            <p:cNvSpPr/>
            <p:nvPr/>
          </p:nvSpPr>
          <p:spPr>
            <a:xfrm>
              <a:off x="243" y="218"/>
              <a:ext cx="0" cy="259"/>
            </a:xfrm>
            <a:prstGeom prst="line">
              <a:avLst/>
            </a:prstGeom>
            <a:ln w="38100" cap="flat" cmpd="sng">
              <a:solidFill>
                <a:srgbClr val="003399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1785" name="文本框 31784"/>
          <p:cNvSpPr txBox="1"/>
          <p:nvPr/>
        </p:nvSpPr>
        <p:spPr>
          <a:xfrm>
            <a:off x="949008" y="483711"/>
            <a:ext cx="4775200" cy="36830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 投影面平行线</a:t>
            </a:r>
          </a:p>
        </p:txBody>
      </p:sp>
      <p:sp>
        <p:nvSpPr>
          <p:cNvPr id="31786" name="文本框 31785"/>
          <p:cNvSpPr txBox="1"/>
          <p:nvPr/>
        </p:nvSpPr>
        <p:spPr>
          <a:xfrm>
            <a:off x="6630353" y="3343275"/>
            <a:ext cx="184150" cy="366713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1787" name="文本框 31786"/>
          <p:cNvSpPr txBox="1"/>
          <p:nvPr/>
        </p:nvSpPr>
        <p:spPr>
          <a:xfrm>
            <a:off x="1591945" y="5233988"/>
            <a:ext cx="8754110" cy="3276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/>
          <a:p>
            <a:pPr marL="450850" indent="-450850">
              <a:lnSpc>
                <a:spcPct val="110000"/>
              </a:lnSpc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① 在其</a:t>
            </a:r>
            <a:r>
              <a:rPr lang="zh-CN" altLang="en-US" sz="1400">
                <a:solidFill>
                  <a:srgbClr val="00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平行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的那个投影面上的投影反映</a:t>
            </a:r>
            <a:r>
              <a:rPr lang="zh-CN" altLang="en-US" sz="1400">
                <a:solidFill>
                  <a:srgbClr val="FF33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实长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，并反映直线与另两投影面的</a:t>
            </a:r>
            <a:r>
              <a:rPr lang="zh-CN" altLang="en-US" sz="1400">
                <a:solidFill>
                  <a:srgbClr val="FF33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倾角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</a:p>
        </p:txBody>
      </p:sp>
      <p:sp>
        <p:nvSpPr>
          <p:cNvPr id="31788" name="文本框 31787"/>
          <p:cNvSpPr txBox="1"/>
          <p:nvPr/>
        </p:nvSpPr>
        <p:spPr>
          <a:xfrm>
            <a:off x="1590993" y="5561966"/>
            <a:ext cx="8478837" cy="30670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② 另两个投影面上的投影</a:t>
            </a:r>
            <a:r>
              <a:rPr lang="zh-CN" altLang="en-US" sz="1400">
                <a:solidFill>
                  <a:srgbClr val="FF33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平行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于</a:t>
            </a:r>
            <a:r>
              <a:rPr lang="zh-CN" altLang="en-US" sz="1400">
                <a:solidFill>
                  <a:srgbClr val="FF33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相应的投影轴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</a:p>
        </p:txBody>
      </p:sp>
      <p:grpSp>
        <p:nvGrpSpPr>
          <p:cNvPr id="31792" name="组合 31791"/>
          <p:cNvGrpSpPr/>
          <p:nvPr/>
        </p:nvGrpSpPr>
        <p:grpSpPr>
          <a:xfrm>
            <a:off x="5849303" y="2625725"/>
            <a:ext cx="363537" cy="304800"/>
            <a:chOff x="0" y="0"/>
            <a:chExt cx="229" cy="192"/>
          </a:xfrm>
        </p:grpSpPr>
        <p:sp>
          <p:nvSpPr>
            <p:cNvPr id="31793" name="任意多边形 31792"/>
            <p:cNvSpPr/>
            <p:nvPr/>
          </p:nvSpPr>
          <p:spPr>
            <a:xfrm rot="9292631">
              <a:off x="26" y="59"/>
              <a:ext cx="98" cy="133"/>
            </a:xfrm>
            <a:custGeom>
              <a:avLst/>
              <a:gdLst>
                <a:gd name="txL" fmla="*/ 0 w 21600"/>
                <a:gd name="txT" fmla="*/ 0 h 25220"/>
                <a:gd name="txR" fmla="*/ 21600 w 21600"/>
                <a:gd name="txB" fmla="*/ 25220 h 25220"/>
              </a:gdLst>
              <a:ahLst/>
              <a:cxnLst>
                <a:cxn ang="270">
                  <a:pos x="0" y="0"/>
                </a:cxn>
                <a:cxn ang="90">
                  <a:pos x="21294" y="25220"/>
                </a:cxn>
                <a:cxn ang="90">
                  <a:pos x="0" y="21600"/>
                </a:cxn>
              </a:cxnLst>
              <a:rect l="txL" t="txT" r="txR" b="txB"/>
              <a:pathLst>
                <a:path w="21600" h="25220" fill="none">
                  <a:moveTo>
                    <a:pt x="0" y="0"/>
                  </a:moveTo>
                  <a:arcTo wR="21600" hR="21600" stAng="-5400000" swAng="5978886"/>
                </a:path>
                <a:path w="21600" h="25220" stroke="0">
                  <a:moveTo>
                    <a:pt x="0" y="0"/>
                  </a:moveTo>
                  <a:arcTo wR="21600" hR="21600" stAng="-5400000" swAng="5978886"/>
                  <a:lnTo>
                    <a:pt x="0" y="2160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headEnd type="triangle" w="sm" len="med"/>
              <a:tailEnd type="triangle" w="sm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94" name="文本框 31793"/>
            <p:cNvSpPr txBox="1"/>
            <p:nvPr/>
          </p:nvSpPr>
          <p:spPr>
            <a:xfrm>
              <a:off x="0" y="0"/>
              <a:ext cx="229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1400" b="1">
                  <a:latin typeface="Times New Roman" panose="02020603050405020304" pitchFamily="18" charset="0"/>
                </a:rPr>
                <a:t>γ</a:t>
              </a:r>
              <a:endParaRPr lang="en-US" altLang="zh-CN" b="1">
                <a:latin typeface="Times New Roman" panose="02020603050405020304" pitchFamily="18" charset="0"/>
              </a:endParaRPr>
            </a:p>
          </p:txBody>
        </p:sp>
      </p:grpSp>
      <p:sp>
        <p:nvSpPr>
          <p:cNvPr id="31795" name="文本框 31794"/>
          <p:cNvSpPr txBox="1"/>
          <p:nvPr/>
        </p:nvSpPr>
        <p:spPr>
          <a:xfrm>
            <a:off x="1675765" y="4708684"/>
            <a:ext cx="3384550" cy="36830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投影特性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p:sp>
        <p:nvSpPr>
          <p:cNvPr id="31796" name="文本框 31795"/>
          <p:cNvSpPr txBox="1"/>
          <p:nvPr/>
        </p:nvSpPr>
        <p:spPr>
          <a:xfrm>
            <a:off x="3009265" y="1711960"/>
            <a:ext cx="6445250" cy="3067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与</a:t>
            </a:r>
            <a:r>
              <a:rPr lang="en-US" altLang="zh-CN" sz="1400" i="1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面的夹角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</a:t>
            </a:r>
            <a:r>
              <a:rPr lang="en-US" altLang="zh-CN" sz="1400" i="1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α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  与</a:t>
            </a:r>
            <a:r>
              <a:rPr lang="en-US" altLang="zh-CN" sz="1400" i="1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面的角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</a:t>
            </a:r>
            <a:r>
              <a:rPr lang="en-US" altLang="zh-CN" sz="1400" i="1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β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  与</a:t>
            </a:r>
            <a:r>
              <a:rPr lang="en-US" altLang="zh-CN" sz="1400" i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面的夹角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 </a:t>
            </a:r>
            <a:r>
              <a:rPr lang="en-US" altLang="zh-CN" sz="1400" i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γ</a:t>
            </a:r>
          </a:p>
        </p:txBody>
      </p:sp>
      <p:grpSp>
        <p:nvGrpSpPr>
          <p:cNvPr id="31797" name="组合 31796"/>
          <p:cNvGrpSpPr/>
          <p:nvPr/>
        </p:nvGrpSpPr>
        <p:grpSpPr>
          <a:xfrm>
            <a:off x="2671128" y="3808413"/>
            <a:ext cx="338137" cy="301625"/>
            <a:chOff x="0" y="0"/>
            <a:chExt cx="213" cy="190"/>
          </a:xfrm>
        </p:grpSpPr>
        <p:sp>
          <p:nvSpPr>
            <p:cNvPr id="31798" name="文本框 31797"/>
            <p:cNvSpPr txBox="1"/>
            <p:nvPr/>
          </p:nvSpPr>
          <p:spPr>
            <a:xfrm>
              <a:off x="0" y="8"/>
              <a:ext cx="213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1200" b="1">
                  <a:latin typeface="Times New Roman" panose="02020603050405020304" pitchFamily="18" charset="0"/>
                </a:rPr>
                <a:t>β</a:t>
              </a:r>
              <a:endParaRPr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31799" name="任意多边形 31798"/>
            <p:cNvSpPr/>
            <p:nvPr/>
          </p:nvSpPr>
          <p:spPr>
            <a:xfrm rot="3603825">
              <a:off x="-6" y="9"/>
              <a:ext cx="190" cy="172"/>
            </a:xfrm>
            <a:custGeom>
              <a:avLst/>
              <a:gdLst>
                <a:gd name="txL" fmla="*/ 0 w 20061"/>
                <a:gd name="txT" fmla="*/ 0 h 19569"/>
                <a:gd name="txR" fmla="*/ 20061 w 20061"/>
                <a:gd name="txB" fmla="*/ 19569 h 19569"/>
              </a:gdLst>
              <a:ahLst/>
              <a:cxnLst>
                <a:cxn ang="270">
                  <a:pos x="9143" y="0"/>
                </a:cxn>
                <a:cxn ang="0">
                  <a:pos x="20061" y="11561"/>
                </a:cxn>
                <a:cxn ang="180">
                  <a:pos x="0" y="19569"/>
                </a:cxn>
              </a:cxnLst>
              <a:rect l="txL" t="txT" r="txR" b="txB"/>
              <a:pathLst>
                <a:path w="20061" h="19569" fill="none">
                  <a:moveTo>
                    <a:pt x="9143" y="0"/>
                  </a:moveTo>
                  <a:arcTo wR="21600" hR="21600" stAng="-3897429" swAng="2591768"/>
                </a:path>
                <a:path w="20061" h="19569" stroke="0">
                  <a:moveTo>
                    <a:pt x="9143" y="0"/>
                  </a:moveTo>
                  <a:arcTo wR="21600" hR="21600" stAng="-3897429" swAng="2591768"/>
                  <a:lnTo>
                    <a:pt x="0" y="19569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headEnd type="triangle" w="sm" len="med"/>
              <a:tailEnd type="triangle" w="sm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1800" name="组合 31799"/>
          <p:cNvGrpSpPr/>
          <p:nvPr/>
        </p:nvGrpSpPr>
        <p:grpSpPr>
          <a:xfrm>
            <a:off x="2991803" y="4021138"/>
            <a:ext cx="363537" cy="304800"/>
            <a:chOff x="0" y="0"/>
            <a:chExt cx="229" cy="192"/>
          </a:xfrm>
        </p:grpSpPr>
        <p:sp>
          <p:nvSpPr>
            <p:cNvPr id="31801" name="文本框 31800"/>
            <p:cNvSpPr txBox="1"/>
            <p:nvPr/>
          </p:nvSpPr>
          <p:spPr>
            <a:xfrm>
              <a:off x="0" y="0"/>
              <a:ext cx="229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1400" b="1">
                  <a:latin typeface="Times New Roman" panose="02020603050405020304" pitchFamily="18" charset="0"/>
                </a:rPr>
                <a:t>γ</a:t>
              </a:r>
              <a:endParaRPr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31802" name="任意多边形 31801"/>
            <p:cNvSpPr/>
            <p:nvPr/>
          </p:nvSpPr>
          <p:spPr>
            <a:xfrm flipH="1">
              <a:off x="26" y="22"/>
              <a:ext cx="130" cy="102"/>
            </a:xfrm>
            <a:custGeom>
              <a:avLst/>
              <a:gdLst>
                <a:gd name="txL" fmla="*/ 0 w 22846"/>
                <a:gd name="txT" fmla="*/ 0 h 21600"/>
                <a:gd name="txR" fmla="*/ 22846 w 22846"/>
                <a:gd name="txB" fmla="*/ 21600 h 21600"/>
              </a:gdLst>
              <a:ahLst/>
              <a:cxnLst>
                <a:cxn ang="180">
                  <a:pos x="0" y="35"/>
                </a:cxn>
                <a:cxn ang="0">
                  <a:pos x="22846" y="21600"/>
                </a:cxn>
                <a:cxn ang="90">
                  <a:pos x="1246" y="21600"/>
                </a:cxn>
              </a:cxnLst>
              <a:rect l="txL" t="txT" r="txR" b="txB"/>
              <a:pathLst>
                <a:path w="22846" h="21600" fill="none">
                  <a:moveTo>
                    <a:pt x="0" y="35"/>
                  </a:moveTo>
                  <a:arcTo wR="21600" hR="21600" stAng="-5598408" swAng="5598408"/>
                </a:path>
                <a:path w="22846" h="21600" stroke="0">
                  <a:moveTo>
                    <a:pt x="0" y="35"/>
                  </a:moveTo>
                  <a:arcTo wR="21600" hR="21600" stAng="-5598408" swAng="5598408"/>
                  <a:lnTo>
                    <a:pt x="1246" y="2160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headEnd type="triangle" w="sm" len="med"/>
              <a:tailEnd type="triangle" w="sm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1803" name="组合 31802"/>
          <p:cNvGrpSpPr/>
          <p:nvPr/>
        </p:nvGrpSpPr>
        <p:grpSpPr>
          <a:xfrm>
            <a:off x="5441315" y="2868613"/>
            <a:ext cx="363538" cy="304800"/>
            <a:chOff x="0" y="0"/>
            <a:chExt cx="229" cy="192"/>
          </a:xfrm>
        </p:grpSpPr>
        <p:sp>
          <p:nvSpPr>
            <p:cNvPr id="31804" name="文本框 31803"/>
            <p:cNvSpPr txBox="1"/>
            <p:nvPr/>
          </p:nvSpPr>
          <p:spPr>
            <a:xfrm>
              <a:off x="0" y="0"/>
              <a:ext cx="229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sz="1400" b="1">
                  <a:latin typeface="Times New Roman" panose="02020603050405020304" pitchFamily="18" charset="0"/>
                </a:rPr>
                <a:t>α</a:t>
              </a:r>
              <a:endParaRPr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31805" name="任意多边形 31804"/>
            <p:cNvSpPr/>
            <p:nvPr/>
          </p:nvSpPr>
          <p:spPr>
            <a:xfrm>
              <a:off x="129" y="24"/>
              <a:ext cx="49" cy="122"/>
            </a:xfrm>
            <a:custGeom>
              <a:avLst/>
              <a:gdLst>
                <a:gd name="txL" fmla="*/ 0 w 21600"/>
                <a:gd name="txT" fmla="*/ 0 h 21600"/>
                <a:gd name="txR" fmla="*/ 21600 w 21600"/>
                <a:gd name="txB" fmla="*/ 21600 h 21600"/>
              </a:gdLst>
              <a:ahLst/>
              <a:cxnLst>
                <a:cxn ang="270">
                  <a:pos x="0" y="0"/>
                </a:cxn>
                <a:cxn ang="90">
                  <a:pos x="21600" y="21600"/>
                </a:cxn>
                <a:cxn ang="90">
                  <a:pos x="0" y="21600"/>
                </a:cxn>
              </a:cxnLst>
              <a:rect l="txL" t="txT" r="txR" b="txB"/>
              <a:pathLst>
                <a:path w="21600" h="21600" fill="none">
                  <a:moveTo>
                    <a:pt x="0" y="0"/>
                  </a:moveTo>
                  <a:arcTo wR="21600" hR="21600" stAng="-5400000" swAng="5400000"/>
                </a:path>
                <a:path w="21600" h="21600" stroke="0">
                  <a:moveTo>
                    <a:pt x="0" y="0"/>
                  </a:moveTo>
                  <a:arcTo wR="21600" hR="21600" stAng="-5400000" swAng="5400000"/>
                  <a:lnTo>
                    <a:pt x="0" y="2160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headEnd type="triangle" w="sm" len="med"/>
              <a:tailEnd type="triangle" w="sm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1806" name="组合 31805"/>
          <p:cNvGrpSpPr/>
          <p:nvPr/>
        </p:nvGrpSpPr>
        <p:grpSpPr>
          <a:xfrm>
            <a:off x="9267190" y="3033713"/>
            <a:ext cx="819150" cy="327025"/>
            <a:chOff x="0" y="0"/>
            <a:chExt cx="516" cy="206"/>
          </a:xfrm>
        </p:grpSpPr>
        <p:sp>
          <p:nvSpPr>
            <p:cNvPr id="31807" name="文本框 31806"/>
            <p:cNvSpPr txBox="1"/>
            <p:nvPr/>
          </p:nvSpPr>
          <p:spPr>
            <a:xfrm>
              <a:off x="0" y="14"/>
              <a:ext cx="229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1400" b="1">
                  <a:latin typeface="Times New Roman" panose="02020603050405020304" pitchFamily="18" charset="0"/>
                </a:rPr>
                <a:t>α</a:t>
              </a:r>
              <a:endParaRPr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31808" name="任意多边形 31807"/>
            <p:cNvSpPr/>
            <p:nvPr/>
          </p:nvSpPr>
          <p:spPr>
            <a:xfrm flipH="1">
              <a:off x="49" y="0"/>
              <a:ext cx="467" cy="194"/>
            </a:xfrm>
            <a:custGeom>
              <a:avLst/>
              <a:gdLst>
                <a:gd name="txL" fmla="*/ 0 w 21577"/>
                <a:gd name="txT" fmla="*/ 0 h 7903"/>
                <a:gd name="txR" fmla="*/ 21577 w 21577"/>
                <a:gd name="txB" fmla="*/ 7903 h 7903"/>
              </a:gdLst>
              <a:ahLst/>
              <a:cxnLst>
                <a:cxn ang="270">
                  <a:pos x="20102" y="0"/>
                </a:cxn>
                <a:cxn ang="0">
                  <a:pos x="21576" y="6904"/>
                </a:cxn>
                <a:cxn ang="180">
                  <a:pos x="0" y="7903"/>
                </a:cxn>
              </a:cxnLst>
              <a:rect l="txL" t="txT" r="txR" b="txB"/>
              <a:pathLst>
                <a:path w="21577" h="7903" fill="none">
                  <a:moveTo>
                    <a:pt x="20102" y="0"/>
                  </a:moveTo>
                  <a:arcTo wR="21600" hR="21600" stAng="-1287721" swAng="1128662"/>
                </a:path>
                <a:path w="21577" h="7903" stroke="0">
                  <a:moveTo>
                    <a:pt x="20102" y="0"/>
                  </a:moveTo>
                  <a:arcTo wR="21600" hR="21600" stAng="-1287721" swAng="1128662"/>
                  <a:lnTo>
                    <a:pt x="0" y="7903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headEnd type="triangle" w="sm" len="med"/>
              <a:tailEnd type="triangle" w="sm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1809" name="组合 31808"/>
          <p:cNvGrpSpPr/>
          <p:nvPr/>
        </p:nvGrpSpPr>
        <p:grpSpPr>
          <a:xfrm>
            <a:off x="9033828" y="2678113"/>
            <a:ext cx="338137" cy="407987"/>
            <a:chOff x="0" y="0"/>
            <a:chExt cx="213" cy="257"/>
          </a:xfrm>
        </p:grpSpPr>
        <p:sp>
          <p:nvSpPr>
            <p:cNvPr id="31810" name="文本框 31809"/>
            <p:cNvSpPr txBox="1"/>
            <p:nvPr/>
          </p:nvSpPr>
          <p:spPr>
            <a:xfrm>
              <a:off x="0" y="84"/>
              <a:ext cx="213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1200" b="1">
                  <a:latin typeface="Times New Roman" panose="02020603050405020304" pitchFamily="18" charset="0"/>
                </a:rPr>
                <a:t>β</a:t>
              </a:r>
              <a:endParaRPr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31811" name="任意多边形 31810"/>
            <p:cNvSpPr/>
            <p:nvPr/>
          </p:nvSpPr>
          <p:spPr>
            <a:xfrm rot="4679888">
              <a:off x="-19" y="38"/>
              <a:ext cx="235" cy="158"/>
            </a:xfrm>
            <a:custGeom>
              <a:avLst/>
              <a:gdLst>
                <a:gd name="txL" fmla="*/ 0 w 21578"/>
                <a:gd name="txT" fmla="*/ 0 h 12812"/>
                <a:gd name="txR" fmla="*/ 21578 w 21578"/>
                <a:gd name="txB" fmla="*/ 12812 h 12812"/>
              </a:gdLst>
              <a:ahLst/>
              <a:cxnLst>
                <a:cxn ang="270">
                  <a:pos x="17389" y="0"/>
                </a:cxn>
                <a:cxn ang="0">
                  <a:pos x="21578" y="11840"/>
                </a:cxn>
                <a:cxn ang="180">
                  <a:pos x="0" y="12812"/>
                </a:cxn>
              </a:cxnLst>
              <a:rect l="txL" t="txT" r="txR" b="txB"/>
              <a:pathLst>
                <a:path w="21578" h="12812" fill="none">
                  <a:moveTo>
                    <a:pt x="17389" y="0"/>
                  </a:moveTo>
                  <a:arcTo wR="21600" hR="21600" stAng="-2182940" swAng="2028188"/>
                </a:path>
                <a:path w="21578" h="12812" stroke="0">
                  <a:moveTo>
                    <a:pt x="17389" y="0"/>
                  </a:moveTo>
                  <a:arcTo wR="21600" hR="21600" stAng="-2182940" swAng="2028188"/>
                  <a:lnTo>
                    <a:pt x="0" y="12812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headEnd type="triangle" w="sm" len="med"/>
              <a:tailEnd type="triangle" w="sm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1812" name="组合 31811"/>
          <p:cNvGrpSpPr/>
          <p:nvPr/>
        </p:nvGrpSpPr>
        <p:grpSpPr>
          <a:xfrm>
            <a:off x="2109153" y="2420938"/>
            <a:ext cx="2835275" cy="2270125"/>
            <a:chOff x="0" y="0"/>
            <a:chExt cx="1592" cy="1274"/>
          </a:xfrm>
        </p:grpSpPr>
        <p:sp>
          <p:nvSpPr>
            <p:cNvPr id="31813" name="文本框 31812"/>
            <p:cNvSpPr txBox="1"/>
            <p:nvPr/>
          </p:nvSpPr>
          <p:spPr>
            <a:xfrm>
              <a:off x="550" y="1017"/>
              <a:ext cx="189" cy="25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31814" name="文本框 31813"/>
            <p:cNvSpPr txBox="1"/>
            <p:nvPr/>
          </p:nvSpPr>
          <p:spPr>
            <a:xfrm>
              <a:off x="970" y="4"/>
              <a:ext cx="259" cy="25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a</a:t>
              </a:r>
              <a:r>
                <a:rPr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</a:t>
              </a:r>
            </a:p>
          </p:txBody>
        </p:sp>
        <p:sp>
          <p:nvSpPr>
            <p:cNvPr id="31815" name="文本框 31814"/>
            <p:cNvSpPr txBox="1"/>
            <p:nvPr/>
          </p:nvSpPr>
          <p:spPr>
            <a:xfrm>
              <a:off x="0" y="625"/>
              <a:ext cx="189" cy="25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31816" name="文本框 31815"/>
            <p:cNvSpPr txBox="1"/>
            <p:nvPr/>
          </p:nvSpPr>
          <p:spPr>
            <a:xfrm>
              <a:off x="39" y="22"/>
              <a:ext cx="232" cy="25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  <a:sym typeface="EuroRoman" panose="00000400000000000000" pitchFamily="2" charset="2"/>
                </a:rPr>
                <a:t>a</a:t>
              </a:r>
              <a:r>
                <a:rPr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</a:t>
              </a:r>
              <a:endParaRPr lang="en-US" altLang="zh-CN" sz="2400" b="1" i="1">
                <a:latin typeface="Times New Roman" panose="02020603050405020304" pitchFamily="18" charset="0"/>
                <a:sym typeface="UniversalMath1 BT" panose="05050102010205020602" pitchFamily="18" charset="2"/>
              </a:endParaRPr>
            </a:p>
          </p:txBody>
        </p:sp>
        <p:sp>
          <p:nvSpPr>
            <p:cNvPr id="31817" name="文本框 31816"/>
            <p:cNvSpPr txBox="1"/>
            <p:nvPr/>
          </p:nvSpPr>
          <p:spPr>
            <a:xfrm>
              <a:off x="532" y="0"/>
              <a:ext cx="232" cy="25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b</a:t>
              </a:r>
              <a:r>
                <a:rPr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</a:t>
              </a:r>
            </a:p>
          </p:txBody>
        </p:sp>
        <p:sp>
          <p:nvSpPr>
            <p:cNvPr id="31818" name="文本框 31817"/>
            <p:cNvSpPr txBox="1"/>
            <p:nvPr/>
          </p:nvSpPr>
          <p:spPr>
            <a:xfrm>
              <a:off x="1235" y="29"/>
              <a:ext cx="260" cy="25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b</a:t>
              </a:r>
              <a:r>
                <a:rPr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</a:t>
              </a:r>
            </a:p>
          </p:txBody>
        </p:sp>
        <p:sp>
          <p:nvSpPr>
            <p:cNvPr id="31819" name="未知"/>
            <p:cNvSpPr/>
            <p:nvPr/>
          </p:nvSpPr>
          <p:spPr>
            <a:xfrm>
              <a:off x="166" y="830"/>
              <a:ext cx="851" cy="2"/>
            </a:xfrm>
            <a:custGeom>
              <a:avLst/>
              <a:gdLst/>
              <a:ahLst/>
              <a:cxnLst/>
              <a:rect l="0" t="0" r="0" b="0"/>
              <a:pathLst>
                <a:path w="851" h="2">
                  <a:moveTo>
                    <a:pt x="0" y="2"/>
                  </a:moveTo>
                  <a:lnTo>
                    <a:pt x="851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20" name="未知"/>
            <p:cNvSpPr/>
            <p:nvPr/>
          </p:nvSpPr>
          <p:spPr>
            <a:xfrm>
              <a:off x="166" y="822"/>
              <a:ext cx="467" cy="232"/>
            </a:xfrm>
            <a:custGeom>
              <a:avLst/>
              <a:gdLst/>
              <a:ahLst/>
              <a:cxnLst/>
              <a:rect l="0" t="0" r="0" b="0"/>
              <a:pathLst>
                <a:path w="467" h="232">
                  <a:moveTo>
                    <a:pt x="0" y="0"/>
                  </a:moveTo>
                  <a:lnTo>
                    <a:pt x="467" y="232"/>
                  </a:lnTo>
                </a:path>
              </a:pathLst>
            </a:custGeom>
            <a:noFill/>
            <a:ln w="38100" cap="flat" cmpd="sng">
              <a:solidFill>
                <a:srgbClr val="003399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21" name="未知"/>
            <p:cNvSpPr/>
            <p:nvPr/>
          </p:nvSpPr>
          <p:spPr>
            <a:xfrm>
              <a:off x="1010" y="236"/>
              <a:ext cx="238" cy="1"/>
            </a:xfrm>
            <a:custGeom>
              <a:avLst/>
              <a:gdLst/>
              <a:ahLst/>
              <a:cxnLst/>
              <a:rect l="0" t="0" r="0" b="0"/>
              <a:pathLst>
                <a:path w="238" h="1">
                  <a:moveTo>
                    <a:pt x="0" y="0"/>
                  </a:moveTo>
                  <a:lnTo>
                    <a:pt x="238" y="0"/>
                  </a:lnTo>
                </a:path>
              </a:pathLst>
            </a:custGeom>
            <a:noFill/>
            <a:ln w="38100" cap="flat" cmpd="sng">
              <a:solidFill>
                <a:srgbClr val="003399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22" name="直接连接符 31821"/>
            <p:cNvSpPr/>
            <p:nvPr/>
          </p:nvSpPr>
          <p:spPr>
            <a:xfrm>
              <a:off x="619" y="236"/>
              <a:ext cx="454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23" name="未知"/>
            <p:cNvSpPr/>
            <p:nvPr/>
          </p:nvSpPr>
          <p:spPr>
            <a:xfrm>
              <a:off x="632" y="1058"/>
              <a:ext cx="607" cy="1"/>
            </a:xfrm>
            <a:custGeom>
              <a:avLst/>
              <a:gdLst/>
              <a:ahLst/>
              <a:cxnLst/>
              <a:rect l="0" t="0" r="0" b="0"/>
              <a:pathLst>
                <a:path w="607" h="1">
                  <a:moveTo>
                    <a:pt x="0" y="0"/>
                  </a:moveTo>
                  <a:lnTo>
                    <a:pt x="607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24" name="直接连接符 31823"/>
            <p:cNvSpPr/>
            <p:nvPr/>
          </p:nvSpPr>
          <p:spPr>
            <a:xfrm>
              <a:off x="67" y="639"/>
              <a:ext cx="1525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25" name="未知"/>
            <p:cNvSpPr/>
            <p:nvPr/>
          </p:nvSpPr>
          <p:spPr>
            <a:xfrm>
              <a:off x="173" y="234"/>
              <a:ext cx="1" cy="611"/>
            </a:xfrm>
            <a:custGeom>
              <a:avLst/>
              <a:gdLst/>
              <a:ahLst/>
              <a:cxnLst/>
              <a:rect l="0" t="0" r="0" b="0"/>
              <a:pathLst>
                <a:path w="1" h="611">
                  <a:moveTo>
                    <a:pt x="0" y="0"/>
                  </a:moveTo>
                  <a:lnTo>
                    <a:pt x="0" y="611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26" name="直接连接符 31825"/>
            <p:cNvSpPr/>
            <p:nvPr/>
          </p:nvSpPr>
          <p:spPr>
            <a:xfrm>
              <a:off x="828" y="55"/>
              <a:ext cx="0" cy="1103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27" name="直接连接符 31826"/>
            <p:cNvSpPr/>
            <p:nvPr/>
          </p:nvSpPr>
          <p:spPr>
            <a:xfrm>
              <a:off x="168" y="236"/>
              <a:ext cx="465" cy="0"/>
            </a:xfrm>
            <a:prstGeom prst="line">
              <a:avLst/>
            </a:prstGeom>
            <a:ln w="38100" cap="flat" cmpd="sng">
              <a:solidFill>
                <a:srgbClr val="00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28" name="直接连接符 31827"/>
            <p:cNvSpPr/>
            <p:nvPr/>
          </p:nvSpPr>
          <p:spPr>
            <a:xfrm>
              <a:off x="633" y="236"/>
              <a:ext cx="0" cy="83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29" name="未知"/>
            <p:cNvSpPr/>
            <p:nvPr/>
          </p:nvSpPr>
          <p:spPr>
            <a:xfrm>
              <a:off x="1239" y="233"/>
              <a:ext cx="1" cy="819"/>
            </a:xfrm>
            <a:custGeom>
              <a:avLst/>
              <a:gdLst/>
              <a:ahLst/>
              <a:cxnLst/>
              <a:rect l="0" t="0" r="0" b="0"/>
              <a:pathLst>
                <a:path w="1" h="819">
                  <a:moveTo>
                    <a:pt x="0" y="819"/>
                  </a:moveTo>
                  <a:lnTo>
                    <a:pt x="0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30" name="直接连接符 31829"/>
            <p:cNvSpPr/>
            <p:nvPr/>
          </p:nvSpPr>
          <p:spPr>
            <a:xfrm flipV="1">
              <a:off x="1014" y="233"/>
              <a:ext cx="0" cy="59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31" name="直接连接符 31830"/>
            <p:cNvSpPr/>
            <p:nvPr/>
          </p:nvSpPr>
          <p:spPr>
            <a:xfrm>
              <a:off x="828" y="639"/>
              <a:ext cx="479" cy="479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1833" name="文本框 31832"/>
          <p:cNvSpPr txBox="1"/>
          <p:nvPr/>
        </p:nvSpPr>
        <p:spPr>
          <a:xfrm>
            <a:off x="5148580" y="1228408"/>
            <a:ext cx="2595880" cy="30670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/>
          <a:p>
            <a:r>
              <a:rPr lang="zh-CN" altLang="en-US" sz="1400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正平线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zh-CN" altLang="en-US" sz="1400" i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∥</a:t>
            </a:r>
            <a:r>
              <a:rPr lang="zh-CN" altLang="en-US" sz="1400" i="1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Ｖ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面）</a:t>
            </a:r>
          </a:p>
        </p:txBody>
      </p:sp>
      <p:sp>
        <p:nvSpPr>
          <p:cNvPr id="31834" name="文本框 31833"/>
          <p:cNvSpPr txBox="1"/>
          <p:nvPr/>
        </p:nvSpPr>
        <p:spPr>
          <a:xfrm>
            <a:off x="1544320" y="1242855"/>
            <a:ext cx="3705225" cy="30670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algn="ctr"/>
            <a:r>
              <a:rPr lang="zh-CN" altLang="en-US" sz="140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水平线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zh-CN" altLang="en-US" sz="1400" i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∥</a:t>
            </a:r>
            <a:r>
              <a:rPr lang="zh-CN" altLang="en-US" sz="1400" i="1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Ｈ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面）</a:t>
            </a:r>
          </a:p>
        </p:txBody>
      </p:sp>
      <p:sp>
        <p:nvSpPr>
          <p:cNvPr id="31837" name="椭圆形标注 31836"/>
          <p:cNvSpPr/>
          <p:nvPr/>
        </p:nvSpPr>
        <p:spPr>
          <a:xfrm>
            <a:off x="4577080" y="2163445"/>
            <a:ext cx="1144270" cy="518160"/>
          </a:xfrm>
          <a:prstGeom prst="wedgeEllipseCallout">
            <a:avLst>
              <a:gd name="adj1" fmla="val 47218"/>
              <a:gd name="adj2" fmla="val 89292"/>
            </a:avLst>
          </a:prstGeom>
          <a:gradFill rotWithShape="1">
            <a:gsLst>
              <a:gs pos="0">
                <a:srgbClr val="FFCC99">
                  <a:alpha val="43999"/>
                </a:srgbClr>
              </a:gs>
              <a:gs pos="100000">
                <a:srgbClr val="FFCC99">
                  <a:gamma/>
                  <a:tint val="92157"/>
                  <a:invGamma/>
                  <a:alpha val="84000"/>
                </a:srgbClr>
              </a:gs>
            </a:gsLst>
            <a:lin ang="5400000" scaled="1"/>
            <a:tileRect/>
          </a:gradFill>
          <a:ln w="9525">
            <a:noFill/>
          </a:ln>
        </p:spPr>
        <p:txBody>
          <a:bodyPr/>
          <a:lstStyle/>
          <a:p>
            <a:pPr algn="ctr"/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实长</a:t>
            </a:r>
          </a:p>
        </p:txBody>
      </p:sp>
      <p:sp>
        <p:nvSpPr>
          <p:cNvPr id="31838" name="椭圆形标注 31837"/>
          <p:cNvSpPr/>
          <p:nvPr/>
        </p:nvSpPr>
        <p:spPr>
          <a:xfrm>
            <a:off x="9409430" y="2339975"/>
            <a:ext cx="1181735" cy="501650"/>
          </a:xfrm>
          <a:prstGeom prst="wedgeEllipseCallout">
            <a:avLst>
              <a:gd name="adj1" fmla="val -47102"/>
              <a:gd name="adj2" fmla="val 97463"/>
            </a:avLst>
          </a:prstGeom>
          <a:gradFill rotWithShape="1">
            <a:gsLst>
              <a:gs pos="0">
                <a:srgbClr val="FFCC99">
                  <a:alpha val="43999"/>
                </a:srgbClr>
              </a:gs>
              <a:gs pos="100000">
                <a:srgbClr val="FFCC99">
                  <a:gamma/>
                  <a:tint val="92157"/>
                  <a:invGamma/>
                  <a:alpha val="84000"/>
                </a:srgbClr>
              </a:gs>
            </a:gsLst>
            <a:lin ang="5400000" scaled="1"/>
            <a:tileRect/>
          </a:gradFill>
          <a:ln w="9525">
            <a:noFill/>
          </a:ln>
        </p:spPr>
        <p:txBody>
          <a:bodyPr/>
          <a:lstStyle/>
          <a:p>
            <a:pPr algn="ctr"/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实长</a:t>
            </a:r>
          </a:p>
        </p:txBody>
      </p:sp>
      <p:sp>
        <p:nvSpPr>
          <p:cNvPr id="31844" name="矩形 31843"/>
          <p:cNvSpPr/>
          <p:nvPr/>
        </p:nvSpPr>
        <p:spPr>
          <a:xfrm>
            <a:off x="3507105" y="6028055"/>
            <a:ext cx="5760085" cy="306705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r>
              <a:rPr lang="zh-CN" altLang="en-US" sz="1400" b="1" dirty="0">
                <a:effectLst>
                  <a:outerShdw blurRad="38100" dist="38100" dir="2700000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规律：</a:t>
            </a:r>
            <a:r>
              <a:rPr lang="zh-CN" altLang="en-US" sz="1400" b="1" u="sng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一斜两直线，定是平行线；斜线在哪面，就是什么线</a:t>
            </a:r>
          </a:p>
        </p:txBody>
      </p:sp>
      <p:sp>
        <p:nvSpPr>
          <p:cNvPr id="31835" name="文本框 31834"/>
          <p:cNvSpPr txBox="1"/>
          <p:nvPr/>
        </p:nvSpPr>
        <p:spPr>
          <a:xfrm>
            <a:off x="7923530" y="1229202"/>
            <a:ext cx="3328988" cy="30670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zh-CN" altLang="en-US" sz="14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侧平线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zh-CN" altLang="en-US" sz="1400" i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∥</a:t>
            </a:r>
            <a:r>
              <a:rPr lang="zh-CN" altLang="en-US" sz="1400" i="1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Ｗ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面）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8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8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17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17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18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18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17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17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18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18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17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17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17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17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18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18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18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18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31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75" fill="hold"/>
                                        <p:tgtEl>
                                          <p:spTgt spid="317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5" fill="hold"/>
                                        <p:tgtEl>
                                          <p:spTgt spid="317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75" fill="hold"/>
                                        <p:tgtEl>
                                          <p:spTgt spid="317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75" fill="hold"/>
                                        <p:tgtEl>
                                          <p:spTgt spid="317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7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17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17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17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17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18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18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87" grpId="0"/>
      <p:bldP spid="31788" grpId="1"/>
      <p:bldP spid="31795" grpId="0"/>
      <p:bldP spid="31837" grpId="0" bldLvl="0" animBg="1"/>
      <p:bldP spid="31838" grpId="0" bldLvl="0" animBg="1"/>
      <p:bldP spid="3184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文本框 32770"/>
          <p:cNvSpPr txBox="1"/>
          <p:nvPr/>
        </p:nvSpPr>
        <p:spPr>
          <a:xfrm>
            <a:off x="748030" y="538004"/>
            <a:ext cx="6048375" cy="36830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 投影面垂直线</a:t>
            </a:r>
          </a:p>
        </p:txBody>
      </p:sp>
      <p:sp>
        <p:nvSpPr>
          <p:cNvPr id="32775" name="文本框 32774"/>
          <p:cNvSpPr txBox="1"/>
          <p:nvPr/>
        </p:nvSpPr>
        <p:spPr>
          <a:xfrm>
            <a:off x="1842770" y="5113973"/>
            <a:ext cx="8435975" cy="30670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/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② 另外两个投影，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反映线段</a:t>
            </a:r>
            <a:r>
              <a:rPr lang="zh-CN" altLang="en-US" sz="1400">
                <a:solidFill>
                  <a:srgbClr val="FF33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实长</a:t>
            </a:r>
            <a:r>
              <a:rPr lang="zh-CN" altLang="en-US" sz="140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且</a:t>
            </a:r>
            <a:r>
              <a:rPr lang="zh-CN" altLang="en-US" sz="1400">
                <a:solidFill>
                  <a:srgbClr val="FF33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垂直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于</a:t>
            </a:r>
            <a:r>
              <a:rPr lang="zh-CN" altLang="en-US" sz="1400">
                <a:solidFill>
                  <a:srgbClr val="FF33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相应的</a:t>
            </a:r>
            <a:r>
              <a:rPr lang="zh-CN" altLang="en-US" sz="1400" dirty="0">
                <a:solidFill>
                  <a:srgbClr val="FF33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投影轴。</a:t>
            </a:r>
            <a:endParaRPr lang="zh-CN" altLang="en-US" sz="140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2776" name="文本框 32775"/>
          <p:cNvSpPr txBox="1"/>
          <p:nvPr/>
        </p:nvSpPr>
        <p:spPr>
          <a:xfrm>
            <a:off x="1835785" y="4675188"/>
            <a:ext cx="5561013" cy="30670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① 在其</a:t>
            </a:r>
            <a:r>
              <a:rPr lang="zh-CN" altLang="en-US" sz="1400">
                <a:solidFill>
                  <a:srgbClr val="00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垂直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的投 影面上，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投影有</a:t>
            </a:r>
            <a:r>
              <a:rPr lang="zh-CN" altLang="en-US" sz="1400" dirty="0">
                <a:solidFill>
                  <a:srgbClr val="FF33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积聚性；</a:t>
            </a:r>
          </a:p>
        </p:txBody>
      </p:sp>
      <p:sp>
        <p:nvSpPr>
          <p:cNvPr id="32778" name="文本框 32777"/>
          <p:cNvSpPr txBox="1"/>
          <p:nvPr/>
        </p:nvSpPr>
        <p:spPr>
          <a:xfrm>
            <a:off x="1714183" y="4196874"/>
            <a:ext cx="1152525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投影特性</a:t>
            </a:r>
            <a:r>
              <a:rPr lang="en-US" altLang="zh-CN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</a:t>
            </a:r>
          </a:p>
        </p:txBody>
      </p:sp>
      <p:grpSp>
        <p:nvGrpSpPr>
          <p:cNvPr id="32779" name="组合 32778"/>
          <p:cNvGrpSpPr/>
          <p:nvPr/>
        </p:nvGrpSpPr>
        <p:grpSpPr>
          <a:xfrm>
            <a:off x="4725415" y="1649929"/>
            <a:ext cx="2528508" cy="2505548"/>
            <a:chOff x="27" y="13"/>
            <a:chExt cx="1256" cy="1132"/>
          </a:xfrm>
        </p:grpSpPr>
        <p:grpSp>
          <p:nvGrpSpPr>
            <p:cNvPr id="32780" name="组合 32779"/>
            <p:cNvGrpSpPr/>
            <p:nvPr/>
          </p:nvGrpSpPr>
          <p:grpSpPr>
            <a:xfrm>
              <a:off x="97" y="119"/>
              <a:ext cx="1186" cy="1026"/>
              <a:chOff x="0" y="0"/>
              <a:chExt cx="1186" cy="1026"/>
            </a:xfrm>
          </p:grpSpPr>
          <p:sp>
            <p:nvSpPr>
              <p:cNvPr id="32781" name="未知"/>
              <p:cNvSpPr/>
              <p:nvPr/>
            </p:nvSpPr>
            <p:spPr>
              <a:xfrm>
                <a:off x="161" y="920"/>
                <a:ext cx="826" cy="1"/>
              </a:xfrm>
              <a:custGeom>
                <a:avLst/>
                <a:gdLst/>
                <a:ahLst/>
                <a:cxnLst/>
                <a:rect l="0" t="0" r="0" b="0"/>
                <a:pathLst>
                  <a:path w="826" h="1">
                    <a:moveTo>
                      <a:pt x="0" y="0"/>
                    </a:moveTo>
                    <a:lnTo>
                      <a:pt x="826" y="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sz="2000"/>
              </a:p>
            </p:txBody>
          </p:sp>
          <p:sp>
            <p:nvSpPr>
              <p:cNvPr id="32782" name="未知"/>
              <p:cNvSpPr/>
              <p:nvPr/>
            </p:nvSpPr>
            <p:spPr>
              <a:xfrm>
                <a:off x="152" y="586"/>
                <a:ext cx="507" cy="2"/>
              </a:xfrm>
              <a:custGeom>
                <a:avLst/>
                <a:gdLst/>
                <a:ahLst/>
                <a:cxnLst/>
                <a:rect l="0" t="0" r="0" b="0"/>
                <a:pathLst>
                  <a:path w="507" h="2">
                    <a:moveTo>
                      <a:pt x="0" y="2"/>
                    </a:moveTo>
                    <a:lnTo>
                      <a:pt x="507" y="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sz="2000"/>
              </a:p>
            </p:txBody>
          </p:sp>
          <p:sp>
            <p:nvSpPr>
              <p:cNvPr id="32783" name="未知"/>
              <p:cNvSpPr/>
              <p:nvPr/>
            </p:nvSpPr>
            <p:spPr>
              <a:xfrm>
                <a:off x="0" y="452"/>
                <a:ext cx="1186" cy="1"/>
              </a:xfrm>
              <a:custGeom>
                <a:avLst/>
                <a:gdLst/>
                <a:ahLst/>
                <a:cxnLst/>
                <a:rect l="0" t="0" r="0" b="0"/>
                <a:pathLst>
                  <a:path w="1186" h="1">
                    <a:moveTo>
                      <a:pt x="0" y="0"/>
                    </a:moveTo>
                    <a:lnTo>
                      <a:pt x="1186" y="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sz="2000"/>
              </a:p>
            </p:txBody>
          </p:sp>
          <p:sp>
            <p:nvSpPr>
              <p:cNvPr id="32784" name="未知"/>
              <p:cNvSpPr/>
              <p:nvPr/>
            </p:nvSpPr>
            <p:spPr>
              <a:xfrm>
                <a:off x="521" y="0"/>
                <a:ext cx="1" cy="1026"/>
              </a:xfrm>
              <a:custGeom>
                <a:avLst/>
                <a:gdLst/>
                <a:ahLst/>
                <a:cxnLst/>
                <a:rect l="0" t="0" r="0" b="0"/>
                <a:pathLst>
                  <a:path w="1" h="1026">
                    <a:moveTo>
                      <a:pt x="1" y="0"/>
                    </a:moveTo>
                    <a:lnTo>
                      <a:pt x="0" y="1026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sz="2000"/>
              </a:p>
            </p:txBody>
          </p:sp>
          <p:sp>
            <p:nvSpPr>
              <p:cNvPr id="32785" name="未知"/>
              <p:cNvSpPr/>
              <p:nvPr/>
            </p:nvSpPr>
            <p:spPr>
              <a:xfrm>
                <a:off x="157" y="590"/>
                <a:ext cx="1" cy="338"/>
              </a:xfrm>
              <a:custGeom>
                <a:avLst/>
                <a:gdLst/>
                <a:ahLst/>
                <a:cxnLst/>
                <a:rect l="0" t="0" r="0" b="0"/>
                <a:pathLst>
                  <a:path w="1" h="338">
                    <a:moveTo>
                      <a:pt x="0" y="0"/>
                    </a:moveTo>
                    <a:lnTo>
                      <a:pt x="1" y="338"/>
                    </a:lnTo>
                  </a:path>
                </a:pathLst>
              </a:custGeom>
              <a:noFill/>
              <a:ln w="38100" cap="flat" cmpd="sng">
                <a:solidFill>
                  <a:srgbClr val="FF33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sz="2000"/>
              </a:p>
            </p:txBody>
          </p:sp>
          <p:sp>
            <p:nvSpPr>
              <p:cNvPr id="32786" name="未知"/>
              <p:cNvSpPr/>
              <p:nvPr/>
            </p:nvSpPr>
            <p:spPr>
              <a:xfrm>
                <a:off x="985" y="92"/>
                <a:ext cx="1" cy="833"/>
              </a:xfrm>
              <a:custGeom>
                <a:avLst/>
                <a:gdLst/>
                <a:ahLst/>
                <a:cxnLst/>
                <a:rect l="0" t="0" r="0" b="0"/>
                <a:pathLst>
                  <a:path w="1" h="833">
                    <a:moveTo>
                      <a:pt x="0" y="833"/>
                    </a:moveTo>
                    <a:lnTo>
                      <a:pt x="0" y="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sz="2000"/>
              </a:p>
            </p:txBody>
          </p:sp>
          <p:sp>
            <p:nvSpPr>
              <p:cNvPr id="32787" name="未知"/>
              <p:cNvSpPr/>
              <p:nvPr/>
            </p:nvSpPr>
            <p:spPr>
              <a:xfrm>
                <a:off x="656" y="92"/>
                <a:ext cx="1" cy="494"/>
              </a:xfrm>
              <a:custGeom>
                <a:avLst/>
                <a:gdLst/>
                <a:ahLst/>
                <a:cxnLst/>
                <a:rect l="0" t="0" r="0" b="0"/>
                <a:pathLst>
                  <a:path w="1" h="494">
                    <a:moveTo>
                      <a:pt x="0" y="494"/>
                    </a:moveTo>
                    <a:lnTo>
                      <a:pt x="0" y="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sz="2000"/>
              </a:p>
            </p:txBody>
          </p:sp>
          <p:sp>
            <p:nvSpPr>
              <p:cNvPr id="32788" name="直接连接符 32787"/>
              <p:cNvSpPr/>
              <p:nvPr/>
            </p:nvSpPr>
            <p:spPr>
              <a:xfrm flipH="1">
                <a:off x="157" y="105"/>
                <a:ext cx="532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789" name="直接连接符 32788"/>
              <p:cNvSpPr/>
              <p:nvPr/>
            </p:nvSpPr>
            <p:spPr>
              <a:xfrm flipV="1">
                <a:off x="157" y="105"/>
                <a:ext cx="0" cy="48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790" name="文本框 32789"/>
              <p:cNvSpPr txBox="1"/>
              <p:nvPr/>
            </p:nvSpPr>
            <p:spPr>
              <a:xfrm>
                <a:off x="75" y="16"/>
                <a:ext cx="173" cy="1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zh-CN" altLang="en-US" sz="200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●</a:t>
                </a:r>
              </a:p>
            </p:txBody>
          </p:sp>
          <p:sp>
            <p:nvSpPr>
              <p:cNvPr id="32791" name="未知"/>
              <p:cNvSpPr/>
              <p:nvPr/>
            </p:nvSpPr>
            <p:spPr>
              <a:xfrm>
                <a:off x="520" y="448"/>
                <a:ext cx="500" cy="500"/>
              </a:xfrm>
              <a:custGeom>
                <a:avLst/>
                <a:gdLst/>
                <a:ahLst/>
                <a:cxnLst/>
                <a:rect l="0" t="0" r="0" b="0"/>
                <a:pathLst>
                  <a:path w="500" h="500">
                    <a:moveTo>
                      <a:pt x="0" y="0"/>
                    </a:moveTo>
                    <a:lnTo>
                      <a:pt x="500" y="500"/>
                    </a:lnTo>
                  </a:path>
                </a:pathLst>
              </a:custGeom>
              <a:noFill/>
              <a:ln w="127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sz="2000"/>
              </a:p>
            </p:txBody>
          </p:sp>
          <p:sp>
            <p:nvSpPr>
              <p:cNvPr id="32792" name="未知"/>
              <p:cNvSpPr/>
              <p:nvPr/>
            </p:nvSpPr>
            <p:spPr>
              <a:xfrm>
                <a:off x="654" y="101"/>
                <a:ext cx="338" cy="2"/>
              </a:xfrm>
              <a:custGeom>
                <a:avLst/>
                <a:gdLst/>
                <a:ahLst/>
                <a:cxnLst/>
                <a:rect l="0" t="0" r="0" b="0"/>
                <a:pathLst>
                  <a:path w="338" h="2">
                    <a:moveTo>
                      <a:pt x="0" y="0"/>
                    </a:moveTo>
                    <a:lnTo>
                      <a:pt x="338" y="2"/>
                    </a:lnTo>
                  </a:path>
                </a:pathLst>
              </a:custGeom>
              <a:noFill/>
              <a:ln w="38100" cap="flat" cmpd="sng">
                <a:solidFill>
                  <a:srgbClr val="FF33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sz="2000"/>
              </a:p>
            </p:txBody>
          </p:sp>
        </p:grpSp>
        <p:sp>
          <p:nvSpPr>
            <p:cNvPr id="32793" name="文本框 32792"/>
            <p:cNvSpPr txBox="1"/>
            <p:nvPr/>
          </p:nvSpPr>
          <p:spPr>
            <a:xfrm>
              <a:off x="27" y="13"/>
              <a:ext cx="357" cy="1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000" b="1" i="1">
                  <a:latin typeface="Times New Roman" panose="02020603050405020304" pitchFamily="18" charset="0"/>
                </a:rPr>
                <a:t>c</a:t>
              </a:r>
              <a:r>
                <a:rPr lang="en-US" altLang="zh-CN" sz="20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</a:t>
              </a:r>
              <a:r>
                <a:rPr lang="en-US" altLang="zh-CN" sz="2000" b="1" i="1">
                  <a:latin typeface="Times New Roman" panose="02020603050405020304" pitchFamily="18" charset="0"/>
                  <a:sym typeface="CommercialPi BT" panose="05020102010206080802" pitchFamily="18" charset="2"/>
                </a:rPr>
                <a:t>(</a:t>
              </a:r>
              <a:r>
                <a:rPr lang="en-US" altLang="zh-CN" sz="2000" b="1" i="1">
                  <a:latin typeface="Times New Roman" panose="02020603050405020304" pitchFamily="18" charset="0"/>
                </a:rPr>
                <a:t>d</a:t>
              </a:r>
              <a:r>
                <a:rPr lang="en-US" altLang="zh-CN" sz="20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</a:t>
              </a:r>
              <a:r>
                <a:rPr lang="en-US" altLang="zh-CN" sz="2000" b="1" i="1">
                  <a:latin typeface="Times New Roman" panose="02020603050405020304" pitchFamily="18" charset="0"/>
                  <a:sym typeface="CommercialPi BT" panose="05020102010206080802" pitchFamily="18" charset="2"/>
                </a:rPr>
                <a:t>)</a:t>
              </a:r>
            </a:p>
          </p:txBody>
        </p:sp>
        <p:sp>
          <p:nvSpPr>
            <p:cNvPr id="32794" name="文本框 32793"/>
            <p:cNvSpPr txBox="1"/>
            <p:nvPr/>
          </p:nvSpPr>
          <p:spPr>
            <a:xfrm>
              <a:off x="113" y="956"/>
              <a:ext cx="147" cy="1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000" b="1" i="1"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32795" name="文本框 32794"/>
            <p:cNvSpPr txBox="1"/>
            <p:nvPr/>
          </p:nvSpPr>
          <p:spPr>
            <a:xfrm>
              <a:off x="110" y="611"/>
              <a:ext cx="154" cy="1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000" b="1" i="1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32796" name="文本框 32795"/>
            <p:cNvSpPr txBox="1"/>
            <p:nvPr/>
          </p:nvSpPr>
          <p:spPr>
            <a:xfrm>
              <a:off x="687" y="39"/>
              <a:ext cx="206" cy="1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000" b="1" i="1">
                  <a:latin typeface="Times New Roman" panose="02020603050405020304" pitchFamily="18" charset="0"/>
                </a:rPr>
                <a:t>d</a:t>
              </a:r>
              <a:r>
                <a:rPr lang="en-US" altLang="zh-CN" sz="20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</a:t>
              </a:r>
            </a:p>
          </p:txBody>
        </p:sp>
        <p:sp>
          <p:nvSpPr>
            <p:cNvPr id="32797" name="文本框 32796"/>
            <p:cNvSpPr txBox="1"/>
            <p:nvPr/>
          </p:nvSpPr>
          <p:spPr>
            <a:xfrm>
              <a:off x="1040" y="34"/>
              <a:ext cx="199" cy="1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000" b="1" i="1">
                  <a:latin typeface="Times New Roman" panose="02020603050405020304" pitchFamily="18" charset="0"/>
                </a:rPr>
                <a:t>c</a:t>
              </a:r>
              <a:r>
                <a:rPr lang="en-US" altLang="zh-CN" sz="20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</a:t>
              </a:r>
            </a:p>
          </p:txBody>
        </p:sp>
      </p:grpSp>
      <p:grpSp>
        <p:nvGrpSpPr>
          <p:cNvPr id="32798" name="组合 32797"/>
          <p:cNvGrpSpPr/>
          <p:nvPr/>
        </p:nvGrpSpPr>
        <p:grpSpPr>
          <a:xfrm>
            <a:off x="1654810" y="1816775"/>
            <a:ext cx="2555240" cy="2291635"/>
            <a:chOff x="0" y="18"/>
            <a:chExt cx="1114" cy="1072"/>
          </a:xfrm>
        </p:grpSpPr>
        <p:grpSp>
          <p:nvGrpSpPr>
            <p:cNvPr id="32799" name="组合 32798"/>
            <p:cNvGrpSpPr/>
            <p:nvPr/>
          </p:nvGrpSpPr>
          <p:grpSpPr>
            <a:xfrm>
              <a:off x="96" y="25"/>
              <a:ext cx="883" cy="1003"/>
              <a:chOff x="0" y="0"/>
              <a:chExt cx="883" cy="1003"/>
            </a:xfrm>
          </p:grpSpPr>
          <p:sp>
            <p:nvSpPr>
              <p:cNvPr id="32800" name="直接连接符 32799"/>
              <p:cNvSpPr/>
              <p:nvPr/>
            </p:nvSpPr>
            <p:spPr>
              <a:xfrm>
                <a:off x="79" y="124"/>
                <a:ext cx="739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801" name="未知"/>
              <p:cNvSpPr/>
              <p:nvPr/>
            </p:nvSpPr>
            <p:spPr>
              <a:xfrm>
                <a:off x="806" y="478"/>
                <a:ext cx="1" cy="403"/>
              </a:xfrm>
              <a:custGeom>
                <a:avLst/>
                <a:gdLst/>
                <a:ahLst/>
                <a:cxnLst/>
                <a:rect l="0" t="0" r="0" b="0"/>
                <a:pathLst>
                  <a:path w="1" h="403">
                    <a:moveTo>
                      <a:pt x="0" y="0"/>
                    </a:moveTo>
                    <a:lnTo>
                      <a:pt x="0" y="403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sz="2000"/>
              </a:p>
            </p:txBody>
          </p:sp>
          <p:sp>
            <p:nvSpPr>
              <p:cNvPr id="32802" name="未知"/>
              <p:cNvSpPr/>
              <p:nvPr/>
            </p:nvSpPr>
            <p:spPr>
              <a:xfrm>
                <a:off x="0" y="607"/>
                <a:ext cx="883" cy="1"/>
              </a:xfrm>
              <a:custGeom>
                <a:avLst/>
                <a:gdLst/>
                <a:ahLst/>
                <a:cxnLst/>
                <a:rect l="0" t="0" r="0" b="0"/>
                <a:pathLst>
                  <a:path w="883" h="1">
                    <a:moveTo>
                      <a:pt x="0" y="0"/>
                    </a:moveTo>
                    <a:lnTo>
                      <a:pt x="883" y="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sz="2000"/>
              </a:p>
            </p:txBody>
          </p:sp>
          <p:sp>
            <p:nvSpPr>
              <p:cNvPr id="32803" name="未知"/>
              <p:cNvSpPr/>
              <p:nvPr/>
            </p:nvSpPr>
            <p:spPr>
              <a:xfrm>
                <a:off x="530" y="0"/>
                <a:ext cx="1" cy="1003"/>
              </a:xfrm>
              <a:custGeom>
                <a:avLst/>
                <a:gdLst/>
                <a:ahLst/>
                <a:cxnLst/>
                <a:rect l="0" t="0" r="0" b="0"/>
                <a:pathLst>
                  <a:path w="1" h="1003">
                    <a:moveTo>
                      <a:pt x="0" y="0"/>
                    </a:moveTo>
                    <a:lnTo>
                      <a:pt x="0" y="1003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sz="2000"/>
              </a:p>
            </p:txBody>
          </p:sp>
          <p:sp>
            <p:nvSpPr>
              <p:cNvPr id="32804" name="直接连接符 32803"/>
              <p:cNvSpPr/>
              <p:nvPr/>
            </p:nvSpPr>
            <p:spPr>
              <a:xfrm>
                <a:off x="79" y="482"/>
                <a:ext cx="739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805" name="直接连接符 32804"/>
              <p:cNvSpPr/>
              <p:nvPr/>
            </p:nvSpPr>
            <p:spPr>
              <a:xfrm flipH="1">
                <a:off x="79" y="882"/>
                <a:ext cx="739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806" name="未知"/>
              <p:cNvSpPr/>
              <p:nvPr/>
            </p:nvSpPr>
            <p:spPr>
              <a:xfrm>
                <a:off x="77" y="468"/>
                <a:ext cx="2" cy="418"/>
              </a:xfrm>
              <a:custGeom>
                <a:avLst/>
                <a:gdLst/>
                <a:ahLst/>
                <a:cxnLst/>
                <a:rect l="0" t="0" r="0" b="0"/>
                <a:pathLst>
                  <a:path w="2" h="418">
                    <a:moveTo>
                      <a:pt x="2" y="0"/>
                    </a:moveTo>
                    <a:lnTo>
                      <a:pt x="0" y="418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sz="2000"/>
              </a:p>
            </p:txBody>
          </p:sp>
          <p:sp>
            <p:nvSpPr>
              <p:cNvPr id="32807" name="文本框 32806"/>
              <p:cNvSpPr txBox="1"/>
              <p:nvPr/>
            </p:nvSpPr>
            <p:spPr>
              <a:xfrm>
                <a:off x="22" y="785"/>
                <a:ext cx="116" cy="18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lang="zh-CN" altLang="en-US" sz="200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●</a:t>
                </a:r>
              </a:p>
            </p:txBody>
          </p:sp>
          <p:sp>
            <p:nvSpPr>
              <p:cNvPr id="32808" name="未知"/>
              <p:cNvSpPr/>
              <p:nvPr/>
            </p:nvSpPr>
            <p:spPr>
              <a:xfrm>
                <a:off x="528" y="607"/>
                <a:ext cx="345" cy="346"/>
              </a:xfrm>
              <a:custGeom>
                <a:avLst/>
                <a:gdLst/>
                <a:ahLst/>
                <a:cxnLst/>
                <a:rect l="0" t="0" r="0" b="0"/>
                <a:pathLst>
                  <a:path w="345" h="346">
                    <a:moveTo>
                      <a:pt x="0" y="0"/>
                    </a:moveTo>
                    <a:lnTo>
                      <a:pt x="345" y="346"/>
                    </a:lnTo>
                  </a:path>
                </a:pathLst>
              </a:custGeom>
              <a:noFill/>
              <a:ln w="127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sz="2000"/>
              </a:p>
            </p:txBody>
          </p:sp>
          <p:sp>
            <p:nvSpPr>
              <p:cNvPr id="32809" name="未知"/>
              <p:cNvSpPr/>
              <p:nvPr/>
            </p:nvSpPr>
            <p:spPr>
              <a:xfrm>
                <a:off x="77" y="119"/>
                <a:ext cx="2" cy="368"/>
              </a:xfrm>
              <a:custGeom>
                <a:avLst/>
                <a:gdLst/>
                <a:ahLst/>
                <a:cxnLst/>
                <a:rect l="0" t="0" r="0" b="0"/>
                <a:pathLst>
                  <a:path w="2" h="368">
                    <a:moveTo>
                      <a:pt x="2" y="0"/>
                    </a:moveTo>
                    <a:lnTo>
                      <a:pt x="0" y="368"/>
                    </a:lnTo>
                  </a:path>
                </a:pathLst>
              </a:custGeom>
              <a:noFill/>
              <a:ln w="38100" cap="flat" cmpd="sng">
                <a:solidFill>
                  <a:srgbClr val="FF33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sz="2000"/>
              </a:p>
            </p:txBody>
          </p:sp>
          <p:sp>
            <p:nvSpPr>
              <p:cNvPr id="32810" name="未知"/>
              <p:cNvSpPr/>
              <p:nvPr/>
            </p:nvSpPr>
            <p:spPr>
              <a:xfrm>
                <a:off x="806" y="118"/>
                <a:ext cx="1" cy="365"/>
              </a:xfrm>
              <a:custGeom>
                <a:avLst/>
                <a:gdLst/>
                <a:ahLst/>
                <a:cxnLst/>
                <a:rect l="0" t="0" r="0" b="0"/>
                <a:pathLst>
                  <a:path w="1" h="365">
                    <a:moveTo>
                      <a:pt x="0" y="0"/>
                    </a:moveTo>
                    <a:lnTo>
                      <a:pt x="0" y="365"/>
                    </a:lnTo>
                  </a:path>
                </a:pathLst>
              </a:custGeom>
              <a:noFill/>
              <a:ln w="38100" cap="flat" cmpd="sng">
                <a:solidFill>
                  <a:srgbClr val="FF33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sz="2000"/>
              </a:p>
            </p:txBody>
          </p:sp>
        </p:grpSp>
        <p:sp>
          <p:nvSpPr>
            <p:cNvPr id="32811" name="文本框 32810"/>
            <p:cNvSpPr txBox="1"/>
            <p:nvPr/>
          </p:nvSpPr>
          <p:spPr>
            <a:xfrm>
              <a:off x="13" y="19"/>
              <a:ext cx="176" cy="18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altLang="zh-CN" sz="2000" b="1" i="1">
                  <a:latin typeface="Times New Roman" panose="02020603050405020304" pitchFamily="18" charset="0"/>
                </a:rPr>
                <a:t>a</a:t>
              </a:r>
              <a:r>
                <a:rPr lang="en-US" altLang="zh-CN" sz="20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</a:t>
              </a:r>
            </a:p>
          </p:txBody>
        </p:sp>
        <p:sp>
          <p:nvSpPr>
            <p:cNvPr id="32812" name="文本框 32811"/>
            <p:cNvSpPr txBox="1"/>
            <p:nvPr/>
          </p:nvSpPr>
          <p:spPr>
            <a:xfrm>
              <a:off x="0" y="400"/>
              <a:ext cx="176" cy="18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altLang="zh-CN" sz="2000" b="1" i="1">
                  <a:latin typeface="Times New Roman" panose="02020603050405020304" pitchFamily="18" charset="0"/>
                </a:rPr>
                <a:t>b</a:t>
              </a:r>
              <a:r>
                <a:rPr lang="en-US" altLang="zh-CN" sz="20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</a:t>
              </a:r>
            </a:p>
          </p:txBody>
        </p:sp>
        <p:sp>
          <p:nvSpPr>
            <p:cNvPr id="32813" name="文本框 32812"/>
            <p:cNvSpPr txBox="1"/>
            <p:nvPr/>
          </p:nvSpPr>
          <p:spPr>
            <a:xfrm>
              <a:off x="22" y="903"/>
              <a:ext cx="295" cy="18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altLang="zh-CN" sz="2000" b="1" i="1">
                  <a:latin typeface="Times New Roman" panose="02020603050405020304" pitchFamily="18" charset="0"/>
                </a:rPr>
                <a:t>a(b)</a:t>
              </a:r>
            </a:p>
          </p:txBody>
        </p:sp>
        <p:sp>
          <p:nvSpPr>
            <p:cNvPr id="32814" name="文本框 32813"/>
            <p:cNvSpPr txBox="1"/>
            <p:nvPr/>
          </p:nvSpPr>
          <p:spPr>
            <a:xfrm>
              <a:off x="917" y="18"/>
              <a:ext cx="197" cy="18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altLang="zh-CN" sz="2000" b="1" i="1">
                  <a:latin typeface="Times New Roman" panose="02020603050405020304" pitchFamily="18" charset="0"/>
                </a:rPr>
                <a:t>a</a:t>
              </a:r>
              <a:r>
                <a:rPr lang="en-US" altLang="zh-CN" sz="20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</a:t>
              </a:r>
              <a:endParaRPr lang="en-US" altLang="zh-CN" sz="2000" b="1" i="1">
                <a:latin typeface="Times New Roman" panose="02020603050405020304" pitchFamily="18" charset="0"/>
              </a:endParaRPr>
            </a:p>
          </p:txBody>
        </p:sp>
        <p:sp>
          <p:nvSpPr>
            <p:cNvPr id="32815" name="文本框 32814"/>
            <p:cNvSpPr txBox="1"/>
            <p:nvPr/>
          </p:nvSpPr>
          <p:spPr>
            <a:xfrm>
              <a:off x="910" y="389"/>
              <a:ext cx="197" cy="18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altLang="zh-CN" sz="2000" b="1" i="1">
                  <a:latin typeface="Times New Roman" panose="02020603050405020304" pitchFamily="18" charset="0"/>
                </a:rPr>
                <a:t>b</a:t>
              </a:r>
              <a:r>
                <a:rPr lang="en-US" altLang="zh-CN" sz="20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</a:t>
              </a:r>
            </a:p>
          </p:txBody>
        </p:sp>
      </p:grpSp>
      <p:grpSp>
        <p:nvGrpSpPr>
          <p:cNvPr id="32816" name="组合 32815"/>
          <p:cNvGrpSpPr/>
          <p:nvPr/>
        </p:nvGrpSpPr>
        <p:grpSpPr>
          <a:xfrm>
            <a:off x="7396798" y="1500850"/>
            <a:ext cx="2575779" cy="2498991"/>
            <a:chOff x="0" y="12"/>
            <a:chExt cx="1246" cy="983"/>
          </a:xfrm>
        </p:grpSpPr>
        <p:grpSp>
          <p:nvGrpSpPr>
            <p:cNvPr id="32817" name="组合 32816"/>
            <p:cNvGrpSpPr/>
            <p:nvPr/>
          </p:nvGrpSpPr>
          <p:grpSpPr>
            <a:xfrm>
              <a:off x="0" y="126"/>
              <a:ext cx="1180" cy="849"/>
              <a:chOff x="0" y="0"/>
              <a:chExt cx="1180" cy="849"/>
            </a:xfrm>
          </p:grpSpPr>
          <p:sp>
            <p:nvSpPr>
              <p:cNvPr id="32818" name="未知"/>
              <p:cNvSpPr/>
              <p:nvPr/>
            </p:nvSpPr>
            <p:spPr>
              <a:xfrm>
                <a:off x="0" y="434"/>
                <a:ext cx="1180" cy="3"/>
              </a:xfrm>
              <a:custGeom>
                <a:avLst/>
                <a:gdLst/>
                <a:ahLst/>
                <a:cxnLst/>
                <a:rect l="0" t="0" r="0" b="0"/>
                <a:pathLst>
                  <a:path w="1180" h="3">
                    <a:moveTo>
                      <a:pt x="0" y="0"/>
                    </a:moveTo>
                    <a:lnTo>
                      <a:pt x="1180" y="3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sz="2000"/>
              </a:p>
            </p:txBody>
          </p:sp>
          <p:sp>
            <p:nvSpPr>
              <p:cNvPr id="32819" name="未知"/>
              <p:cNvSpPr/>
              <p:nvPr/>
            </p:nvSpPr>
            <p:spPr>
              <a:xfrm>
                <a:off x="768" y="0"/>
                <a:ext cx="2" cy="849"/>
              </a:xfrm>
              <a:custGeom>
                <a:avLst/>
                <a:gdLst/>
                <a:ahLst/>
                <a:cxnLst/>
                <a:rect l="0" t="0" r="0" b="0"/>
                <a:pathLst>
                  <a:path w="2" h="849">
                    <a:moveTo>
                      <a:pt x="2" y="0"/>
                    </a:moveTo>
                    <a:lnTo>
                      <a:pt x="0" y="849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sz="2000"/>
              </a:p>
            </p:txBody>
          </p:sp>
          <p:sp>
            <p:nvSpPr>
              <p:cNvPr id="32820" name="直接连接符 32819"/>
              <p:cNvSpPr/>
              <p:nvPr/>
            </p:nvSpPr>
            <p:spPr>
              <a:xfrm>
                <a:off x="180" y="91"/>
                <a:ext cx="376" cy="0"/>
              </a:xfrm>
              <a:prstGeom prst="line">
                <a:avLst/>
              </a:prstGeom>
              <a:ln w="38100" cap="flat" cmpd="sng">
                <a:solidFill>
                  <a:srgbClr val="FF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821" name="直接连接符 32820"/>
              <p:cNvSpPr/>
              <p:nvPr/>
            </p:nvSpPr>
            <p:spPr>
              <a:xfrm>
                <a:off x="180" y="91"/>
                <a:ext cx="0" cy="62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822" name="直接连接符 32821"/>
              <p:cNvSpPr/>
              <p:nvPr/>
            </p:nvSpPr>
            <p:spPr>
              <a:xfrm>
                <a:off x="556" y="91"/>
                <a:ext cx="0" cy="62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823" name="直接连接符 32822"/>
              <p:cNvSpPr/>
              <p:nvPr/>
            </p:nvSpPr>
            <p:spPr>
              <a:xfrm>
                <a:off x="180" y="714"/>
                <a:ext cx="376" cy="0"/>
              </a:xfrm>
              <a:prstGeom prst="line">
                <a:avLst/>
              </a:prstGeom>
              <a:ln w="38100" cap="flat" cmpd="sng">
                <a:solidFill>
                  <a:srgbClr val="FF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824" name="直接连接符 32823"/>
              <p:cNvSpPr/>
              <p:nvPr/>
            </p:nvSpPr>
            <p:spPr>
              <a:xfrm>
                <a:off x="556" y="714"/>
                <a:ext cx="493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825" name="直接连接符 32824"/>
              <p:cNvSpPr/>
              <p:nvPr/>
            </p:nvSpPr>
            <p:spPr>
              <a:xfrm flipV="1">
                <a:off x="1053" y="91"/>
                <a:ext cx="0" cy="62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826" name="直接连接符 32825"/>
              <p:cNvSpPr/>
              <p:nvPr/>
            </p:nvSpPr>
            <p:spPr>
              <a:xfrm>
                <a:off x="556" y="91"/>
                <a:ext cx="493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827" name="文本框 32826"/>
              <p:cNvSpPr txBox="1"/>
              <p:nvPr/>
            </p:nvSpPr>
            <p:spPr>
              <a:xfrm>
                <a:off x="965" y="15"/>
                <a:ext cx="169" cy="15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zh-CN" altLang="en-US" sz="200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●</a:t>
                </a:r>
              </a:p>
            </p:txBody>
          </p:sp>
          <p:sp>
            <p:nvSpPr>
              <p:cNvPr id="32828" name="未知"/>
              <p:cNvSpPr/>
              <p:nvPr/>
            </p:nvSpPr>
            <p:spPr>
              <a:xfrm>
                <a:off x="770" y="438"/>
                <a:ext cx="324" cy="325"/>
              </a:xfrm>
              <a:custGeom>
                <a:avLst/>
                <a:gdLst/>
                <a:ahLst/>
                <a:cxnLst/>
                <a:rect l="0" t="0" r="0" b="0"/>
                <a:pathLst>
                  <a:path w="324" h="325">
                    <a:moveTo>
                      <a:pt x="0" y="0"/>
                    </a:moveTo>
                    <a:lnTo>
                      <a:pt x="324" y="325"/>
                    </a:lnTo>
                  </a:path>
                </a:pathLst>
              </a:custGeom>
              <a:noFill/>
              <a:ln w="127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sz="2000"/>
              </a:p>
            </p:txBody>
          </p:sp>
        </p:grpSp>
        <p:sp>
          <p:nvSpPr>
            <p:cNvPr id="32829" name="文本框 32828"/>
            <p:cNvSpPr txBox="1"/>
            <p:nvPr/>
          </p:nvSpPr>
          <p:spPr>
            <a:xfrm>
              <a:off x="20" y="46"/>
              <a:ext cx="275" cy="15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sz="2000" b="1" i="1">
                  <a:latin typeface="Times New Roman" panose="02020603050405020304" pitchFamily="18" charset="0"/>
                </a:rPr>
                <a:t>e</a:t>
              </a:r>
              <a:r>
                <a:rPr lang="en-US" altLang="zh-CN" sz="20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</a:t>
              </a:r>
            </a:p>
          </p:txBody>
        </p:sp>
        <p:sp>
          <p:nvSpPr>
            <p:cNvPr id="32830" name="文本框 32829"/>
            <p:cNvSpPr txBox="1"/>
            <p:nvPr/>
          </p:nvSpPr>
          <p:spPr>
            <a:xfrm>
              <a:off x="480" y="41"/>
              <a:ext cx="160" cy="15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000" b="1" i="1">
                  <a:latin typeface="Times New Roman" panose="02020603050405020304" pitchFamily="18" charset="0"/>
                </a:rPr>
                <a:t>f</a:t>
              </a:r>
              <a:r>
                <a:rPr lang="en-US" altLang="zh-CN" sz="20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</a:t>
              </a:r>
            </a:p>
          </p:txBody>
        </p:sp>
        <p:sp>
          <p:nvSpPr>
            <p:cNvPr id="32831" name="文本框 32830"/>
            <p:cNvSpPr txBox="1"/>
            <p:nvPr/>
          </p:nvSpPr>
          <p:spPr>
            <a:xfrm>
              <a:off x="88" y="807"/>
              <a:ext cx="143" cy="15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000" b="1" i="1"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32832" name="文本框 32831"/>
            <p:cNvSpPr txBox="1"/>
            <p:nvPr/>
          </p:nvSpPr>
          <p:spPr>
            <a:xfrm>
              <a:off x="465" y="838"/>
              <a:ext cx="129" cy="15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000" b="1" i="1"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32833" name="文本框 32832"/>
            <p:cNvSpPr txBox="1"/>
            <p:nvPr/>
          </p:nvSpPr>
          <p:spPr>
            <a:xfrm>
              <a:off x="879" y="12"/>
              <a:ext cx="367" cy="15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000" b="1" i="1">
                  <a:latin typeface="Times New Roman" panose="02020603050405020304" pitchFamily="18" charset="0"/>
                </a:rPr>
                <a:t>e</a:t>
              </a:r>
              <a:r>
                <a:rPr lang="en-US" altLang="zh-CN" sz="20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</a:t>
              </a:r>
              <a:r>
                <a:rPr lang="en-US" altLang="zh-CN" sz="2000" b="1" i="1">
                  <a:latin typeface="Times New Roman" panose="02020603050405020304" pitchFamily="18" charset="0"/>
                  <a:sym typeface="CommercialPi BT" panose="05020102010206080802" pitchFamily="18" charset="2"/>
                </a:rPr>
                <a:t>(</a:t>
              </a:r>
              <a:r>
                <a:rPr lang="en-US" altLang="zh-CN" sz="2000" b="1" i="1">
                  <a:latin typeface="Times New Roman" panose="02020603050405020304" pitchFamily="18" charset="0"/>
                </a:rPr>
                <a:t>f</a:t>
              </a:r>
              <a:r>
                <a:rPr lang="en-US" altLang="zh-CN" sz="20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</a:t>
              </a:r>
              <a:r>
                <a:rPr lang="en-US" altLang="zh-CN" sz="2000" b="1" i="1">
                  <a:latin typeface="Times New Roman" panose="02020603050405020304" pitchFamily="18" charset="0"/>
                  <a:sym typeface="CommercialPi BT" panose="05020102010206080802" pitchFamily="18" charset="2"/>
                </a:rPr>
                <a:t>)</a:t>
              </a:r>
            </a:p>
          </p:txBody>
        </p:sp>
      </p:grpSp>
      <p:sp>
        <p:nvSpPr>
          <p:cNvPr id="32834" name="文本框 32833"/>
          <p:cNvSpPr txBox="1"/>
          <p:nvPr/>
        </p:nvSpPr>
        <p:spPr>
          <a:xfrm>
            <a:off x="2155825" y="1071563"/>
            <a:ext cx="8064500" cy="3067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1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铅垂线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（⊥</a:t>
            </a:r>
            <a:r>
              <a:rPr lang="zh-CN" altLang="en-US" sz="1400" i="1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Ｈ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面）         </a:t>
            </a:r>
            <a:r>
              <a:rPr lang="zh-CN" altLang="en-US" sz="1400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正垂线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（⊥</a:t>
            </a:r>
            <a:r>
              <a:rPr lang="zh-CN" altLang="en-US" sz="1400" i="1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Ｖ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面）</a:t>
            </a:r>
            <a:r>
              <a:rPr lang="zh-CN" altLang="en-US" sz="14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侧垂线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（⊥</a:t>
            </a:r>
            <a:r>
              <a:rPr lang="zh-CN" altLang="en-US" sz="1400" i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Ｗ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面）</a:t>
            </a:r>
          </a:p>
        </p:txBody>
      </p:sp>
      <p:sp>
        <p:nvSpPr>
          <p:cNvPr id="32840" name="矩形 32839"/>
          <p:cNvSpPr/>
          <p:nvPr/>
        </p:nvSpPr>
        <p:spPr>
          <a:xfrm>
            <a:off x="2867025" y="5600383"/>
            <a:ext cx="5315585" cy="37084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spAutoFit/>
          </a:bodyPr>
          <a:lstStyle/>
          <a:p>
            <a:pPr lvl="1">
              <a:lnSpc>
                <a:spcPct val="130000"/>
              </a:lnSpc>
              <a:spcBef>
                <a:spcPct val="20000"/>
              </a:spcBef>
              <a:buClr>
                <a:srgbClr val="FF33CC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14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规律：</a:t>
            </a:r>
            <a:r>
              <a:rPr lang="zh-CN" altLang="en-US" sz="1400" b="1" u="sng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一点两直线，定是垂直线；点在哪个面，就是什么线</a:t>
            </a:r>
            <a:r>
              <a:rPr lang="zh-CN" altLang="en-US" sz="1400" u="sng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2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27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7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32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8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28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2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75"/>
                                        <p:tgtEl>
                                          <p:spTgt spid="327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75"/>
                                        <p:tgtEl>
                                          <p:spTgt spid="327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28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28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5" grpId="0" build="p"/>
      <p:bldP spid="32776" grpId="0" uiExpand="1" build="p"/>
      <p:bldP spid="32778" grpId="0"/>
      <p:bldP spid="32834" grpId="0"/>
      <p:bldP spid="32840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文本框 33794"/>
          <p:cNvSpPr txBox="1"/>
          <p:nvPr/>
        </p:nvSpPr>
        <p:spPr>
          <a:xfrm>
            <a:off x="1340803" y="4310857"/>
            <a:ext cx="2882900" cy="36830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algn="l"/>
            <a:r>
              <a:rPr lang="zh-CN" altLang="en-US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投影特性：</a:t>
            </a:r>
          </a:p>
        </p:txBody>
      </p:sp>
      <p:sp>
        <p:nvSpPr>
          <p:cNvPr id="33796" name="文本框 33795"/>
          <p:cNvSpPr txBox="1"/>
          <p:nvPr/>
        </p:nvSpPr>
        <p:spPr>
          <a:xfrm>
            <a:off x="1556703" y="4807168"/>
            <a:ext cx="8424862" cy="1169551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zh-CN" altLang="en-US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三个投影都</a:t>
            </a:r>
            <a:r>
              <a:rPr lang="zh-CN" altLang="en-US" sz="1400" dirty="0">
                <a:solidFill>
                  <a:srgbClr val="FF33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缩短</a:t>
            </a:r>
            <a:r>
              <a:rPr lang="zh-CN" altLang="en-US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</a:p>
          <a:p>
            <a:endParaRPr lang="zh-CN" altLang="en-US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即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 </a:t>
            </a:r>
            <a:r>
              <a:rPr lang="zh-CN" altLang="en-US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都不反映空间线段的实长及与三个投影面夹角的实际大小，且与三根投影轴都</a:t>
            </a:r>
            <a:r>
              <a:rPr lang="zh-CN" altLang="en-US" sz="1400" dirty="0">
                <a:solidFill>
                  <a:srgbClr val="FF33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倾斜</a:t>
            </a:r>
            <a:r>
              <a:rPr lang="zh-CN" altLang="en-US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en-US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en-US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两个面倾斜，一定是一般位置直线。</a:t>
            </a:r>
            <a:endParaRPr lang="zh-CN" altLang="en-US" sz="1400" b="1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33856" name="组合 33855"/>
          <p:cNvGrpSpPr/>
          <p:nvPr/>
        </p:nvGrpSpPr>
        <p:grpSpPr>
          <a:xfrm>
            <a:off x="2748915" y="895350"/>
            <a:ext cx="6694488" cy="3267075"/>
            <a:chOff x="864" y="2030"/>
            <a:chExt cx="4217" cy="2058"/>
          </a:xfrm>
        </p:grpSpPr>
        <p:graphicFrame>
          <p:nvGraphicFramePr>
            <p:cNvPr id="33857" name="Object 27"/>
            <p:cNvGraphicFramePr/>
            <p:nvPr/>
          </p:nvGraphicFramePr>
          <p:xfrm>
            <a:off x="864" y="2030"/>
            <a:ext cx="4217" cy="20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6696075" imgH="3267075" progId="Paint.Picture">
                    <p:embed/>
                  </p:oleObj>
                </mc:Choice>
                <mc:Fallback>
                  <p:oleObj r:id="rId2" imgW="6696075" imgH="3267075" progId="Paint.Picture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864" y="2030"/>
                          <a:ext cx="4217" cy="205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58" name="Object 28"/>
            <p:cNvGraphicFramePr/>
            <p:nvPr/>
          </p:nvGraphicFramePr>
          <p:xfrm>
            <a:off x="3312" y="2318"/>
            <a:ext cx="1674" cy="15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2657475" imgH="2390775" progId="Paint.Picture">
                    <p:embed/>
                  </p:oleObj>
                </mc:Choice>
                <mc:Fallback>
                  <p:oleObj r:id="rId4" imgW="2657475" imgH="2390775" progId="Paint.Picture">
                    <p:embed/>
                    <p:pic>
                      <p:nvPicPr>
                        <p:cNvPr id="0" name="图片 3076"/>
                        <p:cNvPicPr/>
                        <p:nvPr/>
                      </p:nvPicPr>
                      <p:blipFill>
                        <a:blip r:embed="rId5">
                          <a:clrChange>
                            <a:clrFrom>
                              <a:srgbClr val="FFFFFF"/>
                            </a:clrFrom>
                            <a:clrTo>
                              <a:srgbClr val="FFFFFF">
                                <a:alpha val="0"/>
                              </a:srgbClr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312" y="2318"/>
                          <a:ext cx="1674" cy="150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9709" name="Line 13"/>
          <p:cNvSpPr/>
          <p:nvPr/>
        </p:nvSpPr>
        <p:spPr>
          <a:xfrm flipV="1">
            <a:off x="4044315" y="2190750"/>
            <a:ext cx="152400" cy="990600"/>
          </a:xfrm>
          <a:prstGeom prst="line">
            <a:avLst/>
          </a:prstGeom>
          <a:ln w="38100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9710" name="Line 14"/>
          <p:cNvSpPr/>
          <p:nvPr/>
        </p:nvSpPr>
        <p:spPr>
          <a:xfrm flipV="1">
            <a:off x="3320415" y="1819275"/>
            <a:ext cx="533400" cy="609600"/>
          </a:xfrm>
          <a:prstGeom prst="line">
            <a:avLst/>
          </a:prstGeom>
          <a:ln w="2857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9711" name="Line 15"/>
          <p:cNvSpPr/>
          <p:nvPr/>
        </p:nvSpPr>
        <p:spPr>
          <a:xfrm flipV="1">
            <a:off x="4053840" y="3105150"/>
            <a:ext cx="152400" cy="381000"/>
          </a:xfrm>
          <a:prstGeom prst="line">
            <a:avLst/>
          </a:prstGeom>
          <a:ln w="2857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9712" name="Line 16"/>
          <p:cNvSpPr/>
          <p:nvPr/>
        </p:nvSpPr>
        <p:spPr>
          <a:xfrm>
            <a:off x="4749165" y="2190750"/>
            <a:ext cx="381000" cy="990600"/>
          </a:xfrm>
          <a:prstGeom prst="line">
            <a:avLst/>
          </a:prstGeom>
          <a:ln w="2857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9713" name="Line 17"/>
          <p:cNvSpPr/>
          <p:nvPr/>
        </p:nvSpPr>
        <p:spPr>
          <a:xfrm flipV="1">
            <a:off x="6873240" y="1638300"/>
            <a:ext cx="533400" cy="609600"/>
          </a:xfrm>
          <a:prstGeom prst="line">
            <a:avLst/>
          </a:prstGeom>
          <a:ln w="2857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9714" name="Line 18"/>
          <p:cNvSpPr/>
          <p:nvPr/>
        </p:nvSpPr>
        <p:spPr>
          <a:xfrm flipV="1">
            <a:off x="6873240" y="3028950"/>
            <a:ext cx="533400" cy="533400"/>
          </a:xfrm>
          <a:prstGeom prst="line">
            <a:avLst/>
          </a:prstGeom>
          <a:ln w="2857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9715" name="Line 19"/>
          <p:cNvSpPr/>
          <p:nvPr/>
        </p:nvSpPr>
        <p:spPr>
          <a:xfrm flipH="1" flipV="1">
            <a:off x="8406765" y="1600200"/>
            <a:ext cx="549275" cy="609600"/>
          </a:xfrm>
          <a:prstGeom prst="line">
            <a:avLst/>
          </a:prstGeom>
          <a:ln w="2857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3794" name="文本框 33793"/>
          <p:cNvSpPr txBox="1"/>
          <p:nvPr/>
        </p:nvSpPr>
        <p:spPr>
          <a:xfrm>
            <a:off x="482918" y="538004"/>
            <a:ext cx="6648450" cy="36830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 一般位置直线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1000"/>
                                        <p:tgtEl>
                                          <p:spTgt spid="29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1000"/>
                                        <p:tgtEl>
                                          <p:spTgt spid="29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29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1000"/>
                                        <p:tgtEl>
                                          <p:spTgt spid="29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29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1000"/>
                                        <p:tgtEl>
                                          <p:spTgt spid="29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1000"/>
                                        <p:tgtEl>
                                          <p:spTgt spid="29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/>
      <p:bldP spid="3379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文本框 34818"/>
          <p:cNvSpPr txBox="1"/>
          <p:nvPr/>
        </p:nvSpPr>
        <p:spPr>
          <a:xfrm>
            <a:off x="1175385" y="2247583"/>
            <a:ext cx="5224780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/>
          <a:p>
            <a:r>
              <a:rPr lang="zh-CN" alt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若</a:t>
            </a:r>
            <a:r>
              <a:rPr lang="zh-CN" altLang="en-US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点在直线上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 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则</a:t>
            </a:r>
            <a:r>
              <a:rPr lang="zh-CN" altLang="en-US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点的投影必在直线的同面投影上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，并将线段的同面投影分割成与空间相同的比例。</a:t>
            </a:r>
          </a:p>
        </p:txBody>
      </p:sp>
      <p:sp>
        <p:nvSpPr>
          <p:cNvPr id="34820" name="文本框 34819"/>
          <p:cNvSpPr txBox="1"/>
          <p:nvPr/>
        </p:nvSpPr>
        <p:spPr>
          <a:xfrm>
            <a:off x="1175385" y="4598353"/>
            <a:ext cx="5734685" cy="30670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/>
          <a:p>
            <a:r>
              <a:rPr lang="zh-CN" altLang="en-US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若点的投影有一个不在直线的同面投影上， 则该点必不在此直线上。</a:t>
            </a:r>
          </a:p>
        </p:txBody>
      </p:sp>
      <p:sp>
        <p:nvSpPr>
          <p:cNvPr id="34822" name="文本框 34821"/>
          <p:cNvSpPr txBox="1"/>
          <p:nvPr/>
        </p:nvSpPr>
        <p:spPr>
          <a:xfrm>
            <a:off x="1200150" y="3704273"/>
            <a:ext cx="5452745" cy="30670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1400" i="1">
                <a:solidFill>
                  <a:srgbClr val="FF33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AC</a:t>
            </a:r>
            <a:r>
              <a:rPr lang="zh-CN" altLang="en-US" sz="1400" i="1">
                <a:solidFill>
                  <a:srgbClr val="FF33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altLang="zh-CN" sz="1400" i="1">
                <a:solidFill>
                  <a:srgbClr val="FF33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CB</a:t>
            </a:r>
            <a:r>
              <a:rPr lang="en-US" altLang="zh-CN" sz="1400">
                <a:solidFill>
                  <a:srgbClr val="FF33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= </a:t>
            </a:r>
            <a:r>
              <a:rPr lang="en-US" altLang="zh-CN" sz="1400" i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ac</a:t>
            </a:r>
            <a:r>
              <a:rPr lang="zh-CN" altLang="en-US" sz="1400" i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altLang="zh-CN" sz="1400" i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cb= </a:t>
            </a:r>
            <a:r>
              <a:rPr lang="en-US" altLang="zh-CN" sz="1400" i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EuroRoman" panose="00000400000000000000" pitchFamily="2" charset="2"/>
              </a:rPr>
              <a:t>a</a:t>
            </a:r>
            <a:r>
              <a:rPr lang="en-US" altLang="zh-CN" sz="1400" i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</a:t>
            </a:r>
            <a:r>
              <a:rPr lang="en-US" altLang="zh-CN" sz="1400" i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</a:t>
            </a:r>
            <a:r>
              <a:rPr lang="en-US" altLang="zh-CN" sz="1400" i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</a:t>
            </a:r>
            <a:r>
              <a:rPr lang="en-US" altLang="zh-CN" sz="1400" i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400" i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altLang="zh-CN" sz="1400" i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c</a:t>
            </a:r>
            <a:r>
              <a:rPr lang="en-US" altLang="zh-CN" sz="1400" i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</a:t>
            </a:r>
            <a:r>
              <a:rPr lang="en-US" altLang="zh-CN" sz="1400" i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</a:t>
            </a:r>
            <a:r>
              <a:rPr lang="en-US" altLang="zh-CN" sz="1400" i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     </a:t>
            </a:r>
            <a:r>
              <a:rPr lang="zh-CN" altLang="en-US" sz="140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（</a:t>
            </a:r>
            <a:r>
              <a:rPr lang="zh-CN" altLang="en-US" sz="140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定比性）</a:t>
            </a:r>
          </a:p>
        </p:txBody>
      </p:sp>
      <p:sp>
        <p:nvSpPr>
          <p:cNvPr id="34823" name="平行四边形 34822"/>
          <p:cNvSpPr/>
          <p:nvPr/>
        </p:nvSpPr>
        <p:spPr>
          <a:xfrm flipH="1">
            <a:off x="6927215" y="3706178"/>
            <a:ext cx="3489325" cy="1235075"/>
          </a:xfrm>
          <a:prstGeom prst="parallelogram">
            <a:avLst>
              <a:gd name="adj" fmla="val 70629"/>
            </a:avLst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824" name="矩形 34823"/>
          <p:cNvSpPr/>
          <p:nvPr/>
        </p:nvSpPr>
        <p:spPr>
          <a:xfrm>
            <a:off x="6927215" y="2131378"/>
            <a:ext cx="2617788" cy="15748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825" name="直接连接符 34824"/>
          <p:cNvSpPr/>
          <p:nvPr/>
        </p:nvSpPr>
        <p:spPr>
          <a:xfrm flipV="1">
            <a:off x="7225665" y="2421890"/>
            <a:ext cx="1730375" cy="822325"/>
          </a:xfrm>
          <a:prstGeom prst="line">
            <a:avLst/>
          </a:prstGeom>
          <a:ln w="38100" cap="flat" cmpd="sng">
            <a:solidFill>
              <a:srgbClr val="6600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26" name="直接连接符 34825"/>
          <p:cNvSpPr/>
          <p:nvPr/>
        </p:nvSpPr>
        <p:spPr>
          <a:xfrm>
            <a:off x="7225665" y="3244215"/>
            <a:ext cx="0" cy="461963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27" name="直接连接符 34826"/>
          <p:cNvSpPr/>
          <p:nvPr/>
        </p:nvSpPr>
        <p:spPr>
          <a:xfrm>
            <a:off x="7225665" y="3244215"/>
            <a:ext cx="763588" cy="944563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28" name="直接连接符 34827"/>
          <p:cNvSpPr/>
          <p:nvPr/>
        </p:nvSpPr>
        <p:spPr>
          <a:xfrm>
            <a:off x="8956040" y="2421890"/>
            <a:ext cx="304800" cy="38735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29" name="直接连接符 34828"/>
          <p:cNvSpPr/>
          <p:nvPr/>
        </p:nvSpPr>
        <p:spPr>
          <a:xfrm flipH="1">
            <a:off x="7989253" y="2809240"/>
            <a:ext cx="1271587" cy="1379538"/>
          </a:xfrm>
          <a:prstGeom prst="line">
            <a:avLst/>
          </a:prstGeom>
          <a:ln w="3810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30" name="直接连接符 34829"/>
          <p:cNvSpPr/>
          <p:nvPr/>
        </p:nvSpPr>
        <p:spPr>
          <a:xfrm>
            <a:off x="8956040" y="2421890"/>
            <a:ext cx="0" cy="1284288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31" name="直接连接符 34830"/>
          <p:cNvSpPr/>
          <p:nvPr/>
        </p:nvSpPr>
        <p:spPr>
          <a:xfrm>
            <a:off x="9260840" y="2809240"/>
            <a:ext cx="0" cy="1379538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32" name="直接连接符 34831"/>
          <p:cNvSpPr/>
          <p:nvPr/>
        </p:nvSpPr>
        <p:spPr>
          <a:xfrm flipH="1" flipV="1">
            <a:off x="8956040" y="3706178"/>
            <a:ext cx="304800" cy="4826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33" name="直接连接符 34832"/>
          <p:cNvSpPr/>
          <p:nvPr/>
        </p:nvSpPr>
        <p:spPr>
          <a:xfrm flipH="1">
            <a:off x="7989253" y="4188778"/>
            <a:ext cx="1271587" cy="460375"/>
          </a:xfrm>
          <a:prstGeom prst="line">
            <a:avLst/>
          </a:prstGeom>
          <a:ln w="38100" cap="flat" cmpd="sng">
            <a:solidFill>
              <a:srgbClr val="6600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34" name="未知"/>
          <p:cNvSpPr/>
          <p:nvPr/>
        </p:nvSpPr>
        <p:spPr>
          <a:xfrm>
            <a:off x="7965440" y="2907665"/>
            <a:ext cx="1588" cy="822325"/>
          </a:xfrm>
          <a:custGeom>
            <a:avLst/>
            <a:gdLst/>
            <a:ahLst/>
            <a:cxnLst/>
            <a:rect l="0" t="0" r="0" b="0"/>
            <a:pathLst>
              <a:path w="1" h="441">
                <a:moveTo>
                  <a:pt x="0" y="0"/>
                </a:moveTo>
                <a:lnTo>
                  <a:pt x="0" y="441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835" name="未知"/>
          <p:cNvSpPr/>
          <p:nvPr/>
        </p:nvSpPr>
        <p:spPr>
          <a:xfrm>
            <a:off x="7965440" y="2882265"/>
            <a:ext cx="565150" cy="701675"/>
          </a:xfrm>
          <a:custGeom>
            <a:avLst/>
            <a:gdLst/>
            <a:ahLst/>
            <a:cxnLst/>
            <a:rect l="0" t="0" r="0" b="0"/>
            <a:pathLst>
              <a:path w="311" h="376">
                <a:moveTo>
                  <a:pt x="0" y="0"/>
                </a:moveTo>
                <a:lnTo>
                  <a:pt x="311" y="376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836" name="未知"/>
          <p:cNvSpPr/>
          <p:nvPr/>
        </p:nvSpPr>
        <p:spPr>
          <a:xfrm>
            <a:off x="8530590" y="3633153"/>
            <a:ext cx="1588" cy="846137"/>
          </a:xfrm>
          <a:custGeom>
            <a:avLst/>
            <a:gdLst/>
            <a:ahLst/>
            <a:cxnLst/>
            <a:rect l="0" t="0" r="0" b="0"/>
            <a:pathLst>
              <a:path w="1" h="454">
                <a:moveTo>
                  <a:pt x="0" y="0"/>
                </a:moveTo>
                <a:lnTo>
                  <a:pt x="0" y="454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837" name="文本框 34836"/>
          <p:cNvSpPr txBox="1"/>
          <p:nvPr/>
        </p:nvSpPr>
        <p:spPr>
          <a:xfrm>
            <a:off x="7833678" y="3785553"/>
            <a:ext cx="336550" cy="366712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endParaRPr lang="en-US" altLang="zh-CN" i="1">
              <a:latin typeface="Times New Roman" panose="02020603050405020304" pitchFamily="18" charset="0"/>
            </a:endParaRPr>
          </a:p>
        </p:txBody>
      </p:sp>
      <p:sp>
        <p:nvSpPr>
          <p:cNvPr id="34838" name="直接连接符 34837"/>
          <p:cNvSpPr/>
          <p:nvPr/>
        </p:nvSpPr>
        <p:spPr>
          <a:xfrm>
            <a:off x="7965440" y="3706178"/>
            <a:ext cx="565150" cy="773112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39" name="文本框 34838"/>
          <p:cNvSpPr txBox="1"/>
          <p:nvPr/>
        </p:nvSpPr>
        <p:spPr>
          <a:xfrm>
            <a:off x="9213215" y="2623503"/>
            <a:ext cx="336550" cy="366712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b="1" i="1">
                <a:latin typeface="Times New Roman" panose="02020603050405020304" pitchFamily="18" charset="0"/>
              </a:rPr>
              <a:t>B</a:t>
            </a:r>
            <a:endParaRPr lang="en-US" altLang="zh-CN" i="1">
              <a:latin typeface="Times New Roman" panose="02020603050405020304" pitchFamily="18" charset="0"/>
            </a:endParaRPr>
          </a:p>
        </p:txBody>
      </p:sp>
      <p:sp>
        <p:nvSpPr>
          <p:cNvPr id="34840" name="文本框 34839"/>
          <p:cNvSpPr txBox="1"/>
          <p:nvPr/>
        </p:nvSpPr>
        <p:spPr>
          <a:xfrm>
            <a:off x="8413115" y="3233103"/>
            <a:ext cx="336550" cy="366712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b="1" i="1">
                <a:latin typeface="Times New Roman" panose="02020603050405020304" pitchFamily="18" charset="0"/>
              </a:rPr>
              <a:t>C</a:t>
            </a:r>
            <a:endParaRPr lang="en-US" altLang="zh-CN" i="1">
              <a:latin typeface="Times New Roman" panose="02020603050405020304" pitchFamily="18" charset="0"/>
            </a:endParaRPr>
          </a:p>
        </p:txBody>
      </p:sp>
      <p:sp>
        <p:nvSpPr>
          <p:cNvPr id="34841" name="文本框 34840"/>
          <p:cNvSpPr txBox="1"/>
          <p:nvPr/>
        </p:nvSpPr>
        <p:spPr>
          <a:xfrm>
            <a:off x="6909753" y="2123440"/>
            <a:ext cx="3873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i="1">
                <a:latin typeface="Times New Roman" panose="02020603050405020304" pitchFamily="18" charset="0"/>
              </a:rPr>
              <a:t>V</a:t>
            </a:r>
            <a:endParaRPr lang="en-US" altLang="zh-CN" i="1">
              <a:latin typeface="Times New Roman" panose="02020603050405020304" pitchFamily="18" charset="0"/>
            </a:endParaRPr>
          </a:p>
        </p:txBody>
      </p:sp>
      <p:sp>
        <p:nvSpPr>
          <p:cNvPr id="34842" name="文本框 34841"/>
          <p:cNvSpPr txBox="1"/>
          <p:nvPr/>
        </p:nvSpPr>
        <p:spPr>
          <a:xfrm>
            <a:off x="9848215" y="4539615"/>
            <a:ext cx="42068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i="1">
                <a:latin typeface="Times New Roman" panose="02020603050405020304" pitchFamily="18" charset="0"/>
              </a:rPr>
              <a:t>H</a:t>
            </a:r>
            <a:endParaRPr lang="en-US" altLang="zh-CN" i="1">
              <a:latin typeface="Times New Roman" panose="02020603050405020304" pitchFamily="18" charset="0"/>
            </a:endParaRPr>
          </a:p>
        </p:txBody>
      </p:sp>
      <p:sp>
        <p:nvSpPr>
          <p:cNvPr id="34843" name="文本框 34842"/>
          <p:cNvSpPr txBox="1"/>
          <p:nvPr/>
        </p:nvSpPr>
        <p:spPr>
          <a:xfrm>
            <a:off x="9262428" y="4010978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i="1">
                <a:latin typeface="Times New Roman" panose="02020603050405020304" pitchFamily="18" charset="0"/>
              </a:rPr>
              <a:t>b</a:t>
            </a:r>
            <a:endParaRPr lang="en-US" altLang="zh-CN" sz="2400" i="1">
              <a:latin typeface="Times New Roman" panose="02020603050405020304" pitchFamily="18" charset="0"/>
            </a:endParaRPr>
          </a:p>
        </p:txBody>
      </p:sp>
      <p:sp>
        <p:nvSpPr>
          <p:cNvPr id="34844" name="文本框 34843"/>
          <p:cNvSpPr txBox="1"/>
          <p:nvPr/>
        </p:nvSpPr>
        <p:spPr>
          <a:xfrm>
            <a:off x="8370253" y="4303078"/>
            <a:ext cx="31908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i="1">
                <a:latin typeface="Times New Roman" panose="02020603050405020304" pitchFamily="18" charset="0"/>
              </a:rPr>
              <a:t>c</a:t>
            </a:r>
            <a:endParaRPr lang="en-US" altLang="zh-CN" i="1">
              <a:latin typeface="Times New Roman" panose="02020603050405020304" pitchFamily="18" charset="0"/>
            </a:endParaRPr>
          </a:p>
        </p:txBody>
      </p:sp>
      <p:sp>
        <p:nvSpPr>
          <p:cNvPr id="34845" name="文本框 34844"/>
          <p:cNvSpPr txBox="1"/>
          <p:nvPr/>
        </p:nvSpPr>
        <p:spPr>
          <a:xfrm>
            <a:off x="7693978" y="2536190"/>
            <a:ext cx="39528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i="1">
                <a:latin typeface="Times New Roman" panose="02020603050405020304" pitchFamily="18" charset="0"/>
                <a:sym typeface="EuroRoman" panose="00000400000000000000" pitchFamily="2" charset="2"/>
              </a:rPr>
              <a:t>c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</a:p>
        </p:txBody>
      </p:sp>
      <p:sp>
        <p:nvSpPr>
          <p:cNvPr id="34846" name="文本框 34845"/>
          <p:cNvSpPr txBox="1"/>
          <p:nvPr/>
        </p:nvSpPr>
        <p:spPr>
          <a:xfrm>
            <a:off x="8689340" y="2099628"/>
            <a:ext cx="4127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i="1">
                <a:latin typeface="Times New Roman" panose="02020603050405020304" pitchFamily="18" charset="0"/>
                <a:sym typeface="EuroRoman" panose="00000400000000000000" pitchFamily="2" charset="2"/>
              </a:rPr>
              <a:t>b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</a:p>
        </p:txBody>
      </p:sp>
      <p:sp>
        <p:nvSpPr>
          <p:cNvPr id="34847" name="文本框 34846"/>
          <p:cNvSpPr txBox="1"/>
          <p:nvPr/>
        </p:nvSpPr>
        <p:spPr>
          <a:xfrm>
            <a:off x="6931978" y="2893378"/>
            <a:ext cx="4127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i="1">
                <a:latin typeface="Times New Roman" panose="02020603050405020304" pitchFamily="18" charset="0"/>
                <a:sym typeface="EuroRoman" panose="00000400000000000000" pitchFamily="2" charset="2"/>
              </a:rPr>
              <a:t>a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</a:p>
        </p:txBody>
      </p:sp>
      <p:sp>
        <p:nvSpPr>
          <p:cNvPr id="34848" name="未知"/>
          <p:cNvSpPr/>
          <p:nvPr/>
        </p:nvSpPr>
        <p:spPr>
          <a:xfrm>
            <a:off x="7225665" y="3706178"/>
            <a:ext cx="784225" cy="968375"/>
          </a:xfrm>
          <a:custGeom>
            <a:avLst/>
            <a:gdLst/>
            <a:ahLst/>
            <a:cxnLst/>
            <a:rect l="0" t="0" r="0" b="0"/>
            <a:pathLst>
              <a:path w="432" h="519">
                <a:moveTo>
                  <a:pt x="0" y="0"/>
                </a:moveTo>
                <a:lnTo>
                  <a:pt x="432" y="519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849" name="未知"/>
          <p:cNvSpPr/>
          <p:nvPr/>
        </p:nvSpPr>
        <p:spPr>
          <a:xfrm>
            <a:off x="7997190" y="4190365"/>
            <a:ext cx="1588" cy="469900"/>
          </a:xfrm>
          <a:custGeom>
            <a:avLst/>
            <a:gdLst/>
            <a:ahLst/>
            <a:cxnLst/>
            <a:rect l="0" t="0" r="0" b="0"/>
            <a:pathLst>
              <a:path w="1" h="296">
                <a:moveTo>
                  <a:pt x="0" y="0"/>
                </a:moveTo>
                <a:lnTo>
                  <a:pt x="0" y="296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850" name="文本框 34849"/>
          <p:cNvSpPr txBox="1"/>
          <p:nvPr/>
        </p:nvSpPr>
        <p:spPr>
          <a:xfrm>
            <a:off x="7843203" y="4490403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endParaRPr lang="en-US" altLang="zh-CN" i="1">
              <a:latin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99234" y="364233"/>
            <a:ext cx="8069580" cy="64516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l"/>
            <a:r>
              <a:rPr lang="zh-CN" altLang="en-US" sz="3600" b="1" i="1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3.</a:t>
            </a:r>
            <a:r>
              <a:rPr lang="en-US" altLang="zh-CN" sz="3600" b="1" i="1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4.2 </a:t>
            </a:r>
            <a:r>
              <a:rPr lang="zh-CN" altLang="en-US" sz="3600" b="1" i="1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点与直线的相对位置及其投影特性</a:t>
            </a:r>
            <a:endParaRPr lang="zh-CN" altLang="en-US" sz="3600" b="1" i="1" dirty="0">
              <a:solidFill>
                <a:srgbClr val="0066CC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" fill="hold"/>
                                        <p:tgtEl>
                                          <p:spTgt spid="348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" fill="hold"/>
                                        <p:tgtEl>
                                          <p:spTgt spid="348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" fill="hold"/>
                                        <p:tgtEl>
                                          <p:spTgt spid="348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75" fill="hold"/>
                                        <p:tgtEl>
                                          <p:spTgt spid="348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75"/>
                                        <p:tgtEl>
                                          <p:spTgt spid="348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75" fill="hold"/>
                                        <p:tgtEl>
                                          <p:spTgt spid="348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" fill="hold"/>
                                        <p:tgtEl>
                                          <p:spTgt spid="348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9" grpId="0"/>
      <p:bldP spid="34820" grpId="0"/>
      <p:bldP spid="34822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文本框 35841"/>
          <p:cNvSpPr txBox="1"/>
          <p:nvPr/>
        </p:nvSpPr>
        <p:spPr>
          <a:xfrm>
            <a:off x="897890" y="624364"/>
            <a:ext cx="7924800" cy="36830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zh-CN" altLang="en-US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判断点</a:t>
            </a:r>
            <a:r>
              <a:rPr lang="en-US" altLang="zh-CN" i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是否在线段</a:t>
            </a:r>
            <a:r>
              <a:rPr lang="en-US" altLang="zh-CN" i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AB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上。</a:t>
            </a:r>
          </a:p>
        </p:txBody>
      </p:sp>
      <p:sp>
        <p:nvSpPr>
          <p:cNvPr id="35843" name="未知"/>
          <p:cNvSpPr/>
          <p:nvPr/>
        </p:nvSpPr>
        <p:spPr>
          <a:xfrm>
            <a:off x="2270443" y="3983990"/>
            <a:ext cx="1524000" cy="1588"/>
          </a:xfrm>
          <a:custGeom>
            <a:avLst/>
            <a:gdLst/>
            <a:ahLst/>
            <a:cxnLst/>
            <a:rect l="0" t="0" r="0" b="0"/>
            <a:pathLst>
              <a:path w="960" h="1">
                <a:moveTo>
                  <a:pt x="0" y="0"/>
                </a:moveTo>
                <a:lnTo>
                  <a:pt x="960" y="0"/>
                </a:lnTo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844" name="未知"/>
          <p:cNvSpPr/>
          <p:nvPr/>
        </p:nvSpPr>
        <p:spPr>
          <a:xfrm>
            <a:off x="2270443" y="4834890"/>
            <a:ext cx="2376487" cy="1588"/>
          </a:xfrm>
          <a:custGeom>
            <a:avLst/>
            <a:gdLst/>
            <a:ahLst/>
            <a:cxnLst/>
            <a:rect l="0" t="0" r="0" b="0"/>
            <a:pathLst>
              <a:path w="1497" h="1">
                <a:moveTo>
                  <a:pt x="0" y="0"/>
                </a:moveTo>
                <a:lnTo>
                  <a:pt x="1497" y="0"/>
                </a:lnTo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845" name="未知"/>
          <p:cNvSpPr/>
          <p:nvPr/>
        </p:nvSpPr>
        <p:spPr>
          <a:xfrm>
            <a:off x="2270443" y="2191703"/>
            <a:ext cx="1546225" cy="1587"/>
          </a:xfrm>
          <a:custGeom>
            <a:avLst/>
            <a:gdLst/>
            <a:ahLst/>
            <a:cxnLst/>
            <a:rect l="0" t="0" r="0" b="0"/>
            <a:pathLst>
              <a:path w="974" h="1">
                <a:moveTo>
                  <a:pt x="0" y="0"/>
                </a:moveTo>
                <a:lnTo>
                  <a:pt x="974" y="0"/>
                </a:lnTo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846" name="未知"/>
          <p:cNvSpPr/>
          <p:nvPr/>
        </p:nvSpPr>
        <p:spPr>
          <a:xfrm>
            <a:off x="2246630" y="3155315"/>
            <a:ext cx="2444750" cy="1588"/>
          </a:xfrm>
          <a:custGeom>
            <a:avLst/>
            <a:gdLst/>
            <a:ahLst/>
            <a:cxnLst/>
            <a:rect l="0" t="0" r="0" b="0"/>
            <a:pathLst>
              <a:path w="1540" h="1">
                <a:moveTo>
                  <a:pt x="0" y="0"/>
                </a:moveTo>
                <a:lnTo>
                  <a:pt x="1540" y="0"/>
                </a:lnTo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847" name="未知"/>
          <p:cNvSpPr/>
          <p:nvPr/>
        </p:nvSpPr>
        <p:spPr>
          <a:xfrm>
            <a:off x="4646930" y="3155315"/>
            <a:ext cx="1588" cy="1679575"/>
          </a:xfrm>
          <a:custGeom>
            <a:avLst/>
            <a:gdLst/>
            <a:ahLst/>
            <a:cxnLst/>
            <a:rect l="0" t="0" r="0" b="0"/>
            <a:pathLst>
              <a:path w="1" h="1058">
                <a:moveTo>
                  <a:pt x="0" y="0"/>
                </a:moveTo>
                <a:lnTo>
                  <a:pt x="0" y="1058"/>
                </a:ln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848" name="未知"/>
          <p:cNvSpPr/>
          <p:nvPr/>
        </p:nvSpPr>
        <p:spPr>
          <a:xfrm>
            <a:off x="3794443" y="2169478"/>
            <a:ext cx="852487" cy="985837"/>
          </a:xfrm>
          <a:custGeom>
            <a:avLst/>
            <a:gdLst/>
            <a:ahLst/>
            <a:cxnLst/>
            <a:rect l="0" t="0" r="0" b="0"/>
            <a:pathLst>
              <a:path w="537" h="621">
                <a:moveTo>
                  <a:pt x="537" y="621"/>
                </a:moveTo>
                <a:lnTo>
                  <a:pt x="0" y="0"/>
                </a:lnTo>
              </a:path>
            </a:pathLst>
          </a:custGeom>
          <a:noFill/>
          <a:ln w="3810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849" name="未知"/>
          <p:cNvSpPr/>
          <p:nvPr/>
        </p:nvSpPr>
        <p:spPr>
          <a:xfrm>
            <a:off x="3794443" y="2169478"/>
            <a:ext cx="1587" cy="1814512"/>
          </a:xfrm>
          <a:custGeom>
            <a:avLst/>
            <a:gdLst/>
            <a:ahLst/>
            <a:cxnLst/>
            <a:rect l="0" t="0" r="0" b="0"/>
            <a:pathLst>
              <a:path w="1" h="1143">
                <a:moveTo>
                  <a:pt x="0" y="0"/>
                </a:moveTo>
                <a:lnTo>
                  <a:pt x="0" y="1143"/>
                </a:ln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850" name="未知"/>
          <p:cNvSpPr/>
          <p:nvPr/>
        </p:nvSpPr>
        <p:spPr>
          <a:xfrm>
            <a:off x="2246630" y="4203065"/>
            <a:ext cx="1771650" cy="4763"/>
          </a:xfrm>
          <a:custGeom>
            <a:avLst/>
            <a:gdLst/>
            <a:ahLst/>
            <a:cxnLst/>
            <a:rect l="0" t="0" r="0" b="0"/>
            <a:pathLst>
              <a:path w="1116" h="3">
                <a:moveTo>
                  <a:pt x="0" y="0"/>
                </a:moveTo>
                <a:lnTo>
                  <a:pt x="1116" y="3"/>
                </a:lnTo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851" name="未知"/>
          <p:cNvSpPr/>
          <p:nvPr/>
        </p:nvSpPr>
        <p:spPr>
          <a:xfrm>
            <a:off x="2246630" y="2840990"/>
            <a:ext cx="1771650" cy="1588"/>
          </a:xfrm>
          <a:custGeom>
            <a:avLst/>
            <a:gdLst/>
            <a:ahLst/>
            <a:cxnLst/>
            <a:rect l="0" t="0" r="0" b="0"/>
            <a:pathLst>
              <a:path w="1116" h="1">
                <a:moveTo>
                  <a:pt x="0" y="1"/>
                </a:moveTo>
                <a:lnTo>
                  <a:pt x="1116" y="0"/>
                </a:lnTo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852" name="未知"/>
          <p:cNvSpPr/>
          <p:nvPr/>
        </p:nvSpPr>
        <p:spPr>
          <a:xfrm>
            <a:off x="4018280" y="2840990"/>
            <a:ext cx="1588" cy="1366838"/>
          </a:xfrm>
          <a:custGeom>
            <a:avLst/>
            <a:gdLst/>
            <a:ahLst/>
            <a:cxnLst/>
            <a:rect l="0" t="0" r="0" b="0"/>
            <a:pathLst>
              <a:path w="1" h="861">
                <a:moveTo>
                  <a:pt x="0" y="0"/>
                </a:moveTo>
                <a:lnTo>
                  <a:pt x="0" y="861"/>
                </a:ln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853" name="文本框 35852"/>
          <p:cNvSpPr txBox="1"/>
          <p:nvPr/>
        </p:nvSpPr>
        <p:spPr>
          <a:xfrm>
            <a:off x="3778568" y="1785303"/>
            <a:ext cx="461962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</a:t>
            </a:r>
            <a:endParaRPr lang="en-US" altLang="zh-CN" sz="2400" b="1" i="1">
              <a:latin typeface="Times New Roman" panose="02020603050405020304" pitchFamily="18" charset="0"/>
              <a:sym typeface="UniversalMath1 BT" panose="05050102010205020602" pitchFamily="18" charset="2"/>
            </a:endParaRPr>
          </a:p>
        </p:txBody>
      </p:sp>
      <p:sp>
        <p:nvSpPr>
          <p:cNvPr id="35854" name="文本框 35853"/>
          <p:cNvSpPr txBox="1"/>
          <p:nvPr/>
        </p:nvSpPr>
        <p:spPr>
          <a:xfrm>
            <a:off x="4646930" y="2842578"/>
            <a:ext cx="46196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i="1">
                <a:latin typeface="Times New Roman" panose="02020603050405020304" pitchFamily="18" charset="0"/>
              </a:rPr>
              <a:t>b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</a:t>
            </a:r>
          </a:p>
        </p:txBody>
      </p:sp>
      <p:grpSp>
        <p:nvGrpSpPr>
          <p:cNvPr id="35855" name="组合 35854"/>
          <p:cNvGrpSpPr/>
          <p:nvPr/>
        </p:nvGrpSpPr>
        <p:grpSpPr>
          <a:xfrm>
            <a:off x="3865880" y="2707640"/>
            <a:ext cx="561975" cy="457200"/>
            <a:chOff x="0" y="30"/>
            <a:chExt cx="354" cy="288"/>
          </a:xfrm>
        </p:grpSpPr>
        <p:sp>
          <p:nvSpPr>
            <p:cNvPr id="35856" name="文本框 35855"/>
            <p:cNvSpPr txBox="1"/>
            <p:nvPr/>
          </p:nvSpPr>
          <p:spPr>
            <a:xfrm>
              <a:off x="0" y="39"/>
              <a:ext cx="197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000" b="1">
                  <a:latin typeface="Times New Roman" panose="02020603050405020304" pitchFamily="18" charset="0"/>
                </a:rPr>
                <a:t>●</a:t>
              </a:r>
            </a:p>
          </p:txBody>
        </p:sp>
        <p:sp>
          <p:nvSpPr>
            <p:cNvPr id="35857" name="文本框 35856"/>
            <p:cNvSpPr txBox="1"/>
            <p:nvPr/>
          </p:nvSpPr>
          <p:spPr>
            <a:xfrm>
              <a:off x="63" y="30"/>
              <a:ext cx="29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k</a:t>
              </a:r>
              <a:r>
                <a:rPr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</a:t>
              </a:r>
            </a:p>
          </p:txBody>
        </p:sp>
      </p:grpSp>
      <p:sp>
        <p:nvSpPr>
          <p:cNvPr id="35858" name="文本框 35857"/>
          <p:cNvSpPr txBox="1"/>
          <p:nvPr/>
        </p:nvSpPr>
        <p:spPr>
          <a:xfrm>
            <a:off x="5766435" y="2476501"/>
            <a:ext cx="4323715" cy="30670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/>
          <a:p>
            <a:r>
              <a:rPr lang="zh-CN" altLang="en-US" sz="1400">
                <a:solidFill>
                  <a:srgbClr val="660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因</a:t>
            </a:r>
            <a:r>
              <a:rPr lang="en-US" altLang="zh-CN" sz="1400" i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</a:t>
            </a:r>
            <a:r>
              <a:rPr lang="en-US" altLang="zh-CN" sz="1400" i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</a:t>
            </a:r>
            <a:r>
              <a:rPr lang="zh-CN" altLang="en-US" sz="1400">
                <a:solidFill>
                  <a:srgbClr val="660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不在</a:t>
            </a:r>
            <a:r>
              <a:rPr lang="en-US" altLang="zh-CN" sz="1400" i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lang="en-US" altLang="zh-CN" sz="1400" i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</a:t>
            </a:r>
            <a:r>
              <a:rPr lang="en-US" altLang="zh-CN" sz="1400" i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UniversalMath1 BT" panose="05050102010205020602" pitchFamily="18" charset="2"/>
              </a:rPr>
              <a:t> </a:t>
            </a:r>
            <a:r>
              <a:rPr lang="en-US" altLang="zh-CN" sz="1400" i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</a:t>
            </a:r>
            <a:r>
              <a:rPr lang="en-US" altLang="zh-CN" sz="1400" i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</a:t>
            </a:r>
            <a:r>
              <a:rPr lang="en-US" altLang="zh-CN" sz="1400">
                <a:solidFill>
                  <a:srgbClr val="660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400">
                <a:solidFill>
                  <a:srgbClr val="660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上，故点</a:t>
            </a:r>
            <a:r>
              <a:rPr lang="en-US" altLang="zh-CN" sz="1400" i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</a:t>
            </a:r>
            <a:r>
              <a:rPr lang="zh-CN" altLang="en-US" sz="1400">
                <a:solidFill>
                  <a:srgbClr val="660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不在</a:t>
            </a:r>
            <a:r>
              <a:rPr lang="en-US" altLang="zh-CN" sz="1400" i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AB</a:t>
            </a:r>
            <a:r>
              <a:rPr lang="zh-CN" altLang="en-US" sz="1400">
                <a:solidFill>
                  <a:srgbClr val="660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上。</a:t>
            </a:r>
          </a:p>
        </p:txBody>
      </p:sp>
      <p:sp>
        <p:nvSpPr>
          <p:cNvPr id="35859" name="直接连接符 35858"/>
          <p:cNvSpPr/>
          <p:nvPr/>
        </p:nvSpPr>
        <p:spPr>
          <a:xfrm>
            <a:off x="1818005" y="3672840"/>
            <a:ext cx="3522663" cy="0"/>
          </a:xfrm>
          <a:prstGeom prst="line">
            <a:avLst/>
          </a:prstGeom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60" name="未知"/>
          <p:cNvSpPr/>
          <p:nvPr/>
        </p:nvSpPr>
        <p:spPr>
          <a:xfrm>
            <a:off x="3486468" y="2086928"/>
            <a:ext cx="1587" cy="2862262"/>
          </a:xfrm>
          <a:custGeom>
            <a:avLst/>
            <a:gdLst/>
            <a:ahLst/>
            <a:cxnLst/>
            <a:rect l="0" t="0" r="0" b="0"/>
            <a:pathLst>
              <a:path w="1" h="1803">
                <a:moveTo>
                  <a:pt x="0" y="0"/>
                </a:moveTo>
                <a:lnTo>
                  <a:pt x="0" y="1803"/>
                </a:lnTo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861" name="直接连接符 35860"/>
          <p:cNvSpPr/>
          <p:nvPr/>
        </p:nvSpPr>
        <p:spPr>
          <a:xfrm>
            <a:off x="2291080" y="2190115"/>
            <a:ext cx="0" cy="987425"/>
          </a:xfrm>
          <a:prstGeom prst="line">
            <a:avLst/>
          </a:prstGeom>
          <a:ln w="3810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62" name="直接连接符 35861"/>
          <p:cNvSpPr/>
          <p:nvPr/>
        </p:nvSpPr>
        <p:spPr>
          <a:xfrm>
            <a:off x="2291080" y="3177540"/>
            <a:ext cx="0" cy="823913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63" name="直接连接符 35862"/>
          <p:cNvSpPr/>
          <p:nvPr/>
        </p:nvSpPr>
        <p:spPr>
          <a:xfrm>
            <a:off x="2291080" y="4001453"/>
            <a:ext cx="0" cy="844550"/>
          </a:xfrm>
          <a:prstGeom prst="line">
            <a:avLst/>
          </a:prstGeom>
          <a:ln w="3810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64" name="文本框 35863"/>
          <p:cNvSpPr txBox="1"/>
          <p:nvPr/>
        </p:nvSpPr>
        <p:spPr>
          <a:xfrm>
            <a:off x="1951355" y="367284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35865" name="文本框 35864"/>
          <p:cNvSpPr txBox="1"/>
          <p:nvPr/>
        </p:nvSpPr>
        <p:spPr>
          <a:xfrm>
            <a:off x="2000568" y="4680903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i="1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35866" name="文本框 35865"/>
          <p:cNvSpPr txBox="1"/>
          <p:nvPr/>
        </p:nvSpPr>
        <p:spPr>
          <a:xfrm>
            <a:off x="1956118" y="3998278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i="1">
                <a:latin typeface="Times New Roman" panose="02020603050405020304" pitchFamily="18" charset="0"/>
              </a:rPr>
              <a:t>k</a:t>
            </a:r>
            <a:endParaRPr lang="en-US" altLang="zh-CN" sz="2800" b="1" i="1">
              <a:latin typeface="Times New Roman" panose="02020603050405020304" pitchFamily="18" charset="0"/>
            </a:endParaRPr>
          </a:p>
        </p:txBody>
      </p:sp>
      <p:sp>
        <p:nvSpPr>
          <p:cNvPr id="35867" name="文本框 35866"/>
          <p:cNvSpPr txBox="1"/>
          <p:nvPr/>
        </p:nvSpPr>
        <p:spPr>
          <a:xfrm>
            <a:off x="1827530" y="1874203"/>
            <a:ext cx="4127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i="1">
                <a:latin typeface="Times New Roman" panose="02020603050405020304" pitchFamily="18" charset="0"/>
                <a:sym typeface="EuroRoman" panose="00000400000000000000" pitchFamily="2" charset="2"/>
              </a:rPr>
              <a:t>a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</a:p>
        </p:txBody>
      </p:sp>
      <p:sp>
        <p:nvSpPr>
          <p:cNvPr id="35868" name="文本框 35867"/>
          <p:cNvSpPr txBox="1"/>
          <p:nvPr/>
        </p:nvSpPr>
        <p:spPr>
          <a:xfrm>
            <a:off x="1827530" y="2947353"/>
            <a:ext cx="4127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i="1">
                <a:latin typeface="Times New Roman" panose="02020603050405020304" pitchFamily="18" charset="0"/>
              </a:rPr>
              <a:t>b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</a:p>
        </p:txBody>
      </p:sp>
      <p:sp>
        <p:nvSpPr>
          <p:cNvPr id="35869" name="文本框 35868"/>
          <p:cNvSpPr txBox="1"/>
          <p:nvPr/>
        </p:nvSpPr>
        <p:spPr>
          <a:xfrm>
            <a:off x="1611630" y="2599690"/>
            <a:ext cx="808038" cy="45720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algn="ctr"/>
            <a:r>
              <a:rPr lang="en-US" altLang="zh-CN" sz="2400" b="1" i="1">
                <a:latin typeface="Times New Roman" panose="02020603050405020304" pitchFamily="18" charset="0"/>
              </a:rPr>
              <a:t>k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</a:p>
        </p:txBody>
      </p:sp>
      <p:grpSp>
        <p:nvGrpSpPr>
          <p:cNvPr id="35870" name="组合 35869"/>
          <p:cNvGrpSpPr/>
          <p:nvPr/>
        </p:nvGrpSpPr>
        <p:grpSpPr>
          <a:xfrm>
            <a:off x="2122805" y="2702878"/>
            <a:ext cx="314325" cy="1625600"/>
            <a:chOff x="0" y="0"/>
            <a:chExt cx="198" cy="1024"/>
          </a:xfrm>
        </p:grpSpPr>
        <p:sp>
          <p:nvSpPr>
            <p:cNvPr id="35871" name="文本框 35870"/>
            <p:cNvSpPr txBox="1"/>
            <p:nvPr/>
          </p:nvSpPr>
          <p:spPr>
            <a:xfrm>
              <a:off x="1" y="870"/>
              <a:ext cx="197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000" b="1">
                  <a:latin typeface="Times New Roman" panose="02020603050405020304" pitchFamily="18" charset="0"/>
                </a:rPr>
                <a:t>●</a:t>
              </a:r>
              <a:endParaRPr lang="zh-CN" altLang="en-US" b="1">
                <a:latin typeface="Times New Roman" panose="02020603050405020304" pitchFamily="18" charset="0"/>
              </a:endParaRPr>
            </a:p>
          </p:txBody>
        </p:sp>
        <p:sp>
          <p:nvSpPr>
            <p:cNvPr id="35872" name="文本框 35871"/>
            <p:cNvSpPr txBox="1"/>
            <p:nvPr/>
          </p:nvSpPr>
          <p:spPr>
            <a:xfrm>
              <a:off x="0" y="0"/>
              <a:ext cx="197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000" b="1">
                  <a:latin typeface="Times New Roman" panose="02020603050405020304" pitchFamily="18" charset="0"/>
                </a:rPr>
                <a:t>●</a:t>
              </a:r>
            </a:p>
          </p:txBody>
        </p:sp>
      </p:grpSp>
      <p:sp>
        <p:nvSpPr>
          <p:cNvPr id="35873" name="直接连接符 35872"/>
          <p:cNvSpPr/>
          <p:nvPr/>
        </p:nvSpPr>
        <p:spPr>
          <a:xfrm>
            <a:off x="3486468" y="3672840"/>
            <a:ext cx="1317625" cy="131762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78" name="文本框 35877"/>
          <p:cNvSpPr txBox="1"/>
          <p:nvPr/>
        </p:nvSpPr>
        <p:spPr>
          <a:xfrm>
            <a:off x="5766435" y="1917700"/>
            <a:ext cx="1692275" cy="3067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方法一：</a:t>
            </a:r>
          </a:p>
        </p:txBody>
      </p:sp>
      <p:grpSp>
        <p:nvGrpSpPr>
          <p:cNvPr id="35879" name="组合 35878"/>
          <p:cNvGrpSpPr/>
          <p:nvPr/>
        </p:nvGrpSpPr>
        <p:grpSpPr>
          <a:xfrm>
            <a:off x="5842000" y="4269105"/>
            <a:ext cx="5595938" cy="630238"/>
            <a:chOff x="0" y="83"/>
            <a:chExt cx="3525" cy="397"/>
          </a:xfrm>
        </p:grpSpPr>
        <p:sp>
          <p:nvSpPr>
            <p:cNvPr id="35881" name="文本框 35880"/>
            <p:cNvSpPr txBox="1"/>
            <p:nvPr/>
          </p:nvSpPr>
          <p:spPr>
            <a:xfrm>
              <a:off x="0" y="102"/>
              <a:ext cx="2903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lstStyle/>
            <a:p>
              <a:r>
                <a:rPr lang="zh-CN" altLang="en-US" sz="1400">
                  <a:solidFill>
                    <a:srgbClr val="6600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</a:t>
              </a:r>
              <a:r>
                <a:rPr lang="zh-CN" altLang="en-US" sz="14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定比性</a:t>
              </a:r>
              <a:r>
                <a:rPr lang="zh-CN" altLang="en-US" sz="1400">
                  <a:solidFill>
                    <a:srgbClr val="6600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</a:p>
          </p:txBody>
        </p:sp>
        <p:sp>
          <p:nvSpPr>
            <p:cNvPr id="35883" name="文本框 35882"/>
            <p:cNvSpPr txBox="1"/>
            <p:nvPr/>
          </p:nvSpPr>
          <p:spPr>
            <a:xfrm>
              <a:off x="894" y="83"/>
              <a:ext cx="2631" cy="39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sz="1400">
                  <a:solidFill>
                    <a:srgbClr val="6600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因 </a:t>
              </a:r>
              <a:r>
                <a:rPr lang="en-US" altLang="zh-CN" sz="1400" i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ak</a:t>
              </a:r>
              <a:r>
                <a:rPr lang="zh-CN" altLang="en-US" sz="1400" i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：</a:t>
              </a:r>
              <a:r>
                <a:rPr lang="en-US" altLang="zh-CN" sz="1400" i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kb≠ </a:t>
              </a:r>
              <a:r>
                <a:rPr lang="en-US" altLang="zh-CN" sz="1400" i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EuroRoman" panose="00000400000000000000" pitchFamily="2" charset="2"/>
                </a:rPr>
                <a:t>a</a:t>
              </a:r>
              <a:r>
                <a:rPr lang="en-US" altLang="zh-CN" sz="1400" i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Symbol" panose="05050102010706020507" pitchFamily="18" charset="2"/>
                </a:rPr>
                <a:t></a:t>
              </a:r>
              <a:r>
                <a:rPr lang="en-US" altLang="zh-CN" sz="1400" i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k</a:t>
              </a:r>
              <a:r>
                <a:rPr lang="en-US" altLang="zh-CN" sz="1400" i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Symbol" panose="05050102010706020507" pitchFamily="18" charset="2"/>
                </a:rPr>
                <a:t></a:t>
              </a:r>
              <a:r>
                <a:rPr lang="en-US" altLang="zh-CN" sz="1400" i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 </a:t>
              </a:r>
              <a:r>
                <a:rPr lang="zh-CN" altLang="en-US" sz="1400" i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：</a:t>
              </a:r>
              <a:r>
                <a:rPr lang="en-US" altLang="zh-CN" sz="1400" i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 k</a:t>
              </a:r>
              <a:r>
                <a:rPr lang="en-US" altLang="zh-CN" sz="1400" i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Symbol" panose="05050102010706020507" pitchFamily="18" charset="2"/>
                </a:rPr>
                <a:t></a:t>
              </a:r>
              <a:r>
                <a:rPr lang="en-US" altLang="zh-CN" sz="1400" i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b</a:t>
              </a:r>
              <a:r>
                <a:rPr lang="en-US" altLang="zh-CN" sz="1400" i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Symbol" panose="05050102010706020507" pitchFamily="18" charset="2"/>
                </a:rPr>
                <a:t></a:t>
              </a:r>
              <a:r>
                <a:rPr lang="zh-CN" altLang="en-US" sz="1400">
                  <a:solidFill>
                    <a:srgbClr val="6600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，</a:t>
              </a:r>
            </a:p>
            <a:p>
              <a:pPr algn="l">
                <a:spcBef>
                  <a:spcPct val="50000"/>
                </a:spcBef>
              </a:pPr>
              <a:r>
                <a:rPr lang="zh-CN" altLang="en-US" sz="1400">
                  <a:solidFill>
                    <a:srgbClr val="6600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所以点</a:t>
              </a:r>
              <a:r>
                <a:rPr lang="en-US" altLang="zh-CN" sz="1400" i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K</a:t>
              </a:r>
              <a:r>
                <a:rPr lang="zh-CN" altLang="en-US" sz="1400">
                  <a:solidFill>
                    <a:srgbClr val="6600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不在</a:t>
              </a:r>
              <a:r>
                <a:rPr lang="en-US" altLang="zh-CN" sz="1400" i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AB</a:t>
              </a:r>
              <a:r>
                <a:rPr lang="zh-CN" altLang="en-US" sz="1400">
                  <a:solidFill>
                    <a:srgbClr val="6600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上。</a:t>
              </a: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5828030" y="3884930"/>
            <a:ext cx="1692275" cy="3067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方法二：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5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5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5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75"/>
                                        <p:tgtEl>
                                          <p:spTgt spid="358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15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5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65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5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9150"/>
                            </p:stCondLst>
                            <p:childTnLst>
                              <p:par>
                                <p:cTn id="37" presetID="2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5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65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75"/>
                                        <p:tgtEl>
                                          <p:spTgt spid="358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18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5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33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5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48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5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6300"/>
                            </p:stCondLst>
                            <p:childTnLst>
                              <p:par>
                                <p:cTn id="57" presetID="2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35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7800"/>
                            </p:stCondLst>
                            <p:childTnLst>
                              <p:par>
                                <p:cTn id="61" presetID="23" presetClass="entr" presetSubtype="3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58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58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9" dur="500"/>
                                        <p:tgtEl>
                                          <p:spTgt spid="35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53" grpId="0" build="p" advAuto="1000"/>
      <p:bldP spid="35854" grpId="0" build="p" advAuto="1000"/>
      <p:bldP spid="35858" grpId="0"/>
      <p:bldP spid="35878" grpId="0"/>
      <p:bldP spid="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687169" y="558543"/>
            <a:ext cx="8526780" cy="64516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l"/>
            <a:r>
              <a:rPr lang="zh-CN" altLang="en-US" sz="3600" b="1" i="1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3.</a:t>
            </a:r>
            <a:r>
              <a:rPr lang="en-US" altLang="zh-CN" sz="3600" b="1" i="1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4.3 </a:t>
            </a:r>
            <a:r>
              <a:rPr lang="zh-CN" altLang="en-US" sz="3600" b="1" i="1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直线与直线的相对位置及其投影特性</a:t>
            </a:r>
            <a:endParaRPr lang="zh-CN" altLang="en-US" sz="3600" b="1" i="1" dirty="0">
              <a:solidFill>
                <a:srgbClr val="0066CC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571240" y="5425758"/>
            <a:ext cx="0" cy="0"/>
            <a:chOff x="0" y="0"/>
            <a:chExt cx="0" cy="0"/>
          </a:xfrm>
        </p:grpSpPr>
        <p:sp>
          <p:nvSpPr>
            <p:cNvPr id="4" name="直接连接符 3"/>
            <p:cNvSpPr/>
            <p:nvPr/>
          </p:nvSpPr>
          <p:spPr>
            <a:xfrm>
              <a:off x="0" y="0"/>
              <a:ext cx="0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" name="直接连接符 4"/>
            <p:cNvSpPr/>
            <p:nvPr/>
          </p:nvSpPr>
          <p:spPr>
            <a:xfrm>
              <a:off x="0" y="0"/>
              <a:ext cx="0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6" name="文本框 5"/>
          <p:cNvSpPr txBox="1"/>
          <p:nvPr/>
        </p:nvSpPr>
        <p:spPr>
          <a:xfrm>
            <a:off x="1428750" y="1715453"/>
            <a:ext cx="3376613" cy="36830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zh-CN" altLang="en-US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）两直线平行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793548" y="3806826"/>
            <a:ext cx="2786062" cy="30670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algn="l"/>
            <a:r>
              <a:rPr lang="zh-CN" altLang="en-US" sz="14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投影特性：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793548" y="4450716"/>
            <a:ext cx="3717925" cy="52197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algn="l"/>
            <a:r>
              <a:rPr lang="zh-CN" altLang="en-US" sz="14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空间两直线平行，则其各</a:t>
            </a:r>
            <a:r>
              <a:rPr lang="zh-CN" altLang="en-US" sz="140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同面投影</a:t>
            </a:r>
            <a:r>
              <a:rPr lang="zh-CN" altLang="en-US" sz="14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必相互平行，反之亦然。</a:t>
            </a:r>
          </a:p>
        </p:txBody>
      </p:sp>
      <p:grpSp>
        <p:nvGrpSpPr>
          <p:cNvPr id="36874" name="组合 36873"/>
          <p:cNvGrpSpPr/>
          <p:nvPr/>
        </p:nvGrpSpPr>
        <p:grpSpPr>
          <a:xfrm>
            <a:off x="2109153" y="2720658"/>
            <a:ext cx="4745037" cy="3484562"/>
            <a:chOff x="0" y="0"/>
            <a:chExt cx="2745" cy="1927"/>
          </a:xfrm>
        </p:grpSpPr>
        <p:grpSp>
          <p:nvGrpSpPr>
            <p:cNvPr id="36875" name="组合 36874"/>
            <p:cNvGrpSpPr/>
            <p:nvPr/>
          </p:nvGrpSpPr>
          <p:grpSpPr>
            <a:xfrm>
              <a:off x="0" y="0"/>
              <a:ext cx="2745" cy="1906"/>
              <a:chOff x="0" y="0"/>
              <a:chExt cx="2745" cy="1906"/>
            </a:xfrm>
          </p:grpSpPr>
          <p:sp>
            <p:nvSpPr>
              <p:cNvPr id="36876" name="平行四边形 36875"/>
              <p:cNvSpPr/>
              <p:nvPr/>
            </p:nvSpPr>
            <p:spPr>
              <a:xfrm flipH="1">
                <a:off x="2" y="1055"/>
                <a:ext cx="2743" cy="851"/>
              </a:xfrm>
              <a:prstGeom prst="parallelogram">
                <a:avLst>
                  <a:gd name="adj" fmla="val 80581"/>
                </a:avLst>
              </a:prstGeom>
              <a:noFill/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877" name="矩形 36876"/>
              <p:cNvSpPr/>
              <p:nvPr/>
            </p:nvSpPr>
            <p:spPr>
              <a:xfrm>
                <a:off x="0" y="0"/>
                <a:ext cx="2058" cy="1055"/>
              </a:xfrm>
              <a:prstGeom prst="rect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878" name="直接连接符 36877"/>
              <p:cNvSpPr/>
              <p:nvPr/>
            </p:nvSpPr>
            <p:spPr>
              <a:xfrm>
                <a:off x="484" y="1295"/>
                <a:ext cx="546" cy="370"/>
              </a:xfrm>
              <a:prstGeom prst="line">
                <a:avLst/>
              </a:prstGeom>
              <a:ln w="38100" cap="flat" cmpd="sng">
                <a:solidFill>
                  <a:srgbClr val="8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6879" name="直接连接符 36878"/>
              <p:cNvSpPr/>
              <p:nvPr/>
            </p:nvSpPr>
            <p:spPr>
              <a:xfrm flipH="1" flipV="1">
                <a:off x="644" y="1055"/>
                <a:ext cx="386" cy="61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6880" name="直接连接符 36879"/>
              <p:cNvSpPr/>
              <p:nvPr/>
            </p:nvSpPr>
            <p:spPr>
              <a:xfrm flipH="1" flipV="1">
                <a:off x="1226" y="1055"/>
                <a:ext cx="236" cy="377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6881" name="未知"/>
              <p:cNvSpPr/>
              <p:nvPr/>
            </p:nvSpPr>
            <p:spPr>
              <a:xfrm>
                <a:off x="1538" y="1042"/>
                <a:ext cx="440" cy="723"/>
              </a:xfrm>
              <a:custGeom>
                <a:avLst/>
                <a:gdLst/>
                <a:ahLst/>
                <a:cxnLst/>
                <a:rect l="0" t="0" r="0" b="0"/>
                <a:pathLst>
                  <a:path w="440" h="723">
                    <a:moveTo>
                      <a:pt x="440" y="723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882" name="直接连接符 36881"/>
              <p:cNvSpPr/>
              <p:nvPr/>
            </p:nvSpPr>
            <p:spPr>
              <a:xfrm flipV="1">
                <a:off x="644" y="222"/>
                <a:ext cx="0" cy="833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6883" name="直接连接符 36882"/>
              <p:cNvSpPr/>
              <p:nvPr/>
            </p:nvSpPr>
            <p:spPr>
              <a:xfrm flipH="1">
                <a:off x="333" y="222"/>
                <a:ext cx="311" cy="286"/>
              </a:xfrm>
              <a:prstGeom prst="line">
                <a:avLst/>
              </a:prstGeom>
              <a:ln w="38100" cap="flat" cmpd="sng">
                <a:solidFill>
                  <a:srgbClr val="8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6884" name="未知"/>
              <p:cNvSpPr/>
              <p:nvPr/>
            </p:nvSpPr>
            <p:spPr>
              <a:xfrm>
                <a:off x="1226" y="684"/>
                <a:ext cx="4" cy="371"/>
              </a:xfrm>
              <a:custGeom>
                <a:avLst/>
                <a:gdLst/>
                <a:ahLst/>
                <a:cxnLst/>
                <a:rect l="0" t="0" r="0" b="0"/>
                <a:pathLst>
                  <a:path w="3" h="260">
                    <a:moveTo>
                      <a:pt x="0" y="260"/>
                    </a:moveTo>
                    <a:lnTo>
                      <a:pt x="3" y="0"/>
                    </a:lnTo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885" name="直接连接符 36884"/>
              <p:cNvSpPr/>
              <p:nvPr/>
            </p:nvSpPr>
            <p:spPr>
              <a:xfrm flipH="1">
                <a:off x="1224" y="401"/>
                <a:ext cx="311" cy="285"/>
              </a:xfrm>
              <a:prstGeom prst="line">
                <a:avLst/>
              </a:prstGeom>
              <a:ln w="38100" cap="flat" cmpd="sng">
                <a:solidFill>
                  <a:srgbClr val="000099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6886" name="直接连接符 36885"/>
              <p:cNvSpPr/>
              <p:nvPr/>
            </p:nvSpPr>
            <p:spPr>
              <a:xfrm flipH="1">
                <a:off x="484" y="576"/>
                <a:ext cx="546" cy="136"/>
              </a:xfrm>
              <a:prstGeom prst="line">
                <a:avLst/>
              </a:prstGeom>
              <a:ln w="38100" cap="flat" cmpd="sng">
                <a:solidFill>
                  <a:srgbClr val="8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6887" name="直接连接符 36886"/>
              <p:cNvSpPr/>
              <p:nvPr/>
            </p:nvSpPr>
            <p:spPr>
              <a:xfrm flipH="1">
                <a:off x="1456" y="898"/>
                <a:ext cx="546" cy="136"/>
              </a:xfrm>
              <a:prstGeom prst="line">
                <a:avLst/>
              </a:prstGeom>
              <a:ln w="38100" cap="flat" cmpd="sng">
                <a:solidFill>
                  <a:srgbClr val="000099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6888" name="直接连接符 36887"/>
              <p:cNvSpPr/>
              <p:nvPr/>
            </p:nvSpPr>
            <p:spPr>
              <a:xfrm>
                <a:off x="1537" y="415"/>
                <a:ext cx="451" cy="483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6889" name="直接连接符 36888"/>
              <p:cNvSpPr/>
              <p:nvPr/>
            </p:nvSpPr>
            <p:spPr>
              <a:xfrm>
                <a:off x="1030" y="576"/>
                <a:ext cx="0" cy="1089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6890" name="文本框 36889"/>
              <p:cNvSpPr txBox="1"/>
              <p:nvPr/>
            </p:nvSpPr>
            <p:spPr>
              <a:xfrm>
                <a:off x="332" y="1196"/>
                <a:ext cx="195" cy="25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2400" b="1" i="1">
                    <a:latin typeface="Times New Roman" panose="02020603050405020304" pitchFamily="18" charset="0"/>
                  </a:rPr>
                  <a:t>a</a:t>
                </a:r>
                <a:endParaRPr lang="en-US" altLang="zh-CN" b="1" i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6891" name="文本框 36890"/>
              <p:cNvSpPr txBox="1"/>
              <p:nvPr/>
            </p:nvSpPr>
            <p:spPr>
              <a:xfrm>
                <a:off x="1773" y="38"/>
                <a:ext cx="224" cy="25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2400" b="1" i="1">
                    <a:latin typeface="Times New Roman" panose="02020603050405020304" pitchFamily="18" charset="0"/>
                  </a:rPr>
                  <a:t>V</a:t>
                </a:r>
                <a:endParaRPr lang="en-US" altLang="zh-CN" b="1" i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6892" name="文本框 36891"/>
              <p:cNvSpPr txBox="1"/>
              <p:nvPr/>
            </p:nvSpPr>
            <p:spPr>
              <a:xfrm>
                <a:off x="2319" y="1614"/>
                <a:ext cx="243" cy="25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2400" b="1" i="1">
                    <a:latin typeface="Times New Roman" panose="02020603050405020304" pitchFamily="18" charset="0"/>
                  </a:rPr>
                  <a:t>H</a:t>
                </a:r>
              </a:p>
            </p:txBody>
          </p:sp>
        </p:grpSp>
        <p:grpSp>
          <p:nvGrpSpPr>
            <p:cNvPr id="36893" name="组合 36892"/>
            <p:cNvGrpSpPr/>
            <p:nvPr/>
          </p:nvGrpSpPr>
          <p:grpSpPr>
            <a:xfrm>
              <a:off x="174" y="30"/>
              <a:ext cx="2043" cy="1897"/>
              <a:chOff x="0" y="0"/>
              <a:chExt cx="2043" cy="1897"/>
            </a:xfrm>
          </p:grpSpPr>
          <p:sp>
            <p:nvSpPr>
              <p:cNvPr id="36894" name="文本框 36893"/>
              <p:cNvSpPr txBox="1"/>
              <p:nvPr/>
            </p:nvSpPr>
            <p:spPr>
              <a:xfrm>
                <a:off x="887" y="498"/>
                <a:ext cx="228" cy="25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2400" b="1" i="1">
                    <a:latin typeface="Times New Roman" panose="02020603050405020304" pitchFamily="18" charset="0"/>
                    <a:sym typeface="EuroRoman" panose="00000400000000000000" pitchFamily="2" charset="2"/>
                  </a:rPr>
                  <a:t>c</a:t>
                </a:r>
                <a:r>
                  <a:rPr lang="en-US" altLang="zh-CN" sz="2400" b="1" i="1">
                    <a:latin typeface="Times New Roman" panose="02020603050405020304" pitchFamily="18" charset="0"/>
                    <a:sym typeface="Symbol" panose="05050102010706020507" pitchFamily="18" charset="2"/>
                  </a:rPr>
                  <a:t></a:t>
                </a:r>
              </a:p>
            </p:txBody>
          </p:sp>
          <p:grpSp>
            <p:nvGrpSpPr>
              <p:cNvPr id="36895" name="组合 36894"/>
              <p:cNvGrpSpPr/>
              <p:nvPr/>
            </p:nvGrpSpPr>
            <p:grpSpPr>
              <a:xfrm>
                <a:off x="0" y="0"/>
                <a:ext cx="2043" cy="1897"/>
                <a:chOff x="0" y="0"/>
                <a:chExt cx="2043" cy="1897"/>
              </a:xfrm>
            </p:grpSpPr>
            <p:sp>
              <p:nvSpPr>
                <p:cNvPr id="36896" name="直接连接符 36895"/>
                <p:cNvSpPr/>
                <p:nvPr/>
              </p:nvSpPr>
              <p:spPr>
                <a:xfrm>
                  <a:off x="1288" y="1402"/>
                  <a:ext cx="546" cy="370"/>
                </a:xfrm>
                <a:prstGeom prst="line">
                  <a:avLst/>
                </a:prstGeom>
                <a:ln w="38100" cap="flat" cmpd="sng">
                  <a:solidFill>
                    <a:srgbClr val="000099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6897" name="直接连接符 36896"/>
                <p:cNvSpPr/>
                <p:nvPr/>
              </p:nvSpPr>
              <p:spPr>
                <a:xfrm flipH="1" flipV="1">
                  <a:off x="159" y="1025"/>
                  <a:ext cx="151" cy="24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6898" name="直接连接符 36897"/>
                <p:cNvSpPr/>
                <p:nvPr/>
              </p:nvSpPr>
              <p:spPr>
                <a:xfrm>
                  <a:off x="159" y="478"/>
                  <a:ext cx="0" cy="547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6899" name="直接连接符 36898"/>
                <p:cNvSpPr/>
                <p:nvPr/>
              </p:nvSpPr>
              <p:spPr>
                <a:xfrm flipV="1">
                  <a:off x="1363" y="385"/>
                  <a:ext cx="0" cy="64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6900" name="直接连接符 36899"/>
                <p:cNvSpPr/>
                <p:nvPr/>
              </p:nvSpPr>
              <p:spPr>
                <a:xfrm flipV="1">
                  <a:off x="310" y="670"/>
                  <a:ext cx="0" cy="595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6901" name="未知"/>
                <p:cNvSpPr/>
                <p:nvPr/>
              </p:nvSpPr>
              <p:spPr>
                <a:xfrm>
                  <a:off x="159" y="478"/>
                  <a:ext cx="176" cy="213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76" h="213">
                      <a:moveTo>
                        <a:pt x="0" y="0"/>
                      </a:moveTo>
                      <a:lnTo>
                        <a:pt x="176" y="213"/>
                      </a:lnTo>
                    </a:path>
                  </a:pathLst>
                </a:custGeom>
                <a:noFill/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902" name="直接连接符 36901"/>
                <p:cNvSpPr/>
                <p:nvPr/>
              </p:nvSpPr>
              <p:spPr>
                <a:xfrm>
                  <a:off x="470" y="192"/>
                  <a:ext cx="386" cy="354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6903" name="直接连接符 36902"/>
                <p:cNvSpPr/>
                <p:nvPr/>
              </p:nvSpPr>
              <p:spPr>
                <a:xfrm>
                  <a:off x="1056" y="654"/>
                  <a:ext cx="232" cy="371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6904" name="直接连接符 36903"/>
                <p:cNvSpPr/>
                <p:nvPr/>
              </p:nvSpPr>
              <p:spPr>
                <a:xfrm flipV="1">
                  <a:off x="1288" y="1025"/>
                  <a:ext cx="0" cy="377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6905" name="直接连接符 36904"/>
                <p:cNvSpPr/>
                <p:nvPr/>
              </p:nvSpPr>
              <p:spPr>
                <a:xfrm>
                  <a:off x="1828" y="868"/>
                  <a:ext cx="0" cy="904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6906" name="文本框 36905"/>
                <p:cNvSpPr txBox="1"/>
                <p:nvPr/>
              </p:nvSpPr>
              <p:spPr>
                <a:xfrm>
                  <a:off x="858" y="1519"/>
                  <a:ext cx="205" cy="25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 altLang="zh-CN" sz="2400" b="1">
                      <a:latin typeface="Times New Roman" panose="02020603050405020304" pitchFamily="18" charset="0"/>
                    </a:rPr>
                    <a:t>b</a:t>
                  </a:r>
                </a:p>
              </p:txBody>
            </p:sp>
            <p:sp>
              <p:nvSpPr>
                <p:cNvPr id="36907" name="文本框 36906"/>
                <p:cNvSpPr txBox="1"/>
                <p:nvPr/>
              </p:nvSpPr>
              <p:spPr>
                <a:xfrm>
                  <a:off x="1129" y="1325"/>
                  <a:ext cx="185" cy="25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 altLang="zh-CN" sz="2400" b="1" i="1">
                      <a:latin typeface="Times New Roman" panose="02020603050405020304" pitchFamily="18" charset="0"/>
                    </a:rPr>
                    <a:t>c</a:t>
                  </a:r>
                </a:p>
              </p:txBody>
            </p:sp>
            <p:sp>
              <p:nvSpPr>
                <p:cNvPr id="36908" name="文本框 36907"/>
                <p:cNvSpPr txBox="1"/>
                <p:nvPr/>
              </p:nvSpPr>
              <p:spPr>
                <a:xfrm>
                  <a:off x="1849" y="1644"/>
                  <a:ext cx="194" cy="25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 altLang="zh-CN" sz="2400" b="1" i="1">
                      <a:latin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36909" name="文本框 36908"/>
                <p:cNvSpPr txBox="1"/>
                <p:nvPr/>
              </p:nvSpPr>
              <p:spPr>
                <a:xfrm>
                  <a:off x="297" y="636"/>
                  <a:ext cx="224" cy="25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 altLang="zh-CN" sz="2400" b="1" i="1">
                      <a:latin typeface="Times New Roman" panose="02020603050405020304" pitchFamily="18" charset="0"/>
                    </a:rPr>
                    <a:t>A</a:t>
                  </a:r>
                  <a:endParaRPr lang="en-US" altLang="zh-CN" b="1" i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910" name="文本框 36909"/>
                <p:cNvSpPr txBox="1"/>
                <p:nvPr/>
              </p:nvSpPr>
              <p:spPr>
                <a:xfrm>
                  <a:off x="827" y="364"/>
                  <a:ext cx="224" cy="25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 altLang="zh-CN" sz="2400" b="1" i="1">
                      <a:latin typeface="Times New Roman" panose="02020603050405020304" pitchFamily="18" charset="0"/>
                    </a:rPr>
                    <a:t>B</a:t>
                  </a:r>
                </a:p>
              </p:txBody>
            </p:sp>
            <p:sp>
              <p:nvSpPr>
                <p:cNvPr id="36911" name="文本框 36910"/>
                <p:cNvSpPr txBox="1"/>
                <p:nvPr/>
              </p:nvSpPr>
              <p:spPr>
                <a:xfrm>
                  <a:off x="1194" y="766"/>
                  <a:ext cx="224" cy="25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 altLang="zh-CN" sz="2400" b="1" i="1">
                      <a:latin typeface="Times New Roman" panose="02020603050405020304" pitchFamily="18" charset="0"/>
                    </a:rPr>
                    <a:t>C</a:t>
                  </a:r>
                  <a:endParaRPr lang="en-US" altLang="zh-CN" b="1" i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912" name="文本框 36911"/>
                <p:cNvSpPr txBox="1"/>
                <p:nvPr/>
              </p:nvSpPr>
              <p:spPr>
                <a:xfrm>
                  <a:off x="1807" y="708"/>
                  <a:ext cx="234" cy="25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 altLang="zh-CN" sz="2400" b="1" i="1">
                      <a:latin typeface="Times New Roman" panose="02020603050405020304" pitchFamily="18" charset="0"/>
                    </a:rPr>
                    <a:t>D</a:t>
                  </a:r>
                  <a:endParaRPr lang="en-US" altLang="zh-CN" b="1" i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913" name="文本框 36912"/>
                <p:cNvSpPr txBox="1"/>
                <p:nvPr/>
              </p:nvSpPr>
              <p:spPr>
                <a:xfrm>
                  <a:off x="462" y="0"/>
                  <a:ext cx="238" cy="25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 altLang="zh-CN" sz="2400" b="1" i="1">
                      <a:latin typeface="Times New Roman" panose="02020603050405020304" pitchFamily="18" charset="0"/>
                    </a:rPr>
                    <a:t>b</a:t>
                  </a:r>
                  <a:r>
                    <a:rPr lang="en-US" altLang="zh-CN" sz="2400" b="1" i="1"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</a:t>
                  </a:r>
                </a:p>
              </p:txBody>
            </p:sp>
            <p:sp>
              <p:nvSpPr>
                <p:cNvPr id="36914" name="文本框 36913"/>
                <p:cNvSpPr txBox="1"/>
                <p:nvPr/>
              </p:nvSpPr>
              <p:spPr>
                <a:xfrm>
                  <a:off x="1350" y="170"/>
                  <a:ext cx="239" cy="25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 altLang="zh-CN" sz="2400" b="1" i="1">
                      <a:latin typeface="Times New Roman" panose="02020603050405020304" pitchFamily="18" charset="0"/>
                      <a:sym typeface="EuroRoman" panose="00000400000000000000" pitchFamily="2" charset="2"/>
                    </a:rPr>
                    <a:t>d</a:t>
                  </a:r>
                  <a:r>
                    <a:rPr lang="en-US" altLang="zh-CN" sz="2400" b="1" i="1"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</a:t>
                  </a:r>
                </a:p>
              </p:txBody>
            </p:sp>
            <p:sp>
              <p:nvSpPr>
                <p:cNvPr id="36915" name="文本框 36914"/>
                <p:cNvSpPr txBox="1"/>
                <p:nvPr/>
              </p:nvSpPr>
              <p:spPr>
                <a:xfrm>
                  <a:off x="0" y="301"/>
                  <a:ext cx="239" cy="25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 altLang="zh-CN" sz="2400" b="1" i="1">
                      <a:latin typeface="Times New Roman" panose="02020603050405020304" pitchFamily="18" charset="0"/>
                      <a:sym typeface="EuroRoman" panose="00000400000000000000" pitchFamily="2" charset="2"/>
                    </a:rPr>
                    <a:t>a</a:t>
                  </a:r>
                  <a:r>
                    <a:rPr lang="en-US" altLang="zh-CN" sz="2400" b="1" i="1"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</a:t>
                  </a:r>
                  <a:endParaRPr lang="en-US" altLang="zh-CN" sz="2400" b="1" i="1">
                    <a:latin typeface="Times New Roman" panose="02020603050405020304" pitchFamily="18" charset="0"/>
                    <a:sym typeface="UniversalMath1 BT" panose="05050102010205020602" pitchFamily="18" charset="2"/>
                  </a:endParaRPr>
                </a:p>
              </p:txBody>
            </p:sp>
          </p:grp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5" dur="500"/>
                                        <p:tgtEl>
                                          <p:spTgt spid="36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09" name="文本框 37908"/>
          <p:cNvSpPr txBox="1"/>
          <p:nvPr/>
        </p:nvSpPr>
        <p:spPr>
          <a:xfrm>
            <a:off x="1301115" y="875189"/>
            <a:ext cx="7343775" cy="36830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zh-CN" altLang="en-US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判断图中两条直线是否平行。</a:t>
            </a:r>
          </a:p>
        </p:txBody>
      </p:sp>
      <p:sp>
        <p:nvSpPr>
          <p:cNvPr id="37911" name="文本框 37910"/>
          <p:cNvSpPr txBox="1"/>
          <p:nvPr/>
        </p:nvSpPr>
        <p:spPr>
          <a:xfrm>
            <a:off x="6084570" y="3392171"/>
            <a:ext cx="3086100" cy="30670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zh-CN" alt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故：</a:t>
            </a:r>
            <a:r>
              <a:rPr lang="en-US" altLang="zh-CN" sz="1400" i="1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AB//CD</a:t>
            </a:r>
          </a:p>
        </p:txBody>
      </p:sp>
      <p:sp>
        <p:nvSpPr>
          <p:cNvPr id="37912" name="文本框 37911"/>
          <p:cNvSpPr txBox="1"/>
          <p:nvPr/>
        </p:nvSpPr>
        <p:spPr>
          <a:xfrm>
            <a:off x="6084253" y="2488566"/>
            <a:ext cx="4500562" cy="52197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zh-CN" altLang="en-US" sz="14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对于</a:t>
            </a:r>
            <a:r>
              <a:rPr lang="zh-CN" altLang="en-US" sz="140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一般位置直线</a:t>
            </a:r>
            <a:r>
              <a:rPr lang="zh-CN" altLang="en-US" sz="14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，只要有</a:t>
            </a:r>
            <a:r>
              <a:rPr lang="zh-CN" altLang="en-US" sz="140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两个</a:t>
            </a:r>
            <a:r>
              <a:rPr lang="zh-CN" altLang="en-US" sz="14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同名投影</a:t>
            </a:r>
            <a:r>
              <a:rPr lang="zh-CN" altLang="en-US" sz="140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互相平行</a:t>
            </a:r>
            <a:r>
              <a:rPr lang="zh-CN" altLang="en-US" sz="14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，空间两直线就</a:t>
            </a:r>
            <a:r>
              <a:rPr lang="zh-CN" altLang="en-US" sz="140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平行</a:t>
            </a:r>
            <a:r>
              <a:rPr lang="zh-CN" altLang="en-US" sz="14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</a:p>
        </p:txBody>
      </p:sp>
      <p:grpSp>
        <p:nvGrpSpPr>
          <p:cNvPr id="37890" name="组合 37889"/>
          <p:cNvGrpSpPr/>
          <p:nvPr/>
        </p:nvGrpSpPr>
        <p:grpSpPr>
          <a:xfrm>
            <a:off x="1620203" y="1584643"/>
            <a:ext cx="4176712" cy="4217987"/>
            <a:chOff x="0" y="0"/>
            <a:chExt cx="1895" cy="1740"/>
          </a:xfrm>
        </p:grpSpPr>
        <p:sp>
          <p:nvSpPr>
            <p:cNvPr id="37891" name="直接连接符 37890"/>
            <p:cNvSpPr/>
            <p:nvPr/>
          </p:nvSpPr>
          <p:spPr>
            <a:xfrm>
              <a:off x="374" y="654"/>
              <a:ext cx="0" cy="597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892" name="直接连接符 37891"/>
            <p:cNvSpPr/>
            <p:nvPr/>
          </p:nvSpPr>
          <p:spPr>
            <a:xfrm>
              <a:off x="1003" y="880"/>
              <a:ext cx="0" cy="37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893" name="直接连接符 37892"/>
            <p:cNvSpPr/>
            <p:nvPr/>
          </p:nvSpPr>
          <p:spPr>
            <a:xfrm flipV="1">
              <a:off x="1521" y="335"/>
              <a:ext cx="0" cy="123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37894" name="组合 37893"/>
            <p:cNvGrpSpPr/>
            <p:nvPr/>
          </p:nvGrpSpPr>
          <p:grpSpPr>
            <a:xfrm>
              <a:off x="0" y="0"/>
              <a:ext cx="1895" cy="1740"/>
              <a:chOff x="0" y="0"/>
              <a:chExt cx="1895" cy="1740"/>
            </a:xfrm>
          </p:grpSpPr>
          <p:sp>
            <p:nvSpPr>
              <p:cNvPr id="37895" name="直接连接符 37894"/>
              <p:cNvSpPr/>
              <p:nvPr/>
            </p:nvSpPr>
            <p:spPr>
              <a:xfrm>
                <a:off x="0" y="965"/>
                <a:ext cx="1895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7896" name="直接连接符 37895"/>
              <p:cNvSpPr/>
              <p:nvPr/>
            </p:nvSpPr>
            <p:spPr>
              <a:xfrm flipV="1">
                <a:off x="363" y="122"/>
                <a:ext cx="532" cy="532"/>
              </a:xfrm>
              <a:prstGeom prst="line">
                <a:avLst/>
              </a:prstGeom>
              <a:ln w="38100" cap="flat" cmpd="sng">
                <a:solidFill>
                  <a:srgbClr val="000099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7897" name="直接连接符 37896"/>
              <p:cNvSpPr/>
              <p:nvPr/>
            </p:nvSpPr>
            <p:spPr>
              <a:xfrm flipV="1">
                <a:off x="992" y="348"/>
                <a:ext cx="532" cy="532"/>
              </a:xfrm>
              <a:prstGeom prst="line">
                <a:avLst/>
              </a:prstGeom>
              <a:ln w="38100" cap="flat" cmpd="sng">
                <a:solidFill>
                  <a:srgbClr val="8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7898" name="直接连接符 37897"/>
              <p:cNvSpPr/>
              <p:nvPr/>
            </p:nvSpPr>
            <p:spPr>
              <a:xfrm>
                <a:off x="895" y="113"/>
                <a:ext cx="0" cy="144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7899" name="直接连接符 37898"/>
              <p:cNvSpPr/>
              <p:nvPr/>
            </p:nvSpPr>
            <p:spPr>
              <a:xfrm>
                <a:off x="363" y="1251"/>
                <a:ext cx="532" cy="311"/>
              </a:xfrm>
              <a:prstGeom prst="line">
                <a:avLst/>
              </a:prstGeom>
              <a:ln w="38100" cap="flat" cmpd="sng">
                <a:solidFill>
                  <a:srgbClr val="000099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7900" name="直接连接符 37899"/>
              <p:cNvSpPr/>
              <p:nvPr/>
            </p:nvSpPr>
            <p:spPr>
              <a:xfrm>
                <a:off x="992" y="1256"/>
                <a:ext cx="532" cy="311"/>
              </a:xfrm>
              <a:prstGeom prst="line">
                <a:avLst/>
              </a:prstGeom>
              <a:ln w="38100" cap="flat" cmpd="sng">
                <a:solidFill>
                  <a:srgbClr val="8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7901" name="文本框 37900"/>
              <p:cNvSpPr txBox="1"/>
              <p:nvPr/>
            </p:nvSpPr>
            <p:spPr>
              <a:xfrm>
                <a:off x="201" y="1173"/>
                <a:ext cx="153" cy="18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2400" b="1" i="1">
                    <a:latin typeface="Times New Roman" panose="02020603050405020304" pitchFamily="18" charset="0"/>
                  </a:rPr>
                  <a:t>a</a:t>
                </a:r>
                <a:endParaRPr lang="en-US" altLang="zh-CN" sz="2400" i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902" name="文本框 37901"/>
              <p:cNvSpPr txBox="1"/>
              <p:nvPr/>
            </p:nvSpPr>
            <p:spPr>
              <a:xfrm>
                <a:off x="856" y="1551"/>
                <a:ext cx="152" cy="18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2400" b="1" i="1">
                    <a:latin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37903" name="文本框 37902"/>
              <p:cNvSpPr txBox="1"/>
              <p:nvPr/>
            </p:nvSpPr>
            <p:spPr>
              <a:xfrm>
                <a:off x="897" y="1213"/>
                <a:ext cx="144" cy="1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2400" b="1" i="1">
                    <a:latin typeface="Times New Roman" panose="02020603050405020304" pitchFamily="18" charset="0"/>
                  </a:rPr>
                  <a:t>c</a:t>
                </a:r>
              </a:p>
            </p:txBody>
          </p:sp>
          <p:sp>
            <p:nvSpPr>
              <p:cNvPr id="37904" name="文本框 37903"/>
              <p:cNvSpPr txBox="1"/>
              <p:nvPr/>
            </p:nvSpPr>
            <p:spPr>
              <a:xfrm>
                <a:off x="1453" y="1552"/>
                <a:ext cx="152" cy="1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2400" b="1" i="1">
                    <a:latin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37905" name="文本框 37904"/>
              <p:cNvSpPr txBox="1"/>
              <p:nvPr/>
            </p:nvSpPr>
            <p:spPr>
              <a:xfrm>
                <a:off x="897" y="684"/>
                <a:ext cx="180" cy="1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2400" b="1" i="1">
                    <a:latin typeface="Times New Roman" panose="02020603050405020304" pitchFamily="18" charset="0"/>
                    <a:sym typeface="EuroRoman" panose="00000400000000000000" pitchFamily="2" charset="2"/>
                  </a:rPr>
                  <a:t>c</a:t>
                </a:r>
                <a:r>
                  <a:rPr lang="en-US" altLang="zh-CN" sz="2400" b="1" i="1">
                    <a:latin typeface="Times New Roman" panose="02020603050405020304" pitchFamily="18" charset="0"/>
                    <a:sym typeface="Symbol" panose="05050102010706020507" pitchFamily="18" charset="2"/>
                  </a:rPr>
                  <a:t></a:t>
                </a:r>
              </a:p>
            </p:txBody>
          </p:sp>
          <p:sp>
            <p:nvSpPr>
              <p:cNvPr id="37906" name="文本框 37905"/>
              <p:cNvSpPr txBox="1"/>
              <p:nvPr/>
            </p:nvSpPr>
            <p:spPr>
              <a:xfrm>
                <a:off x="228" y="515"/>
                <a:ext cx="187" cy="1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2400" b="1" i="1">
                    <a:latin typeface="Times New Roman" panose="02020603050405020304" pitchFamily="18" charset="0"/>
                    <a:sym typeface="EuroRoman" panose="00000400000000000000" pitchFamily="2" charset="2"/>
                  </a:rPr>
                  <a:t>a</a:t>
                </a:r>
                <a:r>
                  <a:rPr lang="en-US" altLang="zh-CN" sz="2400" b="1" i="1">
                    <a:latin typeface="Times New Roman" panose="02020603050405020304" pitchFamily="18" charset="0"/>
                    <a:sym typeface="Symbol" panose="05050102010706020507" pitchFamily="18" charset="2"/>
                  </a:rPr>
                  <a:t></a:t>
                </a:r>
              </a:p>
            </p:txBody>
          </p:sp>
          <p:sp>
            <p:nvSpPr>
              <p:cNvPr id="37907" name="文本框 37906"/>
              <p:cNvSpPr txBox="1"/>
              <p:nvPr/>
            </p:nvSpPr>
            <p:spPr>
              <a:xfrm>
                <a:off x="743" y="0"/>
                <a:ext cx="195" cy="18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2400" b="1">
                    <a:latin typeface="Times New Roman" panose="02020603050405020304" pitchFamily="18" charset="0"/>
                  </a:rPr>
                  <a:t>b</a:t>
                </a:r>
                <a:r>
                  <a:rPr lang="en-US" altLang="zh-CN" sz="2400" b="1">
                    <a:latin typeface="Times New Roman" panose="02020603050405020304" pitchFamily="18" charset="0"/>
                    <a:sym typeface="Symbol" panose="05050102010706020507" pitchFamily="18" charset="2"/>
                  </a:rPr>
                  <a:t></a:t>
                </a:r>
              </a:p>
            </p:txBody>
          </p:sp>
          <p:sp>
            <p:nvSpPr>
              <p:cNvPr id="37908" name="文本框 37907"/>
              <p:cNvSpPr txBox="1"/>
              <p:nvPr/>
            </p:nvSpPr>
            <p:spPr>
              <a:xfrm>
                <a:off x="1305" y="170"/>
                <a:ext cx="548" cy="18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>
                <a:spAutoFit/>
              </a:bodyPr>
              <a:lstStyle/>
              <a:p>
                <a:pPr algn="ctr"/>
                <a:r>
                  <a:rPr lang="en-US" altLang="zh-CN" sz="2400" b="1" i="1">
                    <a:latin typeface="Times New Roman" panose="02020603050405020304" pitchFamily="18" charset="0"/>
                    <a:sym typeface="EuroRoman" panose="00000400000000000000" pitchFamily="2" charset="2"/>
                  </a:rPr>
                  <a:t>d</a:t>
                </a:r>
                <a:r>
                  <a:rPr lang="en-US" altLang="zh-CN" sz="2400" b="1" i="1">
                    <a:latin typeface="Times New Roman" panose="02020603050405020304" pitchFamily="18" charset="0"/>
                    <a:sym typeface="Symbol" panose="05050102010706020507" pitchFamily="18" charset="2"/>
                  </a:rPr>
                  <a:t>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379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11" grpId="1" build="allAtOnce"/>
      <p:bldP spid="37912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直接连接符 38913"/>
          <p:cNvSpPr/>
          <p:nvPr/>
        </p:nvSpPr>
        <p:spPr>
          <a:xfrm>
            <a:off x="2653348" y="2378075"/>
            <a:ext cx="0" cy="2882900"/>
          </a:xfrm>
          <a:prstGeom prst="line">
            <a:avLst/>
          </a:prstGeom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15" name="未知"/>
          <p:cNvSpPr/>
          <p:nvPr/>
        </p:nvSpPr>
        <p:spPr>
          <a:xfrm>
            <a:off x="2092960" y="4368800"/>
            <a:ext cx="1120775" cy="1588"/>
          </a:xfrm>
          <a:custGeom>
            <a:avLst/>
            <a:gdLst/>
            <a:ahLst/>
            <a:cxnLst/>
            <a:rect l="0" t="0" r="0" b="0"/>
            <a:pathLst>
              <a:path w="706" h="1">
                <a:moveTo>
                  <a:pt x="0" y="0"/>
                </a:moveTo>
                <a:lnTo>
                  <a:pt x="706" y="0"/>
                </a:lnTo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916" name="未知"/>
          <p:cNvSpPr/>
          <p:nvPr/>
        </p:nvSpPr>
        <p:spPr>
          <a:xfrm>
            <a:off x="2094548" y="5037138"/>
            <a:ext cx="1771650" cy="1587"/>
          </a:xfrm>
          <a:custGeom>
            <a:avLst/>
            <a:gdLst/>
            <a:ahLst/>
            <a:cxnLst/>
            <a:rect l="0" t="0" r="0" b="0"/>
            <a:pathLst>
              <a:path w="1116" h="1">
                <a:moveTo>
                  <a:pt x="0" y="0"/>
                </a:moveTo>
                <a:lnTo>
                  <a:pt x="1116" y="0"/>
                </a:lnTo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917" name="未知"/>
          <p:cNvSpPr/>
          <p:nvPr/>
        </p:nvSpPr>
        <p:spPr>
          <a:xfrm>
            <a:off x="2070735" y="3562350"/>
            <a:ext cx="1165225" cy="1588"/>
          </a:xfrm>
          <a:custGeom>
            <a:avLst/>
            <a:gdLst/>
            <a:ahLst/>
            <a:cxnLst/>
            <a:rect l="0" t="0" r="0" b="0"/>
            <a:pathLst>
              <a:path w="734" h="1">
                <a:moveTo>
                  <a:pt x="0" y="0"/>
                </a:moveTo>
                <a:lnTo>
                  <a:pt x="734" y="0"/>
                </a:lnTo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918" name="未知"/>
          <p:cNvSpPr/>
          <p:nvPr/>
        </p:nvSpPr>
        <p:spPr>
          <a:xfrm>
            <a:off x="3213735" y="3562350"/>
            <a:ext cx="1588" cy="806450"/>
          </a:xfrm>
          <a:custGeom>
            <a:avLst/>
            <a:gdLst/>
            <a:ahLst/>
            <a:cxnLst/>
            <a:rect l="0" t="0" r="0" b="0"/>
            <a:pathLst>
              <a:path w="1" h="508">
                <a:moveTo>
                  <a:pt x="0" y="0"/>
                </a:moveTo>
                <a:lnTo>
                  <a:pt x="0" y="508"/>
                </a:lnTo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919" name="未知"/>
          <p:cNvSpPr/>
          <p:nvPr/>
        </p:nvSpPr>
        <p:spPr>
          <a:xfrm>
            <a:off x="2072323" y="2886075"/>
            <a:ext cx="1793875" cy="1588"/>
          </a:xfrm>
          <a:custGeom>
            <a:avLst/>
            <a:gdLst/>
            <a:ahLst/>
            <a:cxnLst/>
            <a:rect l="0" t="0" r="0" b="0"/>
            <a:pathLst>
              <a:path w="1130" h="1">
                <a:moveTo>
                  <a:pt x="0" y="0"/>
                </a:moveTo>
                <a:lnTo>
                  <a:pt x="1130" y="0"/>
                </a:lnTo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920" name="未知"/>
          <p:cNvSpPr/>
          <p:nvPr/>
        </p:nvSpPr>
        <p:spPr>
          <a:xfrm>
            <a:off x="3863023" y="2889250"/>
            <a:ext cx="1587" cy="2128838"/>
          </a:xfrm>
          <a:custGeom>
            <a:avLst/>
            <a:gdLst/>
            <a:ahLst/>
            <a:cxnLst/>
            <a:rect l="0" t="0" r="0" b="0"/>
            <a:pathLst>
              <a:path w="1" h="1341">
                <a:moveTo>
                  <a:pt x="0" y="1341"/>
                </a:moveTo>
                <a:lnTo>
                  <a:pt x="0" y="0"/>
                </a:lnTo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921" name="未知"/>
          <p:cNvSpPr/>
          <p:nvPr/>
        </p:nvSpPr>
        <p:spPr>
          <a:xfrm>
            <a:off x="3212148" y="2889250"/>
            <a:ext cx="650875" cy="684213"/>
          </a:xfrm>
          <a:custGeom>
            <a:avLst/>
            <a:gdLst/>
            <a:ahLst/>
            <a:cxnLst/>
            <a:rect l="0" t="0" r="0" b="0"/>
            <a:pathLst>
              <a:path w="410" h="431">
                <a:moveTo>
                  <a:pt x="0" y="431"/>
                </a:moveTo>
                <a:lnTo>
                  <a:pt x="410" y="0"/>
                </a:lnTo>
              </a:path>
            </a:pathLst>
          </a:custGeom>
          <a:noFill/>
          <a:ln w="38100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922" name="文本框 38921"/>
          <p:cNvSpPr txBox="1"/>
          <p:nvPr/>
        </p:nvSpPr>
        <p:spPr>
          <a:xfrm>
            <a:off x="3080385" y="3443288"/>
            <a:ext cx="671513" cy="45720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algn="ctr"/>
            <a:r>
              <a:rPr lang="en-US" altLang="zh-CN" sz="2400" b="1" i="1">
                <a:latin typeface="Times New Roman" panose="02020603050405020304" pitchFamily="18" charset="0"/>
              </a:rPr>
              <a:t>b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</a:t>
            </a:r>
          </a:p>
        </p:txBody>
      </p:sp>
      <p:sp>
        <p:nvSpPr>
          <p:cNvPr id="38923" name="直接连接符 38922"/>
          <p:cNvSpPr/>
          <p:nvPr/>
        </p:nvSpPr>
        <p:spPr>
          <a:xfrm>
            <a:off x="1581785" y="3429000"/>
            <a:ext cx="2070100" cy="0"/>
          </a:xfrm>
          <a:prstGeom prst="line">
            <a:avLst/>
          </a:prstGeom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24" name="直接连接符 38923"/>
          <p:cNvSpPr/>
          <p:nvPr/>
        </p:nvSpPr>
        <p:spPr>
          <a:xfrm>
            <a:off x="1581785" y="2501900"/>
            <a:ext cx="1360488" cy="0"/>
          </a:xfrm>
          <a:prstGeom prst="line">
            <a:avLst/>
          </a:prstGeom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25" name="未知"/>
          <p:cNvSpPr/>
          <p:nvPr/>
        </p:nvSpPr>
        <p:spPr>
          <a:xfrm>
            <a:off x="1577023" y="4078288"/>
            <a:ext cx="1344612" cy="1587"/>
          </a:xfrm>
          <a:custGeom>
            <a:avLst/>
            <a:gdLst/>
            <a:ahLst/>
            <a:cxnLst/>
            <a:rect l="0" t="0" r="0" b="0"/>
            <a:pathLst>
              <a:path w="847" h="1">
                <a:moveTo>
                  <a:pt x="0" y="0"/>
                </a:moveTo>
                <a:lnTo>
                  <a:pt x="847" y="0"/>
                </a:lnTo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926" name="直接连接符 38925"/>
          <p:cNvSpPr/>
          <p:nvPr/>
        </p:nvSpPr>
        <p:spPr>
          <a:xfrm flipV="1">
            <a:off x="2920048" y="2501900"/>
            <a:ext cx="0" cy="1565275"/>
          </a:xfrm>
          <a:prstGeom prst="line">
            <a:avLst/>
          </a:prstGeom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27" name="未知"/>
          <p:cNvSpPr/>
          <p:nvPr/>
        </p:nvSpPr>
        <p:spPr>
          <a:xfrm>
            <a:off x="1580198" y="4791075"/>
            <a:ext cx="2038350" cy="1588"/>
          </a:xfrm>
          <a:custGeom>
            <a:avLst/>
            <a:gdLst/>
            <a:ahLst/>
            <a:cxnLst/>
            <a:rect l="0" t="0" r="0" b="0"/>
            <a:pathLst>
              <a:path w="1284" h="1">
                <a:moveTo>
                  <a:pt x="0" y="0"/>
                </a:moveTo>
                <a:lnTo>
                  <a:pt x="1284" y="0"/>
                </a:lnTo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928" name="未知"/>
          <p:cNvSpPr/>
          <p:nvPr/>
        </p:nvSpPr>
        <p:spPr>
          <a:xfrm>
            <a:off x="3618548" y="3402013"/>
            <a:ext cx="1587" cy="1389062"/>
          </a:xfrm>
          <a:custGeom>
            <a:avLst/>
            <a:gdLst/>
            <a:ahLst/>
            <a:cxnLst/>
            <a:rect l="0" t="0" r="0" b="0"/>
            <a:pathLst>
              <a:path w="1" h="875">
                <a:moveTo>
                  <a:pt x="0" y="875"/>
                </a:moveTo>
                <a:lnTo>
                  <a:pt x="0" y="0"/>
                </a:lnTo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929" name="未知"/>
          <p:cNvSpPr/>
          <p:nvPr/>
        </p:nvSpPr>
        <p:spPr>
          <a:xfrm>
            <a:off x="2921635" y="2509838"/>
            <a:ext cx="717550" cy="917575"/>
          </a:xfrm>
          <a:custGeom>
            <a:avLst/>
            <a:gdLst/>
            <a:ahLst/>
            <a:cxnLst/>
            <a:rect l="0" t="0" r="0" b="0"/>
            <a:pathLst>
              <a:path w="452" h="578">
                <a:moveTo>
                  <a:pt x="0" y="0"/>
                </a:moveTo>
                <a:lnTo>
                  <a:pt x="452" y="578"/>
                </a:lnTo>
              </a:path>
            </a:pathLst>
          </a:custGeom>
          <a:noFill/>
          <a:ln w="381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930" name="文本框 38929"/>
          <p:cNvSpPr txBox="1"/>
          <p:nvPr/>
        </p:nvSpPr>
        <p:spPr>
          <a:xfrm>
            <a:off x="3518535" y="3240088"/>
            <a:ext cx="608013" cy="45720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algn="ctr"/>
            <a:r>
              <a:rPr lang="en-US" altLang="zh-CN" sz="2400" b="1" i="1">
                <a:latin typeface="Times New Roman" panose="02020603050405020304" pitchFamily="18" charset="0"/>
              </a:rPr>
              <a:t>d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</a:t>
            </a:r>
          </a:p>
        </p:txBody>
      </p:sp>
      <p:sp>
        <p:nvSpPr>
          <p:cNvPr id="38931" name="文本框 38930"/>
          <p:cNvSpPr txBox="1"/>
          <p:nvPr/>
        </p:nvSpPr>
        <p:spPr>
          <a:xfrm>
            <a:off x="2772410" y="2165350"/>
            <a:ext cx="655638" cy="45720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algn="ctr"/>
            <a:r>
              <a:rPr lang="en-US" altLang="zh-CN" sz="2400" b="1" i="1">
                <a:latin typeface="Times New Roman" panose="02020603050405020304" pitchFamily="18" charset="0"/>
              </a:rPr>
              <a:t>c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</a:t>
            </a:r>
          </a:p>
        </p:txBody>
      </p:sp>
      <p:sp>
        <p:nvSpPr>
          <p:cNvPr id="38932" name="文本框 38931"/>
          <p:cNvSpPr txBox="1"/>
          <p:nvPr/>
        </p:nvSpPr>
        <p:spPr>
          <a:xfrm>
            <a:off x="3791585" y="2576513"/>
            <a:ext cx="46196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</a:t>
            </a:r>
          </a:p>
        </p:txBody>
      </p:sp>
      <p:sp>
        <p:nvSpPr>
          <p:cNvPr id="38933" name="文本框 38932"/>
          <p:cNvSpPr txBox="1"/>
          <p:nvPr/>
        </p:nvSpPr>
        <p:spPr>
          <a:xfrm>
            <a:off x="1299210" y="3779838"/>
            <a:ext cx="31908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i="1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38934" name="直接连接符 38933"/>
          <p:cNvSpPr/>
          <p:nvPr/>
        </p:nvSpPr>
        <p:spPr>
          <a:xfrm>
            <a:off x="2097723" y="4376738"/>
            <a:ext cx="0" cy="679450"/>
          </a:xfrm>
          <a:prstGeom prst="line">
            <a:avLst/>
          </a:prstGeom>
          <a:ln w="38100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35" name="直接连接符 38934"/>
          <p:cNvSpPr/>
          <p:nvPr/>
        </p:nvSpPr>
        <p:spPr>
          <a:xfrm>
            <a:off x="1272223" y="3819525"/>
            <a:ext cx="2925762" cy="0"/>
          </a:xfrm>
          <a:prstGeom prst="line">
            <a:avLst/>
          </a:prstGeom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36" name="直接连接符 38935"/>
          <p:cNvSpPr/>
          <p:nvPr/>
        </p:nvSpPr>
        <p:spPr>
          <a:xfrm>
            <a:off x="1581785" y="2501900"/>
            <a:ext cx="0" cy="927100"/>
          </a:xfrm>
          <a:prstGeom prst="line">
            <a:avLst/>
          </a:prstGeom>
          <a:ln w="381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37" name="直接连接符 38936"/>
          <p:cNvSpPr/>
          <p:nvPr/>
        </p:nvSpPr>
        <p:spPr>
          <a:xfrm>
            <a:off x="1581785" y="3429000"/>
            <a:ext cx="0" cy="638175"/>
          </a:xfrm>
          <a:prstGeom prst="line">
            <a:avLst/>
          </a:prstGeom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38" name="直接连接符 38937"/>
          <p:cNvSpPr/>
          <p:nvPr/>
        </p:nvSpPr>
        <p:spPr>
          <a:xfrm>
            <a:off x="1581785" y="4067175"/>
            <a:ext cx="0" cy="720725"/>
          </a:xfrm>
          <a:prstGeom prst="line">
            <a:avLst/>
          </a:prstGeom>
          <a:ln w="381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39" name="直接连接符 38938"/>
          <p:cNvSpPr/>
          <p:nvPr/>
        </p:nvSpPr>
        <p:spPr>
          <a:xfrm>
            <a:off x="2097723" y="2894013"/>
            <a:ext cx="0" cy="679450"/>
          </a:xfrm>
          <a:prstGeom prst="line">
            <a:avLst/>
          </a:prstGeom>
          <a:ln w="38100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40" name="直接连接符 38939"/>
          <p:cNvSpPr/>
          <p:nvPr/>
        </p:nvSpPr>
        <p:spPr>
          <a:xfrm>
            <a:off x="2097723" y="3573463"/>
            <a:ext cx="0" cy="782637"/>
          </a:xfrm>
          <a:prstGeom prst="line">
            <a:avLst/>
          </a:prstGeom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41" name="文本框 38940"/>
          <p:cNvSpPr txBox="1"/>
          <p:nvPr/>
        </p:nvSpPr>
        <p:spPr>
          <a:xfrm>
            <a:off x="1804035" y="4132263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i="1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38942" name="文本框 38941"/>
          <p:cNvSpPr txBox="1"/>
          <p:nvPr/>
        </p:nvSpPr>
        <p:spPr>
          <a:xfrm>
            <a:off x="1786573" y="4745038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38943" name="文本框 38942"/>
          <p:cNvSpPr txBox="1"/>
          <p:nvPr/>
        </p:nvSpPr>
        <p:spPr>
          <a:xfrm>
            <a:off x="1267460" y="46228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i="1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38944" name="文本框 38943"/>
          <p:cNvSpPr txBox="1"/>
          <p:nvPr/>
        </p:nvSpPr>
        <p:spPr>
          <a:xfrm>
            <a:off x="1035685" y="3094038"/>
            <a:ext cx="657225" cy="76200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algn="ctr"/>
            <a:r>
              <a:rPr lang="en-US" altLang="zh-CN" sz="2400" b="1" i="1">
                <a:latin typeface="Times New Roman" panose="02020603050405020304" pitchFamily="18" charset="0"/>
                <a:sym typeface="EuroRoman" panose="00000400000000000000" pitchFamily="2" charset="2"/>
              </a:rPr>
              <a:t>d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endParaRPr lang="en-US" altLang="zh-CN" sz="2400" b="1" i="1">
              <a:latin typeface="Times New Roman" panose="02020603050405020304" pitchFamily="18" charset="0"/>
              <a:sym typeface="UniversalMath1 BT" panose="05050102010205020602" pitchFamily="18" charset="2"/>
            </a:endParaRPr>
          </a:p>
          <a:p>
            <a:pPr algn="ctr"/>
            <a:endParaRPr lang="zh-CN" altLang="en-US" sz="2000" b="1">
              <a:latin typeface="Times New Roman" panose="02020603050405020304" pitchFamily="18" charset="0"/>
            </a:endParaRPr>
          </a:p>
        </p:txBody>
      </p:sp>
      <p:sp>
        <p:nvSpPr>
          <p:cNvPr id="38945" name="文本框 38944"/>
          <p:cNvSpPr txBox="1"/>
          <p:nvPr/>
        </p:nvSpPr>
        <p:spPr>
          <a:xfrm>
            <a:off x="1708785" y="3386138"/>
            <a:ext cx="4127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i="1">
                <a:latin typeface="Times New Roman" panose="02020603050405020304" pitchFamily="18" charset="0"/>
              </a:rPr>
              <a:t>b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</a:p>
        </p:txBody>
      </p:sp>
      <p:sp>
        <p:nvSpPr>
          <p:cNvPr id="38946" name="文本框 38945"/>
          <p:cNvSpPr txBox="1"/>
          <p:nvPr/>
        </p:nvSpPr>
        <p:spPr>
          <a:xfrm>
            <a:off x="1738948" y="2659063"/>
            <a:ext cx="4127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>
                <a:latin typeface="Times New Roman" panose="02020603050405020304" pitchFamily="18" charset="0"/>
                <a:sym typeface="EuroRoman" panose="00000400000000000000" pitchFamily="2" charset="2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</a:p>
        </p:txBody>
      </p:sp>
      <p:sp>
        <p:nvSpPr>
          <p:cNvPr id="38947" name="文本框 38946"/>
          <p:cNvSpPr txBox="1"/>
          <p:nvPr/>
        </p:nvSpPr>
        <p:spPr>
          <a:xfrm>
            <a:off x="1286510" y="2201863"/>
            <a:ext cx="39528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i="1">
                <a:latin typeface="Times New Roman" panose="02020603050405020304" pitchFamily="18" charset="0"/>
                <a:sym typeface="EuroRoman" panose="00000400000000000000" pitchFamily="2" charset="2"/>
              </a:rPr>
              <a:t>c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</a:p>
        </p:txBody>
      </p:sp>
      <p:sp>
        <p:nvSpPr>
          <p:cNvPr id="38949" name="文本框 38948"/>
          <p:cNvSpPr txBox="1"/>
          <p:nvPr/>
        </p:nvSpPr>
        <p:spPr>
          <a:xfrm>
            <a:off x="5510530" y="4448810"/>
            <a:ext cx="5767070" cy="30670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/>
          <a:p>
            <a:r>
              <a:rPr lang="zh-CN" altLang="en-US" sz="1400">
                <a:solidFill>
                  <a:schemeClr val="tx1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求出侧面投影后可知：</a:t>
            </a:r>
          </a:p>
        </p:txBody>
      </p:sp>
      <p:sp>
        <p:nvSpPr>
          <p:cNvPr id="38950" name="文本框 38949"/>
          <p:cNvSpPr txBox="1"/>
          <p:nvPr/>
        </p:nvSpPr>
        <p:spPr>
          <a:xfrm>
            <a:off x="7367270" y="4438651"/>
            <a:ext cx="4117975" cy="30670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en-US" altLang="zh-CN" sz="1400" b="1" i="1">
                <a:solidFill>
                  <a:srgbClr val="FF33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AB</a:t>
            </a:r>
            <a:r>
              <a:rPr lang="zh-CN" altLang="en-US" sz="1400" b="1" i="1">
                <a:solidFill>
                  <a:srgbClr val="FF33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与</a:t>
            </a:r>
            <a:r>
              <a:rPr lang="en-US" altLang="zh-CN" sz="1400" b="1" i="1">
                <a:solidFill>
                  <a:srgbClr val="FF33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CD</a:t>
            </a:r>
            <a:r>
              <a:rPr lang="zh-CN" altLang="en-US" sz="1400" b="1" i="1">
                <a:solidFill>
                  <a:srgbClr val="FF33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不平行。</a:t>
            </a:r>
            <a:endParaRPr lang="zh-CN" altLang="en-US" sz="1400" b="1" i="1">
              <a:solidFill>
                <a:srgbClr val="FF99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8952" name="直接连接符 38951"/>
          <p:cNvSpPr/>
          <p:nvPr/>
        </p:nvSpPr>
        <p:spPr>
          <a:xfrm>
            <a:off x="2653348" y="3819525"/>
            <a:ext cx="1300162" cy="1300163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53" name="文本框 38952"/>
          <p:cNvSpPr txBox="1"/>
          <p:nvPr/>
        </p:nvSpPr>
        <p:spPr>
          <a:xfrm>
            <a:off x="5510530" y="3800475"/>
            <a:ext cx="4377690" cy="3067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zh-CN" altLang="en-US" sz="1400">
                <a:solidFill>
                  <a:srgbClr val="660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方法：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求出侧面投影。</a:t>
            </a:r>
          </a:p>
        </p:txBody>
      </p:sp>
      <p:sp>
        <p:nvSpPr>
          <p:cNvPr id="38957" name="文本框 38956"/>
          <p:cNvSpPr txBox="1"/>
          <p:nvPr/>
        </p:nvSpPr>
        <p:spPr>
          <a:xfrm>
            <a:off x="5372100" y="2348548"/>
            <a:ext cx="5873115" cy="30670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/>
          <a:p>
            <a:r>
              <a:rPr lang="zh-CN" altLang="en-US" sz="14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对于</a:t>
            </a:r>
            <a:r>
              <a:rPr lang="zh-CN" altLang="en-US" sz="140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特殊位置直线</a:t>
            </a:r>
            <a:r>
              <a:rPr lang="zh-CN" altLang="en-US" sz="14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，只有</a:t>
            </a:r>
            <a:r>
              <a:rPr lang="zh-CN" altLang="en-US" sz="140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两个</a:t>
            </a:r>
            <a:r>
              <a:rPr lang="zh-CN" altLang="en-US" sz="14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同名投影</a:t>
            </a:r>
            <a:r>
              <a:rPr lang="zh-CN" altLang="en-US" sz="140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互相平行</a:t>
            </a:r>
            <a:r>
              <a:rPr lang="zh-CN" altLang="en-US" sz="14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，空间直线</a:t>
            </a:r>
            <a:r>
              <a:rPr lang="zh-CN" altLang="en-US" sz="140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不一定平行</a:t>
            </a:r>
            <a:r>
              <a:rPr lang="zh-CN" altLang="en-US" sz="14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</a:p>
        </p:txBody>
      </p:sp>
      <p:sp>
        <p:nvSpPr>
          <p:cNvPr id="38951" name="文本框 38950"/>
          <p:cNvSpPr txBox="1"/>
          <p:nvPr/>
        </p:nvSpPr>
        <p:spPr>
          <a:xfrm>
            <a:off x="1286193" y="870109"/>
            <a:ext cx="8842375" cy="36830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zh-CN" altLang="en-US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判断图中两条直线是否平行。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389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2" dur="2000"/>
                                        <p:tgtEl>
                                          <p:spTgt spid="38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8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8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8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8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0"/>
                            </p:stCondLst>
                            <p:childTnLst>
                              <p:par>
                                <p:cTn id="31" presetID="2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8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500"/>
                            </p:stCondLst>
                            <p:childTnLst>
                              <p:par>
                                <p:cTn id="35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75"/>
                                        <p:tgtEl>
                                          <p:spTgt spid="389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765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8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915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8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650"/>
                            </p:stCondLst>
                            <p:childTnLst>
                              <p:par>
                                <p:cTn id="47" presetID="2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38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2150"/>
                            </p:stCondLst>
                            <p:childTnLst>
                              <p:par>
                                <p:cTn id="51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75"/>
                                        <p:tgtEl>
                                          <p:spTgt spid="389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3300"/>
                            </p:stCondLst>
                            <p:childTnLst>
                              <p:par>
                                <p:cTn id="55" presetID="2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8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48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8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63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8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7800"/>
                            </p:stCondLst>
                            <p:childTnLst>
                              <p:par>
                                <p:cTn id="67" presetID="2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38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9300"/>
                            </p:stCondLst>
                            <p:childTnLst>
                              <p:par>
                                <p:cTn id="71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75"/>
                                        <p:tgtEl>
                                          <p:spTgt spid="38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045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8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195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8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3450"/>
                            </p:stCondLst>
                            <p:childTnLst>
                              <p:par>
                                <p:cTn id="83" presetID="2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38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24950"/>
                            </p:stCondLst>
                            <p:childTnLst>
                              <p:par>
                                <p:cTn id="87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75"/>
                                        <p:tgtEl>
                                          <p:spTgt spid="389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26100"/>
                            </p:stCondLst>
                            <p:childTnLst>
                              <p:par>
                                <p:cTn id="91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38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75"/>
                                        <p:tgtEl>
                                          <p:spTgt spid="389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7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2000" fill="hold"/>
                                        <p:tgtEl>
                                          <p:spTgt spid="389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2000" fill="hold"/>
                                        <p:tgtEl>
                                          <p:spTgt spid="389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22" grpId="0" build="p" advAuto="1000"/>
      <p:bldP spid="38930" grpId="0" build="p" advAuto="1000"/>
      <p:bldP spid="38931" grpId="0" build="p" advAuto="1000"/>
      <p:bldP spid="38932" grpId="0" build="p" advAuto="1000"/>
      <p:bldP spid="38949" grpId="0" build="p"/>
      <p:bldP spid="38950" grpId="1" build="allAtOnce"/>
      <p:bldP spid="38953" grpId="1"/>
      <p:bldP spid="38957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直接连接符 39937"/>
          <p:cNvSpPr/>
          <p:nvPr/>
        </p:nvSpPr>
        <p:spPr>
          <a:xfrm>
            <a:off x="7639050" y="4810125"/>
            <a:ext cx="0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39" name="直接连接符 39938"/>
          <p:cNvSpPr/>
          <p:nvPr/>
        </p:nvSpPr>
        <p:spPr>
          <a:xfrm>
            <a:off x="4951413" y="4186238"/>
            <a:ext cx="0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39940" name="组合 39939"/>
          <p:cNvGrpSpPr/>
          <p:nvPr/>
        </p:nvGrpSpPr>
        <p:grpSpPr>
          <a:xfrm>
            <a:off x="1223963" y="1590675"/>
            <a:ext cx="4649787" cy="3522663"/>
            <a:chOff x="0" y="0"/>
            <a:chExt cx="2929" cy="2219"/>
          </a:xfrm>
        </p:grpSpPr>
        <p:grpSp>
          <p:nvGrpSpPr>
            <p:cNvPr id="39941" name="组合 39940"/>
            <p:cNvGrpSpPr/>
            <p:nvPr/>
          </p:nvGrpSpPr>
          <p:grpSpPr>
            <a:xfrm>
              <a:off x="0" y="0"/>
              <a:ext cx="2929" cy="2219"/>
              <a:chOff x="0" y="0"/>
              <a:chExt cx="2929" cy="2219"/>
            </a:xfrm>
          </p:grpSpPr>
          <p:grpSp>
            <p:nvGrpSpPr>
              <p:cNvPr id="39942" name="组合 39941"/>
              <p:cNvGrpSpPr/>
              <p:nvPr/>
            </p:nvGrpSpPr>
            <p:grpSpPr>
              <a:xfrm>
                <a:off x="0" y="0"/>
                <a:ext cx="2929" cy="2219"/>
                <a:chOff x="0" y="0"/>
                <a:chExt cx="2929" cy="2219"/>
              </a:xfrm>
            </p:grpSpPr>
            <p:grpSp>
              <p:nvGrpSpPr>
                <p:cNvPr id="39943" name="组合 39942"/>
                <p:cNvGrpSpPr/>
                <p:nvPr/>
              </p:nvGrpSpPr>
              <p:grpSpPr>
                <a:xfrm>
                  <a:off x="0" y="0"/>
                  <a:ext cx="2929" cy="2219"/>
                  <a:chOff x="0" y="0"/>
                  <a:chExt cx="2929" cy="2219"/>
                </a:xfrm>
              </p:grpSpPr>
              <p:grpSp>
                <p:nvGrpSpPr>
                  <p:cNvPr id="39944" name="组合 39943"/>
                  <p:cNvGrpSpPr/>
                  <p:nvPr/>
                </p:nvGrpSpPr>
                <p:grpSpPr>
                  <a:xfrm>
                    <a:off x="0" y="0"/>
                    <a:ext cx="2929" cy="2219"/>
                    <a:chOff x="0" y="0"/>
                    <a:chExt cx="2929" cy="2219"/>
                  </a:xfrm>
                </p:grpSpPr>
                <p:sp>
                  <p:nvSpPr>
                    <p:cNvPr id="39945" name="矩形 39944"/>
                    <p:cNvSpPr/>
                    <p:nvPr/>
                  </p:nvSpPr>
                  <p:spPr>
                    <a:xfrm>
                      <a:off x="45" y="63"/>
                      <a:ext cx="2151" cy="1165"/>
                    </a:xfrm>
                    <a:prstGeom prst="rect">
                      <a:avLst/>
                    </a:prstGeom>
                    <a:noFill/>
                    <a:ln w="9525" cap="flat" cmpd="sng">
                      <a:solidFill>
                        <a:srgbClr val="000000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grpSp>
                  <p:nvGrpSpPr>
                    <p:cNvPr id="39946" name="组合 39945"/>
                    <p:cNvGrpSpPr/>
                    <p:nvPr/>
                  </p:nvGrpSpPr>
                  <p:grpSpPr>
                    <a:xfrm>
                      <a:off x="0" y="0"/>
                      <a:ext cx="2929" cy="2219"/>
                      <a:chOff x="0" y="0"/>
                      <a:chExt cx="2929" cy="2219"/>
                    </a:xfrm>
                  </p:grpSpPr>
                  <p:sp>
                    <p:nvSpPr>
                      <p:cNvPr id="39947" name="平行四边形 39946"/>
                      <p:cNvSpPr/>
                      <p:nvPr/>
                    </p:nvSpPr>
                    <p:spPr>
                      <a:xfrm flipH="1">
                        <a:off x="32" y="1228"/>
                        <a:ext cx="2897" cy="961"/>
                      </a:xfrm>
                      <a:prstGeom prst="parallelogram">
                        <a:avLst>
                          <a:gd name="adj" fmla="val 75364"/>
                        </a:avLst>
                      </a:prstGeom>
                      <a:noFill/>
                      <a:ln w="9525" cap="flat" cmpd="sng">
                        <a:solidFill>
                          <a:srgbClr val="000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9948" name="未知"/>
                      <p:cNvSpPr/>
                      <p:nvPr/>
                    </p:nvSpPr>
                    <p:spPr>
                      <a:xfrm>
                        <a:off x="165" y="303"/>
                        <a:ext cx="1453" cy="527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097" h="834">
                            <a:moveTo>
                              <a:pt x="0" y="834"/>
                            </a:moveTo>
                            <a:lnTo>
                              <a:pt x="2097" y="0"/>
                            </a:lnTo>
                          </a:path>
                        </a:pathLst>
                      </a:custGeom>
                      <a:noFill/>
                      <a:ln w="38100" cap="flat" cmpd="sng">
                        <a:solidFill>
                          <a:srgbClr val="800000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9949" name="直接连接符 39948"/>
                      <p:cNvSpPr/>
                      <p:nvPr/>
                    </p:nvSpPr>
                    <p:spPr>
                      <a:xfrm>
                        <a:off x="495" y="225"/>
                        <a:ext cx="1023" cy="604"/>
                      </a:xfrm>
                      <a:prstGeom prst="line">
                        <a:avLst/>
                      </a:prstGeom>
                      <a:ln w="38100" cap="flat" cmpd="sng">
                        <a:solidFill>
                          <a:srgbClr val="0033CC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39950" name="直接连接符 39949"/>
                      <p:cNvSpPr/>
                      <p:nvPr/>
                    </p:nvSpPr>
                    <p:spPr>
                      <a:xfrm>
                        <a:off x="1518" y="829"/>
                        <a:ext cx="279" cy="255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000000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39951" name="直接连接符 39950"/>
                      <p:cNvSpPr/>
                      <p:nvPr/>
                    </p:nvSpPr>
                    <p:spPr>
                      <a:xfrm>
                        <a:off x="495" y="225"/>
                        <a:ext cx="661" cy="604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000000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39952" name="直接连接符 39951"/>
                      <p:cNvSpPr/>
                      <p:nvPr/>
                    </p:nvSpPr>
                    <p:spPr>
                      <a:xfrm flipH="1">
                        <a:off x="1156" y="1347"/>
                        <a:ext cx="641" cy="489"/>
                      </a:xfrm>
                      <a:prstGeom prst="line">
                        <a:avLst/>
                      </a:prstGeom>
                      <a:ln w="38100" cap="flat" cmpd="sng">
                        <a:solidFill>
                          <a:srgbClr val="0033CC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39953" name="未知"/>
                      <p:cNvSpPr/>
                      <p:nvPr/>
                    </p:nvSpPr>
                    <p:spPr>
                      <a:xfrm>
                        <a:off x="1012" y="513"/>
                        <a:ext cx="2" cy="7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" h="716">
                            <a:moveTo>
                              <a:pt x="2" y="0"/>
                            </a:moveTo>
                            <a:lnTo>
                              <a:pt x="0" y="716"/>
                            </a:lnTo>
                          </a:path>
                        </a:pathLst>
                      </a:custGeom>
                      <a:noFill/>
                      <a:ln w="9525" cap="flat" cmpd="sng">
                        <a:solidFill>
                          <a:srgbClr val="000000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9954" name="未知"/>
                      <p:cNvSpPr/>
                      <p:nvPr/>
                    </p:nvSpPr>
                    <p:spPr>
                      <a:xfrm>
                        <a:off x="1026" y="1229"/>
                        <a:ext cx="492" cy="333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492" h="333">
                            <a:moveTo>
                              <a:pt x="0" y="0"/>
                            </a:moveTo>
                            <a:lnTo>
                              <a:pt x="492" y="333"/>
                            </a:lnTo>
                          </a:path>
                        </a:pathLst>
                      </a:custGeom>
                      <a:noFill/>
                      <a:ln w="9525" cap="flat" cmpd="sng">
                        <a:solidFill>
                          <a:srgbClr val="000000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9955" name="未知"/>
                      <p:cNvSpPr/>
                      <p:nvPr/>
                    </p:nvSpPr>
                    <p:spPr>
                      <a:xfrm>
                        <a:off x="998" y="516"/>
                        <a:ext cx="538" cy="47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778" h="753">
                            <a:moveTo>
                              <a:pt x="0" y="0"/>
                            </a:moveTo>
                            <a:lnTo>
                              <a:pt x="778" y="753"/>
                            </a:lnTo>
                          </a:path>
                        </a:pathLst>
                      </a:custGeom>
                      <a:noFill/>
                      <a:ln w="9525" cap="flat" cmpd="sng">
                        <a:solidFill>
                          <a:srgbClr val="000000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9956" name="未知"/>
                      <p:cNvSpPr/>
                      <p:nvPr/>
                    </p:nvSpPr>
                    <p:spPr>
                      <a:xfrm>
                        <a:off x="511" y="1347"/>
                        <a:ext cx="1681" cy="36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428" h="569">
                            <a:moveTo>
                              <a:pt x="0" y="0"/>
                            </a:moveTo>
                            <a:lnTo>
                              <a:pt x="2428" y="569"/>
                            </a:lnTo>
                          </a:path>
                        </a:pathLst>
                      </a:custGeom>
                      <a:noFill/>
                      <a:ln w="38100" cap="flat" cmpd="sng">
                        <a:solidFill>
                          <a:srgbClr val="800000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9957" name="未知"/>
                      <p:cNvSpPr/>
                      <p:nvPr/>
                    </p:nvSpPr>
                    <p:spPr>
                      <a:xfrm>
                        <a:off x="511" y="935"/>
                        <a:ext cx="1672" cy="12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415" h="190">
                            <a:moveTo>
                              <a:pt x="0" y="190"/>
                            </a:moveTo>
                            <a:lnTo>
                              <a:pt x="2415" y="0"/>
                            </a:lnTo>
                          </a:path>
                        </a:pathLst>
                      </a:custGeom>
                      <a:noFill/>
                      <a:ln w="38100" cap="flat" cmpd="sng">
                        <a:solidFill>
                          <a:srgbClr val="800000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9958" name="文本框 39957"/>
                      <p:cNvSpPr txBox="1"/>
                      <p:nvPr/>
                    </p:nvSpPr>
                    <p:spPr>
                      <a:xfrm>
                        <a:off x="2557" y="1931"/>
                        <a:ext cx="265" cy="2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 wrap="none" anchor="ctr">
                        <a:spAutoFit/>
                      </a:bodyPr>
                      <a:lstStyle/>
                      <a:p>
                        <a:pPr algn="ctr"/>
                        <a:r>
                          <a:rPr lang="en-US" altLang="zh-CN" sz="2400" b="1" i="1">
                            <a:latin typeface="Times New Roman" panose="02020603050405020304" pitchFamily="18" charset="0"/>
                          </a:rPr>
                          <a:t>H</a:t>
                        </a:r>
                      </a:p>
                    </p:txBody>
                  </p:sp>
                  <p:sp>
                    <p:nvSpPr>
                      <p:cNvPr id="39959" name="文本框 39958"/>
                      <p:cNvSpPr txBox="1"/>
                      <p:nvPr/>
                    </p:nvSpPr>
                    <p:spPr>
                      <a:xfrm>
                        <a:off x="0" y="29"/>
                        <a:ext cx="244" cy="2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 wrap="none" anchor="ctr">
                        <a:spAutoFit/>
                      </a:bodyPr>
                      <a:lstStyle/>
                      <a:p>
                        <a:pPr algn="ctr"/>
                        <a:r>
                          <a:rPr lang="en-US" altLang="zh-CN" sz="2400" b="1" i="1">
                            <a:latin typeface="Times New Roman" panose="02020603050405020304" pitchFamily="18" charset="0"/>
                          </a:rPr>
                          <a:t>V</a:t>
                        </a:r>
                      </a:p>
                    </p:txBody>
                  </p:sp>
                  <p:sp>
                    <p:nvSpPr>
                      <p:cNvPr id="39960" name="文本框 39959"/>
                      <p:cNvSpPr txBox="1"/>
                      <p:nvPr/>
                    </p:nvSpPr>
                    <p:spPr>
                      <a:xfrm>
                        <a:off x="422" y="795"/>
                        <a:ext cx="244" cy="2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 wrap="none" anchor="ctr">
                        <a:spAutoFit/>
                      </a:bodyPr>
                      <a:lstStyle/>
                      <a:p>
                        <a:pPr algn="ctr"/>
                        <a:r>
                          <a:rPr lang="en-US" altLang="zh-CN" sz="2400" b="1" i="1">
                            <a:latin typeface="Times New Roman" panose="02020603050405020304" pitchFamily="18" charset="0"/>
                          </a:rPr>
                          <a:t>A</a:t>
                        </a:r>
                      </a:p>
                    </p:txBody>
                  </p:sp>
                  <p:sp>
                    <p:nvSpPr>
                      <p:cNvPr id="39961" name="文本框 39960"/>
                      <p:cNvSpPr txBox="1"/>
                      <p:nvPr/>
                    </p:nvSpPr>
                    <p:spPr>
                      <a:xfrm>
                        <a:off x="2150" y="738"/>
                        <a:ext cx="244" cy="2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 wrap="none" anchor="ctr">
                        <a:spAutoFit/>
                      </a:bodyPr>
                      <a:lstStyle/>
                      <a:p>
                        <a:pPr algn="ctr"/>
                        <a:r>
                          <a:rPr lang="en-US" altLang="zh-CN" sz="2400" b="1" i="1">
                            <a:latin typeface="Times New Roman" panose="02020603050405020304" pitchFamily="18" charset="0"/>
                          </a:rPr>
                          <a:t>B</a:t>
                        </a:r>
                      </a:p>
                    </p:txBody>
                  </p:sp>
                  <p:sp>
                    <p:nvSpPr>
                      <p:cNvPr id="39962" name="文本框 39961"/>
                      <p:cNvSpPr txBox="1"/>
                      <p:nvPr/>
                    </p:nvSpPr>
                    <p:spPr>
                      <a:xfrm>
                        <a:off x="948" y="735"/>
                        <a:ext cx="244" cy="2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 wrap="none" anchor="ctr">
                        <a:spAutoFit/>
                      </a:bodyPr>
                      <a:lstStyle/>
                      <a:p>
                        <a:pPr algn="ctr"/>
                        <a:r>
                          <a:rPr lang="en-US" altLang="zh-CN" sz="2400" b="1" i="1">
                            <a:latin typeface="Times New Roman" panose="02020603050405020304" pitchFamily="18" charset="0"/>
                          </a:rPr>
                          <a:t>C</a:t>
                        </a:r>
                      </a:p>
                    </p:txBody>
                  </p:sp>
                  <p:sp>
                    <p:nvSpPr>
                      <p:cNvPr id="39963" name="文本框 39962"/>
                      <p:cNvSpPr txBox="1"/>
                      <p:nvPr/>
                    </p:nvSpPr>
                    <p:spPr>
                      <a:xfrm>
                        <a:off x="1747" y="940"/>
                        <a:ext cx="255" cy="2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 wrap="none" anchor="ctr">
                        <a:spAutoFit/>
                      </a:bodyPr>
                      <a:lstStyle/>
                      <a:p>
                        <a:pPr algn="ctr"/>
                        <a:r>
                          <a:rPr lang="en-US" altLang="zh-CN" sz="2400" b="1" i="1">
                            <a:latin typeface="Times New Roman" panose="02020603050405020304" pitchFamily="18" charset="0"/>
                          </a:rPr>
                          <a:t>D</a:t>
                        </a:r>
                      </a:p>
                    </p:txBody>
                  </p:sp>
                  <p:sp>
                    <p:nvSpPr>
                      <p:cNvPr id="39964" name="文本框 39963"/>
                      <p:cNvSpPr txBox="1"/>
                      <p:nvPr/>
                    </p:nvSpPr>
                    <p:spPr>
                      <a:xfrm>
                        <a:off x="1256" y="947"/>
                        <a:ext cx="244" cy="2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 wrap="none" anchor="ctr">
                        <a:spAutoFit/>
                      </a:bodyPr>
                      <a:lstStyle/>
                      <a:p>
                        <a:pPr algn="ctr"/>
                        <a:r>
                          <a:rPr lang="en-US" altLang="zh-CN" sz="2400" b="1" i="1">
                            <a:latin typeface="Times New Roman" panose="02020603050405020304" pitchFamily="18" charset="0"/>
                          </a:rPr>
                          <a:t>K</a:t>
                        </a:r>
                      </a:p>
                    </p:txBody>
                  </p:sp>
                  <p:sp>
                    <p:nvSpPr>
                      <p:cNvPr id="39965" name="文本框 39964"/>
                      <p:cNvSpPr txBox="1"/>
                      <p:nvPr/>
                    </p:nvSpPr>
                    <p:spPr>
                      <a:xfrm>
                        <a:off x="2144" y="1600"/>
                        <a:ext cx="212" cy="2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 wrap="none" anchor="ctr">
                        <a:spAutoFit/>
                      </a:bodyPr>
                      <a:lstStyle/>
                      <a:p>
                        <a:pPr algn="ctr"/>
                        <a:r>
                          <a:rPr lang="en-US" altLang="zh-CN" sz="2400" b="1" i="1">
                            <a:latin typeface="Times New Roman" panose="02020603050405020304" pitchFamily="18" charset="0"/>
                          </a:rPr>
                          <a:t>b</a:t>
                        </a:r>
                      </a:p>
                    </p:txBody>
                  </p:sp>
                  <p:sp>
                    <p:nvSpPr>
                      <p:cNvPr id="39966" name="文本框 39965"/>
                      <p:cNvSpPr txBox="1"/>
                      <p:nvPr/>
                    </p:nvSpPr>
                    <p:spPr>
                      <a:xfrm>
                        <a:off x="1022" y="1718"/>
                        <a:ext cx="201" cy="2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 wrap="none" anchor="ctr">
                        <a:spAutoFit/>
                      </a:bodyPr>
                      <a:lstStyle/>
                      <a:p>
                        <a:pPr algn="ctr"/>
                        <a:r>
                          <a:rPr lang="en-US" altLang="zh-CN" sz="2400" b="1" i="1">
                            <a:latin typeface="Times New Roman" panose="02020603050405020304" pitchFamily="18" charset="0"/>
                          </a:rPr>
                          <a:t>c</a:t>
                        </a:r>
                      </a:p>
                    </p:txBody>
                  </p:sp>
                  <p:sp>
                    <p:nvSpPr>
                      <p:cNvPr id="39967" name="文本框 39966"/>
                      <p:cNvSpPr txBox="1"/>
                      <p:nvPr/>
                    </p:nvSpPr>
                    <p:spPr>
                      <a:xfrm>
                        <a:off x="1755" y="1196"/>
                        <a:ext cx="212" cy="2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 wrap="none" anchor="ctr">
                        <a:spAutoFit/>
                      </a:bodyPr>
                      <a:lstStyle/>
                      <a:p>
                        <a:pPr algn="ctr"/>
                        <a:r>
                          <a:rPr lang="en-US" altLang="zh-CN" sz="2400" b="1" i="1">
                            <a:latin typeface="Times New Roman" panose="02020603050405020304" pitchFamily="18" charset="0"/>
                          </a:rPr>
                          <a:t>d</a:t>
                        </a:r>
                      </a:p>
                    </p:txBody>
                  </p:sp>
                  <p:sp>
                    <p:nvSpPr>
                      <p:cNvPr id="39968" name="文本框 39967"/>
                      <p:cNvSpPr txBox="1"/>
                      <p:nvPr/>
                    </p:nvSpPr>
                    <p:spPr>
                      <a:xfrm>
                        <a:off x="1432" y="1508"/>
                        <a:ext cx="212" cy="2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 wrap="none" anchor="ctr">
                        <a:spAutoFit/>
                      </a:bodyPr>
                      <a:lstStyle/>
                      <a:p>
                        <a:pPr algn="ctr"/>
                        <a:r>
                          <a:rPr lang="en-US" altLang="zh-CN" sz="2400" b="1" i="1">
                            <a:latin typeface="Times New Roman" panose="02020603050405020304" pitchFamily="18" charset="0"/>
                          </a:rPr>
                          <a:t>k</a:t>
                        </a:r>
                      </a:p>
                    </p:txBody>
                  </p:sp>
                  <p:sp>
                    <p:nvSpPr>
                      <p:cNvPr id="39969" name="文本框 39968"/>
                      <p:cNvSpPr txBox="1"/>
                      <p:nvPr/>
                    </p:nvSpPr>
                    <p:spPr>
                      <a:xfrm>
                        <a:off x="8" y="582"/>
                        <a:ext cx="260" cy="2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 wrap="none" anchor="ctr">
                        <a:spAutoFit/>
                      </a:bodyPr>
                      <a:lstStyle/>
                      <a:p>
                        <a:pPr algn="ctr"/>
                        <a:r>
                          <a:rPr lang="en-US" altLang="zh-CN" sz="2400" b="1" i="1">
                            <a:latin typeface="Times New Roman" panose="02020603050405020304" pitchFamily="18" charset="0"/>
                            <a:sym typeface="EuroRoman" panose="00000400000000000000" pitchFamily="2" charset="2"/>
                          </a:rPr>
                          <a:t>a</a:t>
                        </a:r>
                        <a:r>
                          <a:rPr lang="en-US" altLang="zh-CN" sz="2400" b="1" i="1">
                            <a:latin typeface="Times New Roman" panose="02020603050405020304" pitchFamily="18" charset="0"/>
                            <a:sym typeface="Symbol" panose="05050102010706020507" pitchFamily="18" charset="2"/>
                          </a:rPr>
                          <a:t></a:t>
                        </a:r>
                      </a:p>
                    </p:txBody>
                  </p:sp>
                  <p:sp>
                    <p:nvSpPr>
                      <p:cNvPr id="39970" name="文本框 39969"/>
                      <p:cNvSpPr txBox="1"/>
                      <p:nvPr/>
                    </p:nvSpPr>
                    <p:spPr>
                      <a:xfrm>
                        <a:off x="1557" y="47"/>
                        <a:ext cx="260" cy="2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 wrap="none" anchor="ctr">
                        <a:spAutoFit/>
                      </a:bodyPr>
                      <a:lstStyle/>
                      <a:p>
                        <a:pPr algn="ctr"/>
                        <a:r>
                          <a:rPr lang="en-US" altLang="zh-CN" sz="2400" b="1" i="1">
                            <a:latin typeface="Times New Roman" panose="02020603050405020304" pitchFamily="18" charset="0"/>
                          </a:rPr>
                          <a:t>b</a:t>
                        </a:r>
                        <a:r>
                          <a:rPr lang="en-US" altLang="zh-CN" sz="2400" b="1" i="1">
                            <a:latin typeface="Times New Roman" panose="02020603050405020304" pitchFamily="18" charset="0"/>
                            <a:sym typeface="Symbol" panose="05050102010706020507" pitchFamily="18" charset="2"/>
                          </a:rPr>
                          <a:t></a:t>
                        </a:r>
                      </a:p>
                    </p:txBody>
                  </p:sp>
                  <p:sp>
                    <p:nvSpPr>
                      <p:cNvPr id="39971" name="文本框 39970"/>
                      <p:cNvSpPr txBox="1"/>
                      <p:nvPr/>
                    </p:nvSpPr>
                    <p:spPr>
                      <a:xfrm>
                        <a:off x="339" y="0"/>
                        <a:ext cx="249" cy="2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 wrap="none" anchor="ctr">
                        <a:spAutoFit/>
                      </a:bodyPr>
                      <a:lstStyle/>
                      <a:p>
                        <a:pPr algn="ctr"/>
                        <a:r>
                          <a:rPr lang="en-US" altLang="zh-CN" sz="2400" b="1" i="1">
                            <a:latin typeface="Times New Roman" panose="02020603050405020304" pitchFamily="18" charset="0"/>
                            <a:sym typeface="EuroRoman" panose="00000400000000000000" pitchFamily="2" charset="2"/>
                          </a:rPr>
                          <a:t>c</a:t>
                        </a:r>
                        <a:r>
                          <a:rPr lang="en-US" altLang="zh-CN" sz="2400" b="1" i="1">
                            <a:latin typeface="Times New Roman" panose="02020603050405020304" pitchFamily="18" charset="0"/>
                            <a:sym typeface="Symbol" panose="05050102010706020507" pitchFamily="18" charset="2"/>
                          </a:rPr>
                          <a:t></a:t>
                        </a:r>
                      </a:p>
                    </p:txBody>
                  </p:sp>
                  <p:sp>
                    <p:nvSpPr>
                      <p:cNvPr id="39972" name="文本框 39971"/>
                      <p:cNvSpPr txBox="1"/>
                      <p:nvPr/>
                    </p:nvSpPr>
                    <p:spPr>
                      <a:xfrm>
                        <a:off x="912" y="268"/>
                        <a:ext cx="260" cy="2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 wrap="none" anchor="ctr">
                        <a:spAutoFit/>
                      </a:bodyPr>
                      <a:lstStyle/>
                      <a:p>
                        <a:pPr algn="ctr"/>
                        <a:r>
                          <a:rPr lang="en-US" altLang="zh-CN" sz="2400" b="1" i="1">
                            <a:latin typeface="Times New Roman" panose="02020603050405020304" pitchFamily="18" charset="0"/>
                            <a:sym typeface="EuroRoman" panose="00000400000000000000" pitchFamily="2" charset="2"/>
                          </a:rPr>
                          <a:t>k</a:t>
                        </a:r>
                        <a:r>
                          <a:rPr lang="en-US" altLang="zh-CN" sz="2400" b="1" i="1">
                            <a:latin typeface="Times New Roman" panose="02020603050405020304" pitchFamily="18" charset="0"/>
                            <a:sym typeface="Symbol" panose="05050102010706020507" pitchFamily="18" charset="2"/>
                          </a:rPr>
                          <a:t></a:t>
                        </a:r>
                      </a:p>
                    </p:txBody>
                  </p:sp>
                  <p:sp>
                    <p:nvSpPr>
                      <p:cNvPr id="39973" name="文本框 39972"/>
                      <p:cNvSpPr txBox="1"/>
                      <p:nvPr/>
                    </p:nvSpPr>
                    <p:spPr>
                      <a:xfrm>
                        <a:off x="1429" y="627"/>
                        <a:ext cx="360" cy="2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 anchor="ctr">
                        <a:spAutoFit/>
                      </a:bodyPr>
                      <a:lstStyle/>
                      <a:p>
                        <a:pPr algn="ctr"/>
                        <a:r>
                          <a:rPr lang="en-US" altLang="zh-CN" sz="2400" b="1" i="1">
                            <a:latin typeface="Times New Roman" panose="02020603050405020304" pitchFamily="18" charset="0"/>
                            <a:sym typeface="EuroRoman" panose="00000400000000000000" pitchFamily="2" charset="2"/>
                          </a:rPr>
                          <a:t>d</a:t>
                        </a:r>
                        <a:r>
                          <a:rPr lang="en-US" altLang="zh-CN" sz="2400" b="1" i="1">
                            <a:latin typeface="Times New Roman" panose="02020603050405020304" pitchFamily="18" charset="0"/>
                            <a:sym typeface="Symbol" panose="05050102010706020507" pitchFamily="18" charset="2"/>
                          </a:rPr>
                          <a:t></a:t>
                        </a:r>
                      </a:p>
                    </p:txBody>
                  </p:sp>
                </p:grpSp>
                <p:sp>
                  <p:nvSpPr>
                    <p:cNvPr id="39974" name="未知"/>
                    <p:cNvSpPr/>
                    <p:nvPr/>
                  </p:nvSpPr>
                  <p:spPr>
                    <a:xfrm>
                      <a:off x="1156" y="829"/>
                      <a:ext cx="3" cy="1008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4" h="1594">
                          <a:moveTo>
                            <a:pt x="0" y="0"/>
                          </a:moveTo>
                          <a:lnTo>
                            <a:pt x="4" y="1594"/>
                          </a:lnTo>
                        </a:path>
                      </a:pathLst>
                    </a:custGeom>
                    <a:noFill/>
                    <a:ln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9975" name="未知"/>
                    <p:cNvSpPr/>
                    <p:nvPr/>
                  </p:nvSpPr>
                  <p:spPr>
                    <a:xfrm>
                      <a:off x="1506" y="989"/>
                      <a:ext cx="1" cy="57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" h="572">
                          <a:moveTo>
                            <a:pt x="0" y="0"/>
                          </a:moveTo>
                          <a:lnTo>
                            <a:pt x="1" y="572"/>
                          </a:lnTo>
                        </a:path>
                      </a:pathLst>
                    </a:custGeom>
                    <a:noFill/>
                    <a:ln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9976" name="直接连接符 39975"/>
                    <p:cNvSpPr/>
                    <p:nvPr/>
                  </p:nvSpPr>
                  <p:spPr>
                    <a:xfrm flipV="1">
                      <a:off x="511" y="1055"/>
                      <a:ext cx="0" cy="292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  <p:sp>
                <p:nvSpPr>
                  <p:cNvPr id="39977" name="未知"/>
                  <p:cNvSpPr/>
                  <p:nvPr/>
                </p:nvSpPr>
                <p:spPr>
                  <a:xfrm>
                    <a:off x="2174" y="930"/>
                    <a:ext cx="0" cy="7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" h="1228">
                        <a:moveTo>
                          <a:pt x="0" y="0"/>
                        </a:moveTo>
                        <a:lnTo>
                          <a:pt x="1" y="1228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9978" name="未知"/>
                  <p:cNvSpPr/>
                  <p:nvPr/>
                </p:nvSpPr>
                <p:spPr>
                  <a:xfrm>
                    <a:off x="1605" y="297"/>
                    <a:ext cx="560" cy="62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809" h="981">
                        <a:moveTo>
                          <a:pt x="809" y="981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9979" name="直接连接符 39978"/>
                <p:cNvSpPr/>
                <p:nvPr/>
              </p:nvSpPr>
              <p:spPr>
                <a:xfrm>
                  <a:off x="1156" y="829"/>
                  <a:ext cx="641" cy="255"/>
                </a:xfrm>
                <a:prstGeom prst="line">
                  <a:avLst/>
                </a:prstGeom>
                <a:ln w="38100" cap="flat" cmpd="sng">
                  <a:solidFill>
                    <a:srgbClr val="0033CC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39980" name="未知"/>
              <p:cNvSpPr/>
              <p:nvPr/>
            </p:nvSpPr>
            <p:spPr>
              <a:xfrm>
                <a:off x="1797" y="1084"/>
                <a:ext cx="1" cy="261"/>
              </a:xfrm>
              <a:custGeom>
                <a:avLst/>
                <a:gdLst/>
                <a:ahLst/>
                <a:cxnLst/>
                <a:rect l="0" t="0" r="0" b="0"/>
                <a:pathLst>
                  <a:path w="1" h="413">
                    <a:moveTo>
                      <a:pt x="0" y="0"/>
                    </a:moveTo>
                    <a:lnTo>
                      <a:pt x="0" y="413"/>
                    </a:lnTo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81" name="直接连接符 39980"/>
              <p:cNvSpPr/>
              <p:nvPr/>
            </p:nvSpPr>
            <p:spPr>
              <a:xfrm flipH="1" flipV="1">
                <a:off x="165" y="829"/>
                <a:ext cx="346" cy="226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9982" name="文本框 39981"/>
            <p:cNvSpPr txBox="1"/>
            <p:nvPr/>
          </p:nvSpPr>
          <p:spPr>
            <a:xfrm>
              <a:off x="329" y="1204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39983" name="组合 39982"/>
          <p:cNvGrpSpPr/>
          <p:nvPr/>
        </p:nvGrpSpPr>
        <p:grpSpPr>
          <a:xfrm>
            <a:off x="6754813" y="1865313"/>
            <a:ext cx="3070225" cy="3236912"/>
            <a:chOff x="0" y="0"/>
            <a:chExt cx="1934" cy="2039"/>
          </a:xfrm>
        </p:grpSpPr>
        <p:sp>
          <p:nvSpPr>
            <p:cNvPr id="39984" name="直接连接符 39983"/>
            <p:cNvSpPr/>
            <p:nvPr/>
          </p:nvSpPr>
          <p:spPr>
            <a:xfrm>
              <a:off x="0" y="1134"/>
              <a:ext cx="1934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85" name="直接连接符 39984"/>
            <p:cNvSpPr/>
            <p:nvPr/>
          </p:nvSpPr>
          <p:spPr>
            <a:xfrm flipV="1">
              <a:off x="325" y="155"/>
              <a:ext cx="1197" cy="691"/>
            </a:xfrm>
            <a:prstGeom prst="line">
              <a:avLst/>
            </a:prstGeom>
            <a:ln w="381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86" name="直接连接符 39985"/>
            <p:cNvSpPr/>
            <p:nvPr/>
          </p:nvSpPr>
          <p:spPr>
            <a:xfrm>
              <a:off x="557" y="360"/>
              <a:ext cx="745" cy="430"/>
            </a:xfrm>
            <a:prstGeom prst="line">
              <a:avLst/>
            </a:prstGeom>
            <a:ln w="38100" cap="flat" cmpd="sng">
              <a:solidFill>
                <a:srgbClr val="0033CC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87" name="直接连接符 39986"/>
            <p:cNvSpPr/>
            <p:nvPr/>
          </p:nvSpPr>
          <p:spPr>
            <a:xfrm>
              <a:off x="557" y="380"/>
              <a:ext cx="0" cy="1533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88" name="直接连接符 39987"/>
            <p:cNvSpPr/>
            <p:nvPr/>
          </p:nvSpPr>
          <p:spPr>
            <a:xfrm>
              <a:off x="1302" y="790"/>
              <a:ext cx="0" cy="757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89" name="直接连接符 39988"/>
            <p:cNvSpPr/>
            <p:nvPr/>
          </p:nvSpPr>
          <p:spPr>
            <a:xfrm flipH="1">
              <a:off x="557" y="1547"/>
              <a:ext cx="745" cy="352"/>
            </a:xfrm>
            <a:prstGeom prst="line">
              <a:avLst/>
            </a:prstGeom>
            <a:ln w="38100" cap="flat" cmpd="sng">
              <a:solidFill>
                <a:srgbClr val="0033CC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90" name="未知"/>
            <p:cNvSpPr/>
            <p:nvPr/>
          </p:nvSpPr>
          <p:spPr>
            <a:xfrm>
              <a:off x="870" y="531"/>
              <a:ext cx="1" cy="1220"/>
            </a:xfrm>
            <a:custGeom>
              <a:avLst/>
              <a:gdLst/>
              <a:ahLst/>
              <a:cxnLst/>
              <a:rect l="0" t="0" r="0" b="0"/>
              <a:pathLst>
                <a:path w="1" h="1220">
                  <a:moveTo>
                    <a:pt x="0" y="0"/>
                  </a:moveTo>
                  <a:lnTo>
                    <a:pt x="0" y="122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91" name="直接连接符 39990"/>
            <p:cNvSpPr/>
            <p:nvPr/>
          </p:nvSpPr>
          <p:spPr>
            <a:xfrm>
              <a:off x="325" y="846"/>
              <a:ext cx="0" cy="77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92" name="直接连接符 39991"/>
            <p:cNvSpPr/>
            <p:nvPr/>
          </p:nvSpPr>
          <p:spPr>
            <a:xfrm>
              <a:off x="325" y="1624"/>
              <a:ext cx="1197" cy="276"/>
            </a:xfrm>
            <a:prstGeom prst="line">
              <a:avLst/>
            </a:prstGeom>
            <a:ln w="381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93" name="直接连接符 39992"/>
            <p:cNvSpPr/>
            <p:nvPr/>
          </p:nvSpPr>
          <p:spPr>
            <a:xfrm flipV="1">
              <a:off x="1522" y="173"/>
              <a:ext cx="0" cy="1727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94" name="文本框 39993"/>
            <p:cNvSpPr txBox="1"/>
            <p:nvPr/>
          </p:nvSpPr>
          <p:spPr>
            <a:xfrm>
              <a:off x="171" y="1449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39995" name="文本框 39994"/>
            <p:cNvSpPr txBox="1"/>
            <p:nvPr/>
          </p:nvSpPr>
          <p:spPr>
            <a:xfrm>
              <a:off x="1470" y="1737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39996" name="文本框 39995"/>
            <p:cNvSpPr txBox="1"/>
            <p:nvPr/>
          </p:nvSpPr>
          <p:spPr>
            <a:xfrm>
              <a:off x="408" y="1751"/>
              <a:ext cx="20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39997" name="文本框 39996"/>
            <p:cNvSpPr txBox="1"/>
            <p:nvPr/>
          </p:nvSpPr>
          <p:spPr>
            <a:xfrm>
              <a:off x="1248" y="1389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39998" name="文本框 39997"/>
            <p:cNvSpPr txBox="1"/>
            <p:nvPr/>
          </p:nvSpPr>
          <p:spPr>
            <a:xfrm>
              <a:off x="1478" y="0"/>
              <a:ext cx="26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b</a:t>
              </a:r>
              <a:r>
                <a:rPr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</a:t>
              </a:r>
            </a:p>
          </p:txBody>
        </p:sp>
        <p:sp>
          <p:nvSpPr>
            <p:cNvPr id="39999" name="文本框 39998"/>
            <p:cNvSpPr txBox="1"/>
            <p:nvPr/>
          </p:nvSpPr>
          <p:spPr>
            <a:xfrm>
              <a:off x="167" y="630"/>
              <a:ext cx="26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  <a:sym typeface="EuroRoman" panose="00000400000000000000" pitchFamily="2" charset="2"/>
                </a:rPr>
                <a:t>a</a:t>
              </a:r>
              <a:r>
                <a:rPr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</a:t>
              </a:r>
            </a:p>
          </p:txBody>
        </p:sp>
        <p:sp>
          <p:nvSpPr>
            <p:cNvPr id="40000" name="文本框 39999"/>
            <p:cNvSpPr txBox="1"/>
            <p:nvPr/>
          </p:nvSpPr>
          <p:spPr>
            <a:xfrm>
              <a:off x="384" y="183"/>
              <a:ext cx="24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  <a:sym typeface="EuroRoman" panose="00000400000000000000" pitchFamily="2" charset="2"/>
                </a:rPr>
                <a:t>c</a:t>
              </a:r>
              <a:r>
                <a:rPr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</a:t>
              </a:r>
            </a:p>
          </p:txBody>
        </p:sp>
        <p:sp>
          <p:nvSpPr>
            <p:cNvPr id="40001" name="文本框 40000"/>
            <p:cNvSpPr txBox="1"/>
            <p:nvPr/>
          </p:nvSpPr>
          <p:spPr>
            <a:xfrm>
              <a:off x="1261" y="579"/>
              <a:ext cx="26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  <a:sym typeface="EuroRoman" panose="00000400000000000000" pitchFamily="2" charset="2"/>
                </a:rPr>
                <a:t>d</a:t>
              </a:r>
              <a:r>
                <a:rPr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</a:t>
              </a:r>
            </a:p>
          </p:txBody>
        </p:sp>
        <p:sp>
          <p:nvSpPr>
            <p:cNvPr id="40002" name="文本框 40001"/>
            <p:cNvSpPr txBox="1"/>
            <p:nvPr/>
          </p:nvSpPr>
          <p:spPr>
            <a:xfrm>
              <a:off x="792" y="1706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k</a:t>
              </a:r>
            </a:p>
          </p:txBody>
        </p:sp>
        <p:sp>
          <p:nvSpPr>
            <p:cNvPr id="40003" name="文本框 40002"/>
            <p:cNvSpPr txBox="1"/>
            <p:nvPr/>
          </p:nvSpPr>
          <p:spPr>
            <a:xfrm>
              <a:off x="774" y="260"/>
              <a:ext cx="26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  <a:sym typeface="EuroRoman" panose="00000400000000000000" pitchFamily="2" charset="2"/>
                </a:rPr>
                <a:t>k</a:t>
              </a:r>
              <a:r>
                <a:rPr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</a:t>
              </a:r>
            </a:p>
          </p:txBody>
        </p:sp>
      </p:grpSp>
      <p:sp>
        <p:nvSpPr>
          <p:cNvPr id="40004" name="文本框 40003"/>
          <p:cNvSpPr txBox="1"/>
          <p:nvPr/>
        </p:nvSpPr>
        <p:spPr>
          <a:xfrm>
            <a:off x="1394460" y="5866765"/>
            <a:ext cx="7053580" cy="30670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/>
          <a:p>
            <a:pPr algn="just"/>
            <a:r>
              <a:rPr lang="zh-CN" altLang="en-US" sz="14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若空间两直线</a:t>
            </a:r>
            <a:r>
              <a:rPr lang="zh-CN" altLang="en-US" sz="1400">
                <a:solidFill>
                  <a:srgbClr val="FF33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相交</a:t>
            </a:r>
            <a:r>
              <a:rPr lang="zh-CN" altLang="en-US" sz="14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，则其同面投影必</a:t>
            </a:r>
            <a:r>
              <a:rPr lang="zh-CN" altLang="en-US" sz="1400">
                <a:solidFill>
                  <a:srgbClr val="FF33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相交</a:t>
            </a:r>
            <a:r>
              <a:rPr lang="zh-CN" altLang="en-US" sz="14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，且交点的投影必符合空间</a:t>
            </a:r>
            <a:r>
              <a:rPr lang="zh-CN" altLang="en-US" sz="140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一点的投影规律</a:t>
            </a:r>
            <a:r>
              <a:rPr lang="zh-CN" altLang="en-US" sz="14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</a:p>
        </p:txBody>
      </p:sp>
      <p:sp>
        <p:nvSpPr>
          <p:cNvPr id="40005" name="云形标注 40004"/>
          <p:cNvSpPr/>
          <p:nvPr/>
        </p:nvSpPr>
        <p:spPr>
          <a:xfrm>
            <a:off x="6602730" y="1572814"/>
            <a:ext cx="3068638" cy="492924"/>
          </a:xfrm>
          <a:prstGeom prst="cloudCallout">
            <a:avLst>
              <a:gd name="adj1" fmla="val 2208"/>
              <a:gd name="adj2" fmla="val 115381"/>
            </a:avLst>
          </a:prstGeom>
          <a:solidFill>
            <a:schemeClr val="accent1">
              <a:lumMod val="20000"/>
              <a:lumOff val="80000"/>
            </a:schemeClr>
          </a:solidFill>
          <a:ln w="9525" cap="flat" cmpd="sng">
            <a:noFill/>
            <a:prstDash val="solid"/>
            <a:headEnd type="none" w="med" len="med"/>
            <a:tailEnd type="none" w="med" len="med"/>
          </a:ln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交点符合点的投影规律</a:t>
            </a:r>
          </a:p>
        </p:txBody>
      </p:sp>
      <p:sp>
        <p:nvSpPr>
          <p:cNvPr id="40007" name="文本框 40006"/>
          <p:cNvSpPr txBox="1"/>
          <p:nvPr/>
        </p:nvSpPr>
        <p:spPr>
          <a:xfrm>
            <a:off x="1358265" y="5388610"/>
            <a:ext cx="304736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投影特性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024890" y="958533"/>
            <a:ext cx="3376613" cy="36830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zh-CN" altLang="en-US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）两直线相交</a:t>
            </a:r>
            <a:endParaRPr lang="en-US" altLang="zh-CN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99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99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99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99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00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00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75"/>
                                        <p:tgtEl>
                                          <p:spTgt spid="400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00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00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004" grpId="0" build="p"/>
      <p:bldP spid="40005" grpId="0" bldLvl="0" animBg="1"/>
      <p:bldP spid="40007" grpId="0"/>
      <p:bldP spid="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62" name="组合 40961"/>
          <p:cNvGrpSpPr/>
          <p:nvPr/>
        </p:nvGrpSpPr>
        <p:grpSpPr>
          <a:xfrm>
            <a:off x="917575" y="1253808"/>
            <a:ext cx="4808538" cy="4075112"/>
            <a:chOff x="0" y="0"/>
            <a:chExt cx="3029" cy="2567"/>
          </a:xfrm>
        </p:grpSpPr>
        <p:sp>
          <p:nvSpPr>
            <p:cNvPr id="40963" name="文本框 40962"/>
            <p:cNvSpPr txBox="1"/>
            <p:nvPr/>
          </p:nvSpPr>
          <p:spPr>
            <a:xfrm>
              <a:off x="675" y="2349"/>
              <a:ext cx="196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000" b="1">
                  <a:latin typeface="Times New Roman" panose="02020603050405020304" pitchFamily="18" charset="0"/>
                </a:rPr>
                <a:t>●</a:t>
              </a:r>
              <a:endParaRPr lang="zh-CN" altLang="en-US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40964" name="文本框 40963"/>
            <p:cNvSpPr txBox="1"/>
            <p:nvPr/>
          </p:nvSpPr>
          <p:spPr>
            <a:xfrm>
              <a:off x="668" y="511"/>
              <a:ext cx="196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000" b="1">
                  <a:latin typeface="Times New Roman" panose="02020603050405020304" pitchFamily="18" charset="0"/>
                </a:rPr>
                <a:t>●</a:t>
              </a:r>
              <a:endParaRPr lang="zh-CN" altLang="en-US" sz="10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40965" name="组合 40964"/>
            <p:cNvGrpSpPr/>
            <p:nvPr/>
          </p:nvGrpSpPr>
          <p:grpSpPr>
            <a:xfrm>
              <a:off x="0" y="0"/>
              <a:ext cx="3029" cy="2567"/>
              <a:chOff x="0" y="0"/>
              <a:chExt cx="3029" cy="2567"/>
            </a:xfrm>
          </p:grpSpPr>
          <p:sp>
            <p:nvSpPr>
              <p:cNvPr id="40966" name="直接连接符 40965"/>
              <p:cNvSpPr/>
              <p:nvPr/>
            </p:nvSpPr>
            <p:spPr>
              <a:xfrm flipV="1">
                <a:off x="2374" y="161"/>
                <a:ext cx="0" cy="2137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0967" name="文本框 40966"/>
              <p:cNvSpPr txBox="1"/>
              <p:nvPr/>
            </p:nvSpPr>
            <p:spPr>
              <a:xfrm>
                <a:off x="571" y="2279"/>
                <a:ext cx="201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2400" b="1" i="1">
                    <a:latin typeface="Times New Roman" panose="02020603050405020304" pitchFamily="18" charset="0"/>
                  </a:rPr>
                  <a:t>c</a:t>
                </a:r>
              </a:p>
            </p:txBody>
          </p:sp>
          <p:sp>
            <p:nvSpPr>
              <p:cNvPr id="40968" name="直接连接符 40967"/>
              <p:cNvSpPr/>
              <p:nvPr/>
            </p:nvSpPr>
            <p:spPr>
              <a:xfrm>
                <a:off x="0" y="1370"/>
                <a:ext cx="3029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0969" name="直接连接符 40968"/>
              <p:cNvSpPr/>
              <p:nvPr/>
            </p:nvSpPr>
            <p:spPr>
              <a:xfrm flipV="1">
                <a:off x="509" y="158"/>
                <a:ext cx="1875" cy="856"/>
              </a:xfrm>
              <a:prstGeom prst="line">
                <a:avLst/>
              </a:prstGeom>
              <a:ln w="38100" cap="flat" cmpd="sng">
                <a:solidFill>
                  <a:srgbClr val="8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0970" name="直接连接符 40969"/>
              <p:cNvSpPr/>
              <p:nvPr/>
            </p:nvSpPr>
            <p:spPr>
              <a:xfrm>
                <a:off x="509" y="1014"/>
                <a:ext cx="0" cy="964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0971" name="直接连接符 40970"/>
              <p:cNvSpPr/>
              <p:nvPr/>
            </p:nvSpPr>
            <p:spPr>
              <a:xfrm>
                <a:off x="509" y="1976"/>
                <a:ext cx="1875" cy="342"/>
              </a:xfrm>
              <a:prstGeom prst="line">
                <a:avLst/>
              </a:prstGeom>
              <a:ln w="38100" cap="flat" cmpd="sng">
                <a:solidFill>
                  <a:srgbClr val="8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0972" name="文本框 40971"/>
              <p:cNvSpPr txBox="1"/>
              <p:nvPr/>
            </p:nvSpPr>
            <p:spPr>
              <a:xfrm>
                <a:off x="329" y="1793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2400" b="1" i="1">
                    <a:latin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40973" name="文本框 40972"/>
              <p:cNvSpPr txBox="1"/>
              <p:nvPr/>
            </p:nvSpPr>
            <p:spPr>
              <a:xfrm>
                <a:off x="2302" y="2150"/>
                <a:ext cx="33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>
                <a:spAutoFit/>
              </a:bodyPr>
              <a:lstStyle/>
              <a:p>
                <a:pPr algn="ctr"/>
                <a:r>
                  <a:rPr lang="en-US" altLang="zh-CN" sz="2400" b="1" i="1">
                    <a:latin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40974" name="文本框 40973"/>
              <p:cNvSpPr txBox="1"/>
              <p:nvPr/>
            </p:nvSpPr>
            <p:spPr>
              <a:xfrm>
                <a:off x="2388" y="0"/>
                <a:ext cx="260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2400" b="1" i="1">
                    <a:latin typeface="Times New Roman" panose="02020603050405020304" pitchFamily="18" charset="0"/>
                    <a:sym typeface="EuroRoman" panose="00000400000000000000" pitchFamily="2" charset="2"/>
                  </a:rPr>
                  <a:t>b</a:t>
                </a:r>
                <a:r>
                  <a:rPr lang="en-US" altLang="zh-CN" sz="2400" b="1" i="1">
                    <a:latin typeface="Times New Roman" panose="02020603050405020304" pitchFamily="18" charset="0"/>
                    <a:sym typeface="Symbol" panose="05050102010706020507" pitchFamily="18" charset="2"/>
                  </a:rPr>
                  <a:t></a:t>
                </a:r>
              </a:p>
            </p:txBody>
          </p:sp>
          <p:sp>
            <p:nvSpPr>
              <p:cNvPr id="40975" name="文本框 40974"/>
              <p:cNvSpPr txBox="1"/>
              <p:nvPr/>
            </p:nvSpPr>
            <p:spPr>
              <a:xfrm>
                <a:off x="335" y="780"/>
                <a:ext cx="260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2400" b="1" i="1">
                    <a:latin typeface="Times New Roman" panose="02020603050405020304" pitchFamily="18" charset="0"/>
                    <a:sym typeface="EuroRoman" panose="00000400000000000000" pitchFamily="2" charset="2"/>
                  </a:rPr>
                  <a:t>a</a:t>
                </a:r>
                <a:r>
                  <a:rPr lang="en-US" altLang="zh-CN" sz="2400" b="1" i="1">
                    <a:latin typeface="Times New Roman" panose="02020603050405020304" pitchFamily="18" charset="0"/>
                    <a:sym typeface="Symbol" panose="05050102010706020507" pitchFamily="18" charset="2"/>
                  </a:rPr>
                  <a:t></a:t>
                </a:r>
              </a:p>
            </p:txBody>
          </p:sp>
          <p:sp>
            <p:nvSpPr>
              <p:cNvPr id="40976" name="文本框 40975"/>
              <p:cNvSpPr txBox="1"/>
              <p:nvPr/>
            </p:nvSpPr>
            <p:spPr>
              <a:xfrm>
                <a:off x="560" y="403"/>
                <a:ext cx="249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2400" b="1" i="1">
                    <a:latin typeface="Times New Roman" panose="02020603050405020304" pitchFamily="18" charset="0"/>
                    <a:sym typeface="EuroRoman" panose="00000400000000000000" pitchFamily="2" charset="2"/>
                  </a:rPr>
                  <a:t>c</a:t>
                </a:r>
                <a:r>
                  <a:rPr lang="en-US" altLang="zh-CN" sz="2400" b="1" i="1">
                    <a:latin typeface="Times New Roman" panose="02020603050405020304" pitchFamily="18" charset="0"/>
                    <a:sym typeface="Symbol" panose="05050102010706020507" pitchFamily="18" charset="2"/>
                  </a:rPr>
                  <a:t></a:t>
                </a:r>
              </a:p>
            </p:txBody>
          </p:sp>
          <p:sp>
            <p:nvSpPr>
              <p:cNvPr id="40977" name="直接连接符 40976"/>
              <p:cNvSpPr/>
              <p:nvPr/>
            </p:nvSpPr>
            <p:spPr>
              <a:xfrm>
                <a:off x="766" y="588"/>
                <a:ext cx="0" cy="185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40978" name="直接连接符 40977"/>
          <p:cNvSpPr/>
          <p:nvPr/>
        </p:nvSpPr>
        <p:spPr>
          <a:xfrm flipV="1">
            <a:off x="2145983" y="4197033"/>
            <a:ext cx="2182812" cy="915987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40979" name="组合 40978"/>
          <p:cNvGrpSpPr/>
          <p:nvPr/>
        </p:nvGrpSpPr>
        <p:grpSpPr>
          <a:xfrm>
            <a:off x="2144395" y="1774508"/>
            <a:ext cx="2530475" cy="517525"/>
            <a:chOff x="0" y="0"/>
            <a:chExt cx="1594" cy="326"/>
          </a:xfrm>
        </p:grpSpPr>
        <p:sp>
          <p:nvSpPr>
            <p:cNvPr id="40980" name="文本框 40979"/>
            <p:cNvSpPr txBox="1"/>
            <p:nvPr/>
          </p:nvSpPr>
          <p:spPr>
            <a:xfrm>
              <a:off x="1334" y="38"/>
              <a:ext cx="26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d</a:t>
              </a:r>
              <a:r>
                <a:rPr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</a:t>
              </a:r>
            </a:p>
          </p:txBody>
        </p:sp>
        <p:sp>
          <p:nvSpPr>
            <p:cNvPr id="40981" name="文本框 40980"/>
            <p:cNvSpPr txBox="1"/>
            <p:nvPr/>
          </p:nvSpPr>
          <p:spPr>
            <a:xfrm>
              <a:off x="548" y="0"/>
              <a:ext cx="26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  <a:sym typeface="EuroRoman" panose="00000400000000000000" pitchFamily="2" charset="2"/>
                </a:rPr>
                <a:t>k</a:t>
              </a:r>
              <a:r>
                <a:rPr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</a:t>
              </a:r>
            </a:p>
          </p:txBody>
        </p:sp>
        <p:sp>
          <p:nvSpPr>
            <p:cNvPr id="40982" name="直接连接符 40981"/>
            <p:cNvSpPr/>
            <p:nvPr/>
          </p:nvSpPr>
          <p:spPr>
            <a:xfrm>
              <a:off x="0" y="248"/>
              <a:ext cx="1375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40983" name="组合 40982"/>
          <p:cNvGrpSpPr/>
          <p:nvPr/>
        </p:nvGrpSpPr>
        <p:grpSpPr>
          <a:xfrm>
            <a:off x="3104833" y="2168208"/>
            <a:ext cx="336550" cy="2878137"/>
            <a:chOff x="0" y="0"/>
            <a:chExt cx="212" cy="1813"/>
          </a:xfrm>
        </p:grpSpPr>
        <p:sp>
          <p:nvSpPr>
            <p:cNvPr id="40984" name="文本框 40983"/>
            <p:cNvSpPr txBox="1"/>
            <p:nvPr/>
          </p:nvSpPr>
          <p:spPr>
            <a:xfrm>
              <a:off x="0" y="1525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k</a:t>
              </a:r>
            </a:p>
          </p:txBody>
        </p:sp>
        <p:sp>
          <p:nvSpPr>
            <p:cNvPr id="40985" name="直接连接符 40984"/>
            <p:cNvSpPr/>
            <p:nvPr/>
          </p:nvSpPr>
          <p:spPr>
            <a:xfrm>
              <a:off x="69" y="0"/>
              <a:ext cx="0" cy="156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40986" name="组合 40985"/>
          <p:cNvGrpSpPr/>
          <p:nvPr/>
        </p:nvGrpSpPr>
        <p:grpSpPr>
          <a:xfrm>
            <a:off x="4217670" y="2168208"/>
            <a:ext cx="336550" cy="2390775"/>
            <a:chOff x="0" y="0"/>
            <a:chExt cx="212" cy="1506"/>
          </a:xfrm>
        </p:grpSpPr>
        <p:sp>
          <p:nvSpPr>
            <p:cNvPr id="40987" name="文本框 40986"/>
            <p:cNvSpPr txBox="1"/>
            <p:nvPr/>
          </p:nvSpPr>
          <p:spPr>
            <a:xfrm>
              <a:off x="0" y="1218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40988" name="直接连接符 40987"/>
            <p:cNvSpPr/>
            <p:nvPr/>
          </p:nvSpPr>
          <p:spPr>
            <a:xfrm>
              <a:off x="69" y="0"/>
              <a:ext cx="0" cy="1273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40991" name="文本框 40990"/>
          <p:cNvSpPr txBox="1"/>
          <p:nvPr/>
        </p:nvSpPr>
        <p:spPr>
          <a:xfrm>
            <a:off x="5960110" y="4123690"/>
            <a:ext cx="4298950" cy="3067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先作正面投影：作</a:t>
            </a:r>
            <a:r>
              <a:rPr lang="en-US" altLang="zh-CN" sz="1400" i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EuroRoman" panose="00000400000000000000" pitchFamily="2" charset="2"/>
              </a:rPr>
              <a:t>c</a:t>
            </a:r>
            <a:r>
              <a:rPr lang="en-US" altLang="zh-CN" sz="1400" i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 </a:t>
            </a:r>
            <a:r>
              <a:rPr lang="en-US" altLang="zh-CN" sz="1400" i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</a:t>
            </a:r>
            <a:r>
              <a:rPr lang="en-US" altLang="zh-CN" sz="1400" i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∥OX 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交</a:t>
            </a:r>
            <a:r>
              <a:rPr lang="en-US" altLang="zh-CN" sz="1400" i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EuroRoman" panose="00000400000000000000" pitchFamily="2" charset="2"/>
              </a:rPr>
              <a:t>a</a:t>
            </a:r>
            <a:r>
              <a:rPr lang="en-US" altLang="zh-CN" sz="1400" i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 </a:t>
            </a:r>
            <a:r>
              <a:rPr lang="en-US" altLang="zh-CN" sz="1400" i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EuroRoman" panose="00000400000000000000" pitchFamily="2" charset="2"/>
              </a:rPr>
              <a:t>b</a:t>
            </a:r>
            <a:r>
              <a:rPr lang="en-US" altLang="zh-CN" sz="1400" i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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于</a:t>
            </a:r>
            <a:r>
              <a:rPr lang="en-US" altLang="zh-CN" sz="1400" i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EuroRoman" panose="00000400000000000000" pitchFamily="2" charset="2"/>
              </a:rPr>
              <a:t>k</a:t>
            </a:r>
            <a:r>
              <a:rPr lang="en-US" altLang="zh-CN" sz="1400" i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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。</a:t>
            </a:r>
          </a:p>
        </p:txBody>
      </p:sp>
      <p:sp>
        <p:nvSpPr>
          <p:cNvPr id="40992" name="文本框 40991"/>
          <p:cNvSpPr txBox="1"/>
          <p:nvPr/>
        </p:nvSpPr>
        <p:spPr>
          <a:xfrm>
            <a:off x="5746433" y="3233420"/>
            <a:ext cx="360362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 i="1">
                <a:latin typeface="Arial" panose="020B0604020202020204" pitchFamily="34" charset="0"/>
              </a:rPr>
              <a:t>O</a:t>
            </a:r>
          </a:p>
        </p:txBody>
      </p:sp>
      <p:sp>
        <p:nvSpPr>
          <p:cNvPr id="40993" name="文本框 40992"/>
          <p:cNvSpPr txBox="1"/>
          <p:nvPr/>
        </p:nvSpPr>
        <p:spPr>
          <a:xfrm>
            <a:off x="417195" y="3304858"/>
            <a:ext cx="36036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i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40994" name="文本框 40993"/>
          <p:cNvSpPr txBox="1"/>
          <p:nvPr/>
        </p:nvSpPr>
        <p:spPr>
          <a:xfrm>
            <a:off x="5960110" y="4556760"/>
            <a:ext cx="4298315" cy="3067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依据点的投影规律，找出</a:t>
            </a:r>
            <a:r>
              <a:rPr lang="en-US" altLang="zh-CN" sz="1400" i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</a:t>
            </a:r>
            <a:r>
              <a:rPr lang="zh-CN" altLang="en-US" sz="1400" i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点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，连接</a:t>
            </a:r>
            <a:r>
              <a:rPr lang="en-US" altLang="zh-CN" sz="1400" i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ck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并延长。</a:t>
            </a:r>
          </a:p>
        </p:txBody>
      </p:sp>
      <p:sp>
        <p:nvSpPr>
          <p:cNvPr id="40989" name="文本框 40988"/>
          <p:cNvSpPr txBox="1"/>
          <p:nvPr/>
        </p:nvSpPr>
        <p:spPr>
          <a:xfrm>
            <a:off x="1183958" y="778351"/>
            <a:ext cx="8397875" cy="36830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zh-CN" altLang="en-US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</a:t>
            </a:r>
            <a:r>
              <a:rPr lang="zh-CN" altLang="en-US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过</a:t>
            </a:r>
            <a:r>
              <a:rPr lang="en-US" altLang="zh-CN" i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点作</a:t>
            </a:r>
            <a:r>
              <a:rPr lang="zh-CN" altLang="en-US">
                <a:solidFill>
                  <a:srgbClr val="660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水平线</a:t>
            </a:r>
            <a:r>
              <a:rPr lang="en-US" altLang="zh-CN" i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CD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与</a:t>
            </a:r>
            <a:r>
              <a:rPr lang="en-US" altLang="zh-CN" i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AB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相交。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960110" y="4956810"/>
            <a:ext cx="4298315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</a:t>
            </a:r>
            <a:r>
              <a:rPr lang="en-US" altLang="zh-CN" sz="1400" i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</a:t>
            </a:r>
            <a:r>
              <a:rPr lang="zh-CN" altLang="en-US" sz="1400" i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点在</a:t>
            </a:r>
            <a:r>
              <a:rPr lang="en-US" altLang="zh-CN" sz="1400" i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ck</a:t>
            </a:r>
            <a:r>
              <a:rPr lang="zh-CN" altLang="en-US" sz="1400" i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的延长线上，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依据点的投影规律，求得</a:t>
            </a:r>
            <a:r>
              <a:rPr lang="en-US" altLang="zh-CN" sz="1400" i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0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0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0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40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1" grpId="0"/>
      <p:bldP spid="40994" grpId="0"/>
      <p:bldP spid="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29" name="云形标注 42028"/>
          <p:cNvSpPr/>
          <p:nvPr/>
        </p:nvSpPr>
        <p:spPr>
          <a:xfrm>
            <a:off x="4394200" y="1595120"/>
            <a:ext cx="2232025" cy="633730"/>
          </a:xfrm>
          <a:prstGeom prst="cloudCallout">
            <a:avLst>
              <a:gd name="adj1" fmla="val -109260"/>
              <a:gd name="adj2" fmla="val 38362"/>
            </a:avLst>
          </a:prstGeom>
          <a:gradFill rotWithShape="1">
            <a:gsLst>
              <a:gs pos="0">
                <a:srgbClr val="CCFF66"/>
              </a:gs>
              <a:gs pos="100000">
                <a:srgbClr val="CCFF66">
                  <a:gamma/>
                  <a:tint val="0"/>
                  <a:invGamma/>
                </a:srgbClr>
              </a:gs>
            </a:gsLst>
            <a:path path="shape">
              <a:fillToRect l="50000" t="50000" r="50000" b="50000"/>
            </a:path>
            <a:tileRect/>
          </a:gradFill>
          <a:ln w="0" cap="flat" cmpd="sng">
            <a:noFill/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algn="ctr"/>
            <a:r>
              <a:rPr lang="zh-CN" altLang="en-US" sz="1400">
                <a:solidFill>
                  <a:srgbClr val="660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两直线是否相交？</a:t>
            </a:r>
          </a:p>
        </p:txBody>
      </p:sp>
      <p:sp>
        <p:nvSpPr>
          <p:cNvPr id="42007" name="文本框 42006"/>
          <p:cNvSpPr txBox="1"/>
          <p:nvPr/>
        </p:nvSpPr>
        <p:spPr>
          <a:xfrm>
            <a:off x="4835843" y="3195955"/>
            <a:ext cx="3027362" cy="36830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algn="l"/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投影特性：</a:t>
            </a:r>
          </a:p>
        </p:txBody>
      </p:sp>
      <p:sp>
        <p:nvSpPr>
          <p:cNvPr id="42008" name="文本框 42007"/>
          <p:cNvSpPr txBox="1"/>
          <p:nvPr/>
        </p:nvSpPr>
        <p:spPr>
          <a:xfrm>
            <a:off x="4836160" y="3686810"/>
            <a:ext cx="6720205" cy="30670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/>
          <a:p>
            <a:r>
              <a:rPr lang="zh-CN" alt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★ 同面投影可能相交，但 </a:t>
            </a:r>
            <a:r>
              <a:rPr lang="zh-CN" altLang="en-US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“交点”不符合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空间一个</a:t>
            </a:r>
            <a:r>
              <a:rPr lang="zh-CN" altLang="en-US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点的投影规律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</a:p>
        </p:txBody>
      </p:sp>
      <p:sp>
        <p:nvSpPr>
          <p:cNvPr id="42009" name="文本框 42008"/>
          <p:cNvSpPr txBox="1"/>
          <p:nvPr/>
        </p:nvSpPr>
        <p:spPr>
          <a:xfrm>
            <a:off x="4846320" y="4043363"/>
            <a:ext cx="6887210" cy="30670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/>
          <a:p>
            <a:r>
              <a:rPr lang="zh-CN" alt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★ “交点”是两直线上的</a:t>
            </a:r>
            <a:r>
              <a:rPr lang="zh-CN" altLang="en-US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 对重影点的投影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，用其可帮助判断两直线的空间位置。</a:t>
            </a:r>
          </a:p>
        </p:txBody>
      </p:sp>
      <p:sp>
        <p:nvSpPr>
          <p:cNvPr id="42012" name="矩形标注 42011"/>
          <p:cNvSpPr/>
          <p:nvPr/>
        </p:nvSpPr>
        <p:spPr>
          <a:xfrm>
            <a:off x="3036888" y="5176203"/>
            <a:ext cx="3589337" cy="521969"/>
          </a:xfrm>
          <a:prstGeom prst="wedgeRectCallout">
            <a:avLst>
              <a:gd name="adj1" fmla="val -8162"/>
              <a:gd name="adj2" fmla="val -42278"/>
            </a:avLst>
          </a:prstGeom>
          <a:gradFill rotWithShape="1">
            <a:gsLst>
              <a:gs pos="0">
                <a:schemeClr val="accent6">
                  <a:lumMod val="20000"/>
                  <a:lumOff val="80000"/>
                </a:schemeClr>
              </a:gs>
              <a:gs pos="100000">
                <a:srgbClr val="F9FFEC"/>
              </a:gs>
            </a:gsLst>
            <a:lin ang="5400000" scaled="0"/>
          </a:gradFill>
          <a:ln w="9525">
            <a:noFill/>
          </a:ln>
        </p:spPr>
        <p:txBody>
          <a:bodyPr anchor="ctr">
            <a:spAutoFit/>
          </a:bodyPr>
          <a:lstStyle/>
          <a:p>
            <a:pPr algn="ctr"/>
            <a:r>
              <a:rPr lang="en-US" altLang="zh-CN" sz="1400" i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Ⅰ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400" i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Ⅱ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</a:t>
            </a:r>
            <a:r>
              <a:rPr lang="zh-CN" altLang="en-US" sz="1400" i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Ｖ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面的</a:t>
            </a:r>
            <a:r>
              <a:rPr lang="zh-CN" altLang="en-US" sz="1400">
                <a:solidFill>
                  <a:srgbClr val="660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重影点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</a:p>
          <a:p>
            <a:pPr algn="ctr"/>
            <a:r>
              <a:rPr lang="en-US" altLang="zh-CN" sz="1400" i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Ⅲ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400" i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Ⅳ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</a:t>
            </a:r>
            <a:r>
              <a:rPr lang="en-US" altLang="zh-CN" sz="1400" i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面的</a:t>
            </a:r>
            <a:r>
              <a:rPr lang="zh-CN" altLang="en-US" sz="1400">
                <a:solidFill>
                  <a:srgbClr val="660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重影点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</a:p>
        </p:txBody>
      </p:sp>
      <p:sp>
        <p:nvSpPr>
          <p:cNvPr id="42020" name="文本框 42019"/>
          <p:cNvSpPr txBox="1"/>
          <p:nvPr/>
        </p:nvSpPr>
        <p:spPr>
          <a:xfrm>
            <a:off x="673418" y="803593"/>
            <a:ext cx="3376612" cy="36830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）两直线交叉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415925" y="1397000"/>
            <a:ext cx="4275138" cy="3159125"/>
            <a:chOff x="0" y="0"/>
            <a:chExt cx="2693" cy="1990"/>
          </a:xfrm>
        </p:grpSpPr>
        <p:sp>
          <p:nvSpPr>
            <p:cNvPr id="3" name="直接连接符 2"/>
            <p:cNvSpPr/>
            <p:nvPr/>
          </p:nvSpPr>
          <p:spPr>
            <a:xfrm>
              <a:off x="0" y="1055"/>
              <a:ext cx="2452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" name="直接连接符 3"/>
            <p:cNvSpPr/>
            <p:nvPr/>
          </p:nvSpPr>
          <p:spPr>
            <a:xfrm flipV="1">
              <a:off x="351" y="211"/>
              <a:ext cx="1608" cy="688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" name="直接连接符 4"/>
            <p:cNvSpPr/>
            <p:nvPr/>
          </p:nvSpPr>
          <p:spPr>
            <a:xfrm>
              <a:off x="597" y="458"/>
              <a:ext cx="0" cy="138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" name="直接连接符 5"/>
            <p:cNvSpPr/>
            <p:nvPr/>
          </p:nvSpPr>
          <p:spPr>
            <a:xfrm>
              <a:off x="1959" y="211"/>
              <a:ext cx="0" cy="1635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" name="直接连接符 6"/>
            <p:cNvSpPr/>
            <p:nvPr/>
          </p:nvSpPr>
          <p:spPr>
            <a:xfrm flipH="1" flipV="1">
              <a:off x="352" y="1249"/>
              <a:ext cx="1607" cy="597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" name="直接连接符 7"/>
            <p:cNvSpPr/>
            <p:nvPr/>
          </p:nvSpPr>
          <p:spPr>
            <a:xfrm flipV="1">
              <a:off x="2323" y="951"/>
              <a:ext cx="0" cy="51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" name="直接连接符 8"/>
            <p:cNvSpPr/>
            <p:nvPr/>
          </p:nvSpPr>
          <p:spPr>
            <a:xfrm>
              <a:off x="597" y="458"/>
              <a:ext cx="1726" cy="493"/>
            </a:xfrm>
            <a:prstGeom prst="line">
              <a:avLst/>
            </a:prstGeom>
            <a:ln w="38100" cap="flat" cmpd="sng">
              <a:solidFill>
                <a:srgbClr val="660033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" name="文本框 9"/>
            <p:cNvSpPr txBox="1"/>
            <p:nvPr/>
          </p:nvSpPr>
          <p:spPr>
            <a:xfrm>
              <a:off x="1792" y="0"/>
              <a:ext cx="56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  <a:sym typeface="EuroRoman" panose="00000400000000000000" pitchFamily="2" charset="2"/>
                </a:rPr>
                <a:t>d</a:t>
              </a:r>
              <a:r>
                <a:rPr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</a:t>
              </a: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2212" y="758"/>
              <a:ext cx="48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  <a:sym typeface="EuroRoman" panose="00000400000000000000" pitchFamily="2" charset="2"/>
                </a:rPr>
                <a:t>b</a:t>
              </a:r>
              <a:r>
                <a:rPr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</a:t>
              </a: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426" y="260"/>
              <a:ext cx="26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  <a:sym typeface="EuroRoman" panose="00000400000000000000" pitchFamily="2" charset="2"/>
                </a:rPr>
                <a:t>a</a:t>
              </a:r>
              <a:r>
                <a:rPr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</a:t>
              </a: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422" y="1702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2294" y="1326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93" y="1105"/>
              <a:ext cx="20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931" y="169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d</a:t>
              </a:r>
            </a:p>
          </p:txBody>
        </p:sp>
        <p:grpSp>
          <p:nvGrpSpPr>
            <p:cNvPr id="17" name="组合 16"/>
            <p:cNvGrpSpPr/>
            <p:nvPr/>
          </p:nvGrpSpPr>
          <p:grpSpPr>
            <a:xfrm>
              <a:off x="351" y="912"/>
              <a:ext cx="1972" cy="934"/>
              <a:chOff x="0" y="0"/>
              <a:chExt cx="1972" cy="934"/>
            </a:xfrm>
          </p:grpSpPr>
          <p:sp>
            <p:nvSpPr>
              <p:cNvPr id="18" name="未知"/>
              <p:cNvSpPr/>
              <p:nvPr/>
            </p:nvSpPr>
            <p:spPr>
              <a:xfrm>
                <a:off x="0" y="0"/>
                <a:ext cx="1" cy="337"/>
              </a:xfrm>
              <a:custGeom>
                <a:avLst/>
                <a:gdLst/>
                <a:ahLst/>
                <a:cxnLst/>
                <a:rect l="0" t="0" r="0" b="0"/>
                <a:pathLst>
                  <a:path w="1" h="337">
                    <a:moveTo>
                      <a:pt x="0" y="0"/>
                    </a:moveTo>
                    <a:lnTo>
                      <a:pt x="1" y="337"/>
                    </a:lnTo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" name="直接连接符 18"/>
              <p:cNvSpPr/>
              <p:nvPr/>
            </p:nvSpPr>
            <p:spPr>
              <a:xfrm flipV="1">
                <a:off x="246" y="558"/>
                <a:ext cx="1726" cy="376"/>
              </a:xfrm>
              <a:prstGeom prst="line">
                <a:avLst/>
              </a:prstGeom>
              <a:ln w="38100" cap="flat" cmpd="sng">
                <a:solidFill>
                  <a:srgbClr val="660033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0" name="文本框 19"/>
            <p:cNvSpPr txBox="1"/>
            <p:nvPr/>
          </p:nvSpPr>
          <p:spPr>
            <a:xfrm>
              <a:off x="132" y="713"/>
              <a:ext cx="39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  <a:sym typeface="EuroRoman" panose="00000400000000000000" pitchFamily="2" charset="2"/>
                </a:rPr>
                <a:t>c</a:t>
              </a:r>
              <a:r>
                <a:rPr lang="en-US" altLang="zh-CN" sz="2400" b="1" i="1">
                  <a:latin typeface="Times New Roman" panose="02020603050405020304" pitchFamily="18" charset="0"/>
                  <a:sym typeface="UniversalMath1 BT" panose="05050102010205020602" pitchFamily="18" charset="2"/>
                </a:rPr>
                <a:t>′</a:t>
              </a:r>
            </a:p>
          </p:txBody>
        </p:sp>
      </p:grpSp>
      <p:sp>
        <p:nvSpPr>
          <p:cNvPr id="21" name="文本框 20"/>
          <p:cNvSpPr txBox="1"/>
          <p:nvPr/>
        </p:nvSpPr>
        <p:spPr>
          <a:xfrm>
            <a:off x="1646238" y="1809750"/>
            <a:ext cx="1055687" cy="45720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en-US" altLang="zh-CN" sz="2400" b="1" i="1">
                <a:latin typeface="Times New Roman" panose="02020603050405020304" pitchFamily="18" charset="0"/>
                <a:sym typeface="EuroRoman" panose="00000400000000000000" pitchFamily="2" charset="2"/>
              </a:rPr>
              <a:t>1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400" b="1" i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EuroRoman" panose="00000400000000000000" pitchFamily="2" charset="2"/>
              </a:rPr>
              <a:t>2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400" b="1" i="1">
                <a:latin typeface="Times New Roman" panose="02020603050405020304" pitchFamily="18" charset="0"/>
                <a:sym typeface="UniversalMath1 BT" panose="05050102010205020602" pitchFamily="18" charset="2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2325688" y="4032250"/>
            <a:ext cx="7683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r>
              <a:rPr lang="en-US" altLang="zh-CN" sz="2400" b="1" i="1">
                <a:latin typeface="Times New Roman" panose="02020603050405020304" pitchFamily="18" charset="0"/>
              </a:rPr>
              <a:t>3(4 )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1924050" y="2228850"/>
            <a:ext cx="287338" cy="214313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800" b="1">
                <a:solidFill>
                  <a:schemeClr val="tx2"/>
                </a:solidFill>
                <a:latin typeface="Times New Roman" panose="02020603050405020304" pitchFamily="18" charset="0"/>
              </a:rPr>
              <a:t>●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2565400" y="3952875"/>
            <a:ext cx="273050" cy="198438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700" b="1">
                <a:solidFill>
                  <a:srgbClr val="990033"/>
                </a:solidFill>
                <a:latin typeface="Times New Roman" panose="02020603050405020304" pitchFamily="18" charset="0"/>
              </a:rPr>
              <a:t>●</a:t>
            </a:r>
            <a:endParaRPr lang="zh-CN" altLang="en-US" b="1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" name="未知"/>
          <p:cNvSpPr/>
          <p:nvPr/>
        </p:nvSpPr>
        <p:spPr>
          <a:xfrm>
            <a:off x="2124075" y="2344738"/>
            <a:ext cx="595313" cy="1698625"/>
          </a:xfrm>
          <a:custGeom>
            <a:avLst/>
            <a:gdLst/>
            <a:ahLst/>
            <a:cxnLst/>
            <a:rect l="0" t="0" r="0" b="0"/>
            <a:pathLst>
              <a:path w="375" h="1070">
                <a:moveTo>
                  <a:pt x="0" y="0"/>
                </a:moveTo>
                <a:lnTo>
                  <a:pt x="375" y="1070"/>
                </a:lnTo>
              </a:path>
            </a:pathLst>
          </a:custGeom>
          <a:noFill/>
          <a:ln w="127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26" name="组合 25"/>
          <p:cNvGrpSpPr/>
          <p:nvPr/>
        </p:nvGrpSpPr>
        <p:grpSpPr>
          <a:xfrm>
            <a:off x="2455863" y="1689100"/>
            <a:ext cx="600075" cy="2333625"/>
            <a:chOff x="0" y="0"/>
            <a:chExt cx="378" cy="1470"/>
          </a:xfrm>
        </p:grpSpPr>
        <p:sp>
          <p:nvSpPr>
            <p:cNvPr id="27" name="文本框 26"/>
            <p:cNvSpPr txBox="1"/>
            <p:nvPr/>
          </p:nvSpPr>
          <p:spPr>
            <a:xfrm>
              <a:off x="0" y="0"/>
              <a:ext cx="3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3</a:t>
              </a:r>
              <a:r>
                <a:rPr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</a:t>
              </a:r>
              <a:r>
                <a:rPr lang="en-US" altLang="zh-CN" sz="2400" b="1">
                  <a:latin typeface="Times New Roman" panose="02020603050405020304" pitchFamily="18" charset="0"/>
                  <a:sym typeface="UniversalMath1 BT" panose="05050102010205020602" pitchFamily="18" charset="2"/>
                </a:rPr>
                <a:t> </a:t>
              </a: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118" y="312"/>
              <a:ext cx="26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  <a:sym typeface="EuroRoman" panose="00000400000000000000" pitchFamily="2" charset="2"/>
                </a:rPr>
                <a:t>4</a:t>
              </a:r>
              <a:r>
                <a:rPr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</a:t>
              </a:r>
            </a:p>
          </p:txBody>
        </p:sp>
        <p:sp>
          <p:nvSpPr>
            <p:cNvPr id="29" name="未知"/>
            <p:cNvSpPr/>
            <p:nvPr/>
          </p:nvSpPr>
          <p:spPr>
            <a:xfrm>
              <a:off x="154" y="232"/>
              <a:ext cx="1" cy="1238"/>
            </a:xfrm>
            <a:custGeom>
              <a:avLst/>
              <a:gdLst/>
              <a:ahLst/>
              <a:cxnLst/>
              <a:rect l="0" t="0" r="0" b="0"/>
              <a:pathLst>
                <a:path w="1" h="1238">
                  <a:moveTo>
                    <a:pt x="0" y="1238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82" y="462"/>
              <a:ext cx="149" cy="12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zh-CN" altLang="en-US" sz="700" b="1">
                  <a:solidFill>
                    <a:srgbClr val="990033"/>
                  </a:solidFill>
                  <a:latin typeface="Times New Roman" panose="02020603050405020304" pitchFamily="18" charset="0"/>
                </a:rPr>
                <a:t>●</a:t>
              </a:r>
              <a:endParaRPr lang="zh-CN" altLang="en-US" b="1">
                <a:solidFill>
                  <a:srgbClr val="990033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83" y="181"/>
              <a:ext cx="146" cy="12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zh-CN" altLang="en-US" sz="700" b="1">
                  <a:solidFill>
                    <a:srgbClr val="990033"/>
                  </a:solidFill>
                  <a:latin typeface="Times New Roman" panose="02020603050405020304" pitchFamily="18" charset="0"/>
                </a:rPr>
                <a:t>●</a:t>
              </a:r>
              <a:endParaRPr lang="zh-CN" altLang="en-US" b="1">
                <a:solidFill>
                  <a:srgbClr val="990033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1927225" y="2301875"/>
            <a:ext cx="441325" cy="2301875"/>
            <a:chOff x="0" y="0"/>
            <a:chExt cx="278" cy="1450"/>
          </a:xfrm>
        </p:grpSpPr>
        <p:sp>
          <p:nvSpPr>
            <p:cNvPr id="33" name="文本框 32"/>
            <p:cNvSpPr txBox="1"/>
            <p:nvPr/>
          </p:nvSpPr>
          <p:spPr>
            <a:xfrm>
              <a:off x="0" y="1162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66" y="705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2</a:t>
              </a:r>
            </a:p>
          </p:txBody>
        </p:sp>
        <p:grpSp>
          <p:nvGrpSpPr>
            <p:cNvPr id="35" name="组合 34"/>
            <p:cNvGrpSpPr/>
            <p:nvPr/>
          </p:nvGrpSpPr>
          <p:grpSpPr>
            <a:xfrm>
              <a:off x="0" y="0"/>
              <a:ext cx="151" cy="1237"/>
              <a:chOff x="0" y="0"/>
              <a:chExt cx="151" cy="1237"/>
            </a:xfrm>
          </p:grpSpPr>
          <p:sp>
            <p:nvSpPr>
              <p:cNvPr id="36" name="未知"/>
              <p:cNvSpPr/>
              <p:nvPr/>
            </p:nvSpPr>
            <p:spPr>
              <a:xfrm>
                <a:off x="87" y="0"/>
                <a:ext cx="1" cy="1171"/>
              </a:xfrm>
              <a:custGeom>
                <a:avLst/>
                <a:gdLst/>
                <a:ahLst/>
                <a:cxnLst/>
                <a:rect l="0" t="0" r="0" b="0"/>
                <a:pathLst>
                  <a:path w="1" h="1171">
                    <a:moveTo>
                      <a:pt x="0" y="0"/>
                    </a:moveTo>
                    <a:lnTo>
                      <a:pt x="0" y="1171"/>
                    </a:lnTo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" name="文本框 36"/>
              <p:cNvSpPr txBox="1"/>
              <p:nvPr/>
            </p:nvSpPr>
            <p:spPr>
              <a:xfrm>
                <a:off x="5" y="1112"/>
                <a:ext cx="146" cy="12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>
                <a:spAutoFit/>
              </a:bodyPr>
              <a:lstStyle/>
              <a:p>
                <a:pPr algn="ctr"/>
                <a:r>
                  <a:rPr lang="zh-CN" altLang="en-US" sz="700" b="1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●</a:t>
                </a:r>
                <a:endParaRPr lang="zh-CN" altLang="en-US" b="1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0" y="871"/>
                <a:ext cx="151" cy="12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>
                <a:spAutoFit/>
              </a:bodyPr>
              <a:lstStyle/>
              <a:p>
                <a:pPr algn="ctr"/>
                <a:r>
                  <a:rPr lang="zh-CN" altLang="en-US" sz="700" b="1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●</a:t>
                </a:r>
                <a:endParaRPr lang="zh-CN" altLang="en-US" b="1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75"/>
                                        <p:tgtEl>
                                          <p:spTgt spid="420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75"/>
                                        <p:tgtEl>
                                          <p:spTgt spid="420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75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5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20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420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420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20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29" grpId="0" bldLvl="0" animBg="1"/>
      <p:bldP spid="42007" grpId="0"/>
      <p:bldP spid="42008" grpId="0" build="p"/>
      <p:bldP spid="42009" grpId="0" build="p"/>
      <p:bldP spid="42012" grpId="0" bldLvl="0" animBg="1"/>
      <p:bldP spid="22" grpId="1" build="allAtOnce"/>
      <p:bldP spid="23" grpId="0"/>
      <p:bldP spid="24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751955" y="2490093"/>
            <a:ext cx="2586990" cy="64516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zh-CN" altLang="en-US" sz="3600" b="1" i="1" dirty="0">
                <a:solidFill>
                  <a:srgbClr val="0066CC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</a:rPr>
              <a:t> 平面</a:t>
            </a:r>
            <a:r>
              <a:rPr lang="zh-CN" altLang="en-US" sz="3600" b="1" i="1" dirty="0">
                <a:solidFill>
                  <a:srgbClr val="0066CC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rPr>
              <a:t>的投影</a:t>
            </a:r>
            <a:endParaRPr lang="zh-CN" altLang="en-US" sz="3600" b="1" i="1" dirty="0">
              <a:solidFill>
                <a:srgbClr val="0066CC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43607" y="205040"/>
            <a:ext cx="3088640" cy="644715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en-US" altLang="zh-CN" sz="41300" dirty="0">
                <a:solidFill>
                  <a:srgbClr val="0066CC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3</a:t>
            </a:r>
            <a:endParaRPr lang="zh-CN" altLang="en-US" sz="4800" dirty="0">
              <a:solidFill>
                <a:srgbClr val="0066CC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474602" y="4055229"/>
            <a:ext cx="5212080" cy="10147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algn="l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2000">
                <a:sym typeface="+mn-ea"/>
              </a:rPr>
              <a:t>各种位置平面的投影特性</a:t>
            </a:r>
          </a:p>
          <a:p>
            <a:pPr marL="457200" indent="-457200" algn="l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2000">
                <a:sym typeface="+mn-ea"/>
              </a:rPr>
              <a:t>点、直线与平面的相对位置及其投影特性</a:t>
            </a:r>
          </a:p>
        </p:txBody>
      </p:sp>
      <p:sp>
        <p:nvSpPr>
          <p:cNvPr id="5" name="矩形 4"/>
          <p:cNvSpPr/>
          <p:nvPr/>
        </p:nvSpPr>
        <p:spPr>
          <a:xfrm>
            <a:off x="3385562" y="189165"/>
            <a:ext cx="3088640" cy="644715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en-US" sz="41300" dirty="0">
                <a:solidFill>
                  <a:srgbClr val="0066CC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5</a:t>
            </a:r>
            <a:endParaRPr lang="en-US" sz="4800" dirty="0">
              <a:solidFill>
                <a:srgbClr val="0066CC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454652" y="205675"/>
            <a:ext cx="1635760" cy="644715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en-US" sz="41300" dirty="0">
                <a:solidFill>
                  <a:srgbClr val="0066CC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.</a:t>
            </a:r>
            <a:endParaRPr lang="en-US" sz="4800" dirty="0">
              <a:solidFill>
                <a:srgbClr val="0066CC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文本框 43010"/>
          <p:cNvSpPr txBox="1"/>
          <p:nvPr/>
        </p:nvSpPr>
        <p:spPr>
          <a:xfrm>
            <a:off x="877570" y="1223645"/>
            <a:ext cx="10437495" cy="3067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平面在三投影面体系中的投影，由围成该平面的</a:t>
            </a:r>
            <a:r>
              <a:rPr lang="zh-CN" altLang="en-US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点和线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同面投影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确定。</a:t>
            </a:r>
          </a:p>
        </p:txBody>
      </p:sp>
      <p:sp>
        <p:nvSpPr>
          <p:cNvPr id="43012" name="文本框 43011"/>
          <p:cNvSpPr txBox="1"/>
          <p:nvPr/>
        </p:nvSpPr>
        <p:spPr>
          <a:xfrm>
            <a:off x="1893253" y="1852454"/>
            <a:ext cx="6769100" cy="36830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平面对于三投影面的位置可分为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三类</a:t>
            </a:r>
          </a:p>
        </p:txBody>
      </p:sp>
      <p:sp>
        <p:nvSpPr>
          <p:cNvPr id="43013" name="文本框 43012"/>
          <p:cNvSpPr txBox="1"/>
          <p:nvPr/>
        </p:nvSpPr>
        <p:spPr>
          <a:xfrm>
            <a:off x="2644458" y="3454242"/>
            <a:ext cx="1584325" cy="30670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zh-CN" altLang="en-US" sz="140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投影面垂直面</a:t>
            </a:r>
          </a:p>
        </p:txBody>
      </p:sp>
      <p:sp>
        <p:nvSpPr>
          <p:cNvPr id="43014" name="矩形 43013"/>
          <p:cNvSpPr/>
          <p:nvPr/>
        </p:nvSpPr>
        <p:spPr>
          <a:xfrm>
            <a:off x="4252913" y="3317875"/>
            <a:ext cx="3024187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1400">
                <a:solidFill>
                  <a:srgbClr val="FF33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垂直</a:t>
            </a:r>
            <a:r>
              <a:rPr lang="zh-CN" altLang="en-US" sz="140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于某</a:t>
            </a:r>
            <a:r>
              <a:rPr lang="zh-CN" altLang="en-US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一投影面</a:t>
            </a:r>
          </a:p>
          <a:p>
            <a:r>
              <a:rPr lang="zh-CN" altLang="en-US" sz="1400" dirty="0">
                <a:solidFill>
                  <a:srgbClr val="FF33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倾斜</a:t>
            </a:r>
            <a:r>
              <a:rPr lang="zh-CN" altLang="en-US" sz="140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于另两个投影面</a:t>
            </a:r>
          </a:p>
        </p:txBody>
      </p:sp>
      <p:sp>
        <p:nvSpPr>
          <p:cNvPr id="43015" name="文本框 43014"/>
          <p:cNvSpPr txBox="1"/>
          <p:nvPr/>
        </p:nvSpPr>
        <p:spPr>
          <a:xfrm>
            <a:off x="7043420" y="3978910"/>
            <a:ext cx="1739265" cy="3067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特殊位置平面</a:t>
            </a:r>
          </a:p>
        </p:txBody>
      </p:sp>
      <p:sp>
        <p:nvSpPr>
          <p:cNvPr id="43016" name="左大括号 43015"/>
          <p:cNvSpPr/>
          <p:nvPr/>
        </p:nvSpPr>
        <p:spPr>
          <a:xfrm rot="10800000">
            <a:off x="6489700" y="3440113"/>
            <a:ext cx="792163" cy="1493837"/>
          </a:xfrm>
          <a:prstGeom prst="leftBrace">
            <a:avLst>
              <a:gd name="adj1" fmla="val 15714"/>
              <a:gd name="adj2" fmla="val 52074"/>
            </a:avLst>
          </a:prstGeom>
          <a:noFill/>
          <a:ln w="1905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017" name="文本框 43016"/>
          <p:cNvSpPr txBox="1"/>
          <p:nvPr/>
        </p:nvSpPr>
        <p:spPr>
          <a:xfrm>
            <a:off x="2627313" y="4505167"/>
            <a:ext cx="1727200" cy="30670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zh-CN" altLang="en-US" sz="1400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投影面平行面</a:t>
            </a:r>
          </a:p>
        </p:txBody>
      </p:sp>
      <p:sp>
        <p:nvSpPr>
          <p:cNvPr id="43018" name="矩形 43017"/>
          <p:cNvSpPr/>
          <p:nvPr/>
        </p:nvSpPr>
        <p:spPr>
          <a:xfrm>
            <a:off x="4252913" y="4398963"/>
            <a:ext cx="3024187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1400">
                <a:solidFill>
                  <a:srgbClr val="FF33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平行</a:t>
            </a:r>
            <a:r>
              <a:rPr lang="zh-CN" altLang="en-US" sz="140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于某</a:t>
            </a:r>
            <a:r>
              <a:rPr lang="zh-CN" altLang="en-US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一投影面</a:t>
            </a:r>
            <a:endParaRPr lang="zh-CN" altLang="en-US" sz="140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>
                <a:solidFill>
                  <a:srgbClr val="FF33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垂直</a:t>
            </a:r>
            <a:r>
              <a:rPr lang="zh-CN" altLang="en-US" sz="140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于另两个投影面</a:t>
            </a:r>
          </a:p>
        </p:txBody>
      </p:sp>
      <p:sp>
        <p:nvSpPr>
          <p:cNvPr id="43019" name="矩形 43018"/>
          <p:cNvSpPr/>
          <p:nvPr/>
        </p:nvSpPr>
        <p:spPr>
          <a:xfrm>
            <a:off x="4283710" y="5637530"/>
            <a:ext cx="3108960" cy="3067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与三个投影面都</a:t>
            </a:r>
            <a:r>
              <a:rPr lang="zh-CN" altLang="en-US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倾斜</a:t>
            </a:r>
          </a:p>
        </p:txBody>
      </p:sp>
      <p:sp>
        <p:nvSpPr>
          <p:cNvPr id="43020" name="文本框 43019"/>
          <p:cNvSpPr txBox="1"/>
          <p:nvPr/>
        </p:nvSpPr>
        <p:spPr>
          <a:xfrm>
            <a:off x="2574290" y="5637530"/>
            <a:ext cx="2038985" cy="3067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1400">
                <a:solidFill>
                  <a:srgbClr val="D6009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一般位置平面</a:t>
            </a:r>
          </a:p>
        </p:txBody>
      </p:sp>
      <p:sp>
        <p:nvSpPr>
          <p:cNvPr id="43021" name="文本框 43020"/>
          <p:cNvSpPr txBox="1"/>
          <p:nvPr/>
        </p:nvSpPr>
        <p:spPr>
          <a:xfrm>
            <a:off x="1951038" y="2543969"/>
            <a:ext cx="2408237" cy="36830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marL="285750" indent="-285750" algn="ctr">
              <a:buFont typeface="Wingdings" panose="05000000000000000000" charset="0"/>
              <a:buChar char="Ø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投影面</a:t>
            </a:r>
            <a:r>
              <a:rPr lang="zh-CN" altLang="en-US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垂直面</a:t>
            </a:r>
          </a:p>
        </p:txBody>
      </p:sp>
      <p:sp>
        <p:nvSpPr>
          <p:cNvPr id="43022" name="文本框 43021"/>
          <p:cNvSpPr txBox="1"/>
          <p:nvPr/>
        </p:nvSpPr>
        <p:spPr>
          <a:xfrm>
            <a:off x="4438650" y="2559844"/>
            <a:ext cx="2984500" cy="36830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marL="285750" indent="-285750" algn="ctr">
              <a:buFont typeface="Wingdings" panose="05000000000000000000" charset="0"/>
              <a:buChar char="Ø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投影面</a:t>
            </a:r>
            <a:r>
              <a:rPr lang="zh-CN" altLang="en-US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平行面</a:t>
            </a:r>
          </a:p>
        </p:txBody>
      </p:sp>
      <p:sp>
        <p:nvSpPr>
          <p:cNvPr id="43023" name="文本框 43022"/>
          <p:cNvSpPr txBox="1"/>
          <p:nvPr/>
        </p:nvSpPr>
        <p:spPr>
          <a:xfrm>
            <a:off x="7472363" y="2559844"/>
            <a:ext cx="2759075" cy="36830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marL="285750" indent="-285750" algn="ctr">
              <a:buFont typeface="Wingdings" panose="05000000000000000000" charset="0"/>
              <a:buChar char="Ø"/>
            </a:pPr>
            <a:r>
              <a:rPr lang="zh-CN" altLang="en-US">
                <a:solidFill>
                  <a:srgbClr val="D6009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一般位置平面</a:t>
            </a:r>
          </a:p>
        </p:txBody>
      </p:sp>
      <p:sp>
        <p:nvSpPr>
          <p:cNvPr id="3" name="矩形 2"/>
          <p:cNvSpPr/>
          <p:nvPr/>
        </p:nvSpPr>
        <p:spPr>
          <a:xfrm>
            <a:off x="699234" y="364233"/>
            <a:ext cx="6240780" cy="64516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l"/>
            <a:r>
              <a:rPr lang="zh-CN" altLang="en-US" sz="3600" b="1" i="1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3.</a:t>
            </a:r>
            <a:r>
              <a:rPr lang="en-US" altLang="zh-CN" sz="3600" b="1" i="1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5.1 </a:t>
            </a:r>
            <a:r>
              <a:rPr lang="zh-CN" altLang="en-US" sz="3600" b="1" i="1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各种位置平面的投影特性</a:t>
            </a:r>
            <a:endParaRPr lang="zh-CN" altLang="en-US" sz="3600" b="1" i="1" dirty="0">
              <a:solidFill>
                <a:srgbClr val="0066CC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30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30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30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30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" fill="hold"/>
                                        <p:tgtEl>
                                          <p:spTgt spid="430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" fill="hold"/>
                                        <p:tgtEl>
                                          <p:spTgt spid="430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" fill="hold"/>
                                        <p:tgtEl>
                                          <p:spTgt spid="430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" fill="hold"/>
                                        <p:tgtEl>
                                          <p:spTgt spid="430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1000"/>
                                        <p:tgtEl>
                                          <p:spTgt spid="43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1" grpId="0"/>
      <p:bldP spid="43012" grpId="0" bldLvl="0" animBg="1"/>
      <p:bldP spid="43013" grpId="0"/>
      <p:bldP spid="43014" grpId="0"/>
      <p:bldP spid="43015" grpId="0" bldLvl="0" animBg="1"/>
      <p:bldP spid="43017" grpId="0"/>
      <p:bldP spid="43018" grpId="0"/>
      <p:bldP spid="43019" grpId="0"/>
      <p:bldP spid="43020" grpId="0"/>
      <p:bldP spid="43021" grpId="0"/>
      <p:bldP spid="43022" grpId="0"/>
      <p:bldP spid="43023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文本框 44033"/>
          <p:cNvSpPr txBox="1"/>
          <p:nvPr/>
        </p:nvSpPr>
        <p:spPr>
          <a:xfrm>
            <a:off x="499110" y="827246"/>
            <a:ext cx="4551363" cy="36830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投影面垂直面</a:t>
            </a:r>
          </a:p>
        </p:txBody>
      </p:sp>
      <p:grpSp>
        <p:nvGrpSpPr>
          <p:cNvPr id="44035" name="组合 44034"/>
          <p:cNvGrpSpPr/>
          <p:nvPr/>
        </p:nvGrpSpPr>
        <p:grpSpPr>
          <a:xfrm>
            <a:off x="6696710" y="3862070"/>
            <a:ext cx="439738" cy="396875"/>
            <a:chOff x="0" y="0"/>
            <a:chExt cx="277" cy="250"/>
          </a:xfrm>
        </p:grpSpPr>
        <p:sp>
          <p:nvSpPr>
            <p:cNvPr id="44036" name="文本框 44035"/>
            <p:cNvSpPr txBox="1"/>
            <p:nvPr/>
          </p:nvSpPr>
          <p:spPr>
            <a:xfrm>
              <a:off x="0" y="0"/>
              <a:ext cx="27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000" b="1">
                  <a:latin typeface="Times New Roman" panose="02020603050405020304" pitchFamily="18" charset="0"/>
                </a:rPr>
                <a:t>γ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44037" name="未知"/>
            <p:cNvSpPr/>
            <p:nvPr/>
          </p:nvSpPr>
          <p:spPr>
            <a:xfrm>
              <a:off x="95" y="43"/>
              <a:ext cx="182" cy="101"/>
            </a:xfrm>
            <a:custGeom>
              <a:avLst/>
              <a:gdLst/>
              <a:ahLst/>
              <a:cxnLst/>
              <a:rect l="0" t="0" r="0" b="0"/>
              <a:pathLst>
                <a:path w="182" h="101">
                  <a:moveTo>
                    <a:pt x="0" y="6"/>
                  </a:moveTo>
                  <a:cubicBezTo>
                    <a:pt x="13" y="3"/>
                    <a:pt x="27" y="0"/>
                    <a:pt x="51" y="6"/>
                  </a:cubicBezTo>
                  <a:cubicBezTo>
                    <a:pt x="75" y="12"/>
                    <a:pt x="124" y="27"/>
                    <a:pt x="146" y="43"/>
                  </a:cubicBezTo>
                  <a:cubicBezTo>
                    <a:pt x="168" y="59"/>
                    <a:pt x="175" y="80"/>
                    <a:pt x="182" y="101"/>
                  </a:cubicBezTo>
                </a:path>
              </a:pathLst>
            </a:custGeom>
            <a:noFill/>
            <a:ln w="9525" cap="flat" cmpd="sng">
              <a:solidFill>
                <a:schemeClr val="tx2"/>
              </a:solidFill>
              <a:prstDash val="solid"/>
              <a:headEnd type="triangle" w="sm" len="lg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4038" name="文本框 44037"/>
          <p:cNvSpPr txBox="1"/>
          <p:nvPr/>
        </p:nvSpPr>
        <p:spPr>
          <a:xfrm>
            <a:off x="8425498" y="1933258"/>
            <a:ext cx="39528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i="1">
                <a:latin typeface="Times New Roman" panose="02020603050405020304" pitchFamily="18" charset="0"/>
              </a:rPr>
              <a:t>c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</a:p>
        </p:txBody>
      </p:sp>
      <p:grpSp>
        <p:nvGrpSpPr>
          <p:cNvPr id="44039" name="组合 44038"/>
          <p:cNvGrpSpPr/>
          <p:nvPr/>
        </p:nvGrpSpPr>
        <p:grpSpPr>
          <a:xfrm>
            <a:off x="6493510" y="1007745"/>
            <a:ext cx="4287838" cy="3448050"/>
            <a:chOff x="0" y="0"/>
            <a:chExt cx="2701" cy="2172"/>
          </a:xfrm>
        </p:grpSpPr>
        <p:grpSp>
          <p:nvGrpSpPr>
            <p:cNvPr id="44040" name="组合 44039"/>
            <p:cNvGrpSpPr/>
            <p:nvPr/>
          </p:nvGrpSpPr>
          <p:grpSpPr>
            <a:xfrm>
              <a:off x="922" y="1316"/>
              <a:ext cx="385" cy="250"/>
              <a:chOff x="0" y="0"/>
              <a:chExt cx="385" cy="250"/>
            </a:xfrm>
          </p:grpSpPr>
          <p:sp>
            <p:nvSpPr>
              <p:cNvPr id="44041" name="直接连接符 44040"/>
              <p:cNvSpPr/>
              <p:nvPr/>
            </p:nvSpPr>
            <p:spPr>
              <a:xfrm flipH="1">
                <a:off x="0" y="66"/>
                <a:ext cx="385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4042" name="文本框 44041"/>
              <p:cNvSpPr txBox="1"/>
              <p:nvPr/>
            </p:nvSpPr>
            <p:spPr>
              <a:xfrm>
                <a:off x="50" y="0"/>
                <a:ext cx="261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b="1">
                    <a:latin typeface="Times New Roman" panose="02020603050405020304" pitchFamily="18" charset="0"/>
                  </a:rPr>
                  <a:t>β</a:t>
                </a:r>
                <a:endParaRPr lang="en-US" altLang="zh-CN" sz="24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4043" name="未知"/>
              <p:cNvSpPr/>
              <p:nvPr/>
            </p:nvSpPr>
            <p:spPr>
              <a:xfrm>
                <a:off x="45" y="61"/>
                <a:ext cx="68" cy="189"/>
              </a:xfrm>
              <a:custGeom>
                <a:avLst/>
                <a:gdLst/>
                <a:ahLst/>
                <a:cxnLst/>
                <a:rect l="0" t="0" r="0" b="0"/>
                <a:pathLst>
                  <a:path w="68" h="189">
                    <a:moveTo>
                      <a:pt x="10" y="0"/>
                    </a:moveTo>
                    <a:cubicBezTo>
                      <a:pt x="10" y="13"/>
                      <a:pt x="0" y="56"/>
                      <a:pt x="3" y="80"/>
                    </a:cubicBezTo>
                    <a:cubicBezTo>
                      <a:pt x="6" y="104"/>
                      <a:pt x="14" y="128"/>
                      <a:pt x="25" y="146"/>
                    </a:cubicBezTo>
                    <a:cubicBezTo>
                      <a:pt x="36" y="164"/>
                      <a:pt x="59" y="180"/>
                      <a:pt x="68" y="189"/>
                    </a:cubicBezTo>
                  </a:path>
                </a:pathLst>
              </a:custGeom>
              <a:noFill/>
              <a:ln w="9525" cap="flat" cmpd="sng">
                <a:solidFill>
                  <a:schemeClr val="tx2"/>
                </a:solidFill>
                <a:prstDash val="solid"/>
                <a:headEnd type="triangle" w="sm" len="lg"/>
                <a:tailEnd type="triangl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4044" name="文本框 44043"/>
            <p:cNvSpPr txBox="1"/>
            <p:nvPr/>
          </p:nvSpPr>
          <p:spPr>
            <a:xfrm>
              <a:off x="0" y="801"/>
              <a:ext cx="26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a</a:t>
              </a:r>
              <a:r>
                <a:rPr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</a:t>
              </a:r>
            </a:p>
          </p:txBody>
        </p:sp>
        <p:sp>
          <p:nvSpPr>
            <p:cNvPr id="44045" name="文本框 44044"/>
            <p:cNvSpPr txBox="1"/>
            <p:nvPr/>
          </p:nvSpPr>
          <p:spPr>
            <a:xfrm>
              <a:off x="1221" y="1280"/>
              <a:ext cx="20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44046" name="未知"/>
            <p:cNvSpPr/>
            <p:nvPr/>
          </p:nvSpPr>
          <p:spPr>
            <a:xfrm>
              <a:off x="1437" y="2"/>
              <a:ext cx="2" cy="2170"/>
            </a:xfrm>
            <a:custGeom>
              <a:avLst/>
              <a:gdLst/>
              <a:ahLst/>
              <a:cxnLst/>
              <a:rect l="0" t="0" r="0" b="0"/>
              <a:pathLst>
                <a:path w="1" h="2188">
                  <a:moveTo>
                    <a:pt x="0" y="0"/>
                  </a:moveTo>
                  <a:lnTo>
                    <a:pt x="0" y="2188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7" name="文本框 44046"/>
            <p:cNvSpPr txBox="1"/>
            <p:nvPr/>
          </p:nvSpPr>
          <p:spPr>
            <a:xfrm>
              <a:off x="8" y="1865"/>
              <a:ext cx="212" cy="28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44048" name="文本框 44047"/>
            <p:cNvSpPr txBox="1"/>
            <p:nvPr/>
          </p:nvSpPr>
          <p:spPr>
            <a:xfrm>
              <a:off x="945" y="1486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44049" name="文本框 44048"/>
            <p:cNvSpPr txBox="1"/>
            <p:nvPr/>
          </p:nvSpPr>
          <p:spPr>
            <a:xfrm>
              <a:off x="807" y="11"/>
              <a:ext cx="26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b</a:t>
              </a:r>
              <a:r>
                <a:rPr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</a:t>
              </a:r>
            </a:p>
          </p:txBody>
        </p:sp>
        <p:sp>
          <p:nvSpPr>
            <p:cNvPr id="44050" name="文本框 44049"/>
            <p:cNvSpPr txBox="1"/>
            <p:nvPr/>
          </p:nvSpPr>
          <p:spPr>
            <a:xfrm>
              <a:off x="1444" y="529"/>
              <a:ext cx="28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c</a:t>
              </a:r>
              <a:r>
                <a:rPr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</a:t>
              </a:r>
            </a:p>
          </p:txBody>
        </p:sp>
        <p:sp>
          <p:nvSpPr>
            <p:cNvPr id="44051" name="文本框 44050"/>
            <p:cNvSpPr txBox="1"/>
            <p:nvPr/>
          </p:nvSpPr>
          <p:spPr>
            <a:xfrm>
              <a:off x="1843" y="0"/>
              <a:ext cx="29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b</a:t>
              </a:r>
              <a:r>
                <a:rPr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</a:t>
              </a:r>
              <a:endParaRPr lang="en-US" altLang="zh-CN" sz="2400" b="1" i="1">
                <a:latin typeface="Times New Roman" panose="02020603050405020304" pitchFamily="18" charset="0"/>
                <a:sym typeface="CommercialPi BT" panose="05020102010206080802" pitchFamily="18" charset="2"/>
              </a:endParaRPr>
            </a:p>
          </p:txBody>
        </p:sp>
        <p:sp>
          <p:nvSpPr>
            <p:cNvPr id="44052" name="文本框 44051"/>
            <p:cNvSpPr txBox="1"/>
            <p:nvPr/>
          </p:nvSpPr>
          <p:spPr>
            <a:xfrm>
              <a:off x="2410" y="819"/>
              <a:ext cx="29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a</a:t>
              </a:r>
              <a:r>
                <a:rPr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</a:t>
              </a:r>
            </a:p>
          </p:txBody>
        </p:sp>
        <p:grpSp>
          <p:nvGrpSpPr>
            <p:cNvPr id="44053" name="组合 44052"/>
            <p:cNvGrpSpPr/>
            <p:nvPr/>
          </p:nvGrpSpPr>
          <p:grpSpPr>
            <a:xfrm>
              <a:off x="66" y="213"/>
              <a:ext cx="2621" cy="1829"/>
              <a:chOff x="0" y="0"/>
              <a:chExt cx="2621" cy="1829"/>
            </a:xfrm>
          </p:grpSpPr>
          <p:sp>
            <p:nvSpPr>
              <p:cNvPr id="44054" name="直接连接符 44053"/>
              <p:cNvSpPr/>
              <p:nvPr/>
            </p:nvSpPr>
            <p:spPr>
              <a:xfrm>
                <a:off x="1202" y="646"/>
                <a:ext cx="390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4055" name="直接连接符 44054"/>
              <p:cNvSpPr/>
              <p:nvPr/>
            </p:nvSpPr>
            <p:spPr>
              <a:xfrm flipV="1">
                <a:off x="139" y="639"/>
                <a:ext cx="1074" cy="143"/>
              </a:xfrm>
              <a:prstGeom prst="line">
                <a:avLst/>
              </a:prstGeom>
              <a:ln w="38100" cap="flat" cmpd="sng">
                <a:solidFill>
                  <a:srgbClr val="FF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4056" name="未知"/>
              <p:cNvSpPr/>
              <p:nvPr/>
            </p:nvSpPr>
            <p:spPr>
              <a:xfrm>
                <a:off x="139" y="782"/>
                <a:ext cx="2179" cy="5"/>
              </a:xfrm>
              <a:custGeom>
                <a:avLst/>
                <a:gdLst/>
                <a:ahLst/>
                <a:cxnLst/>
                <a:rect l="0" t="0" r="0" b="0"/>
                <a:pathLst>
                  <a:path w="2144" h="5">
                    <a:moveTo>
                      <a:pt x="0" y="0"/>
                    </a:moveTo>
                    <a:lnTo>
                      <a:pt x="2144" y="5"/>
                    </a:lnTo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57" name="未知"/>
              <p:cNvSpPr/>
              <p:nvPr/>
            </p:nvSpPr>
            <p:spPr>
              <a:xfrm>
                <a:off x="1787" y="18"/>
                <a:ext cx="548" cy="764"/>
              </a:xfrm>
              <a:custGeom>
                <a:avLst/>
                <a:gdLst/>
                <a:ahLst/>
                <a:cxnLst/>
                <a:rect l="0" t="0" r="0" b="0"/>
                <a:pathLst>
                  <a:path w="539" h="771">
                    <a:moveTo>
                      <a:pt x="0" y="0"/>
                    </a:moveTo>
                    <a:lnTo>
                      <a:pt x="539" y="771"/>
                    </a:lnTo>
                  </a:path>
                </a:pathLst>
              </a:custGeom>
              <a:noFill/>
              <a:ln w="38100" cap="flat" cmpd="sng">
                <a:solidFill>
                  <a:srgbClr val="FF33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58" name="未知"/>
              <p:cNvSpPr/>
              <p:nvPr/>
            </p:nvSpPr>
            <p:spPr>
              <a:xfrm>
                <a:off x="1567" y="633"/>
                <a:ext cx="768" cy="149"/>
              </a:xfrm>
              <a:custGeom>
                <a:avLst/>
                <a:gdLst/>
                <a:ahLst/>
                <a:cxnLst/>
                <a:rect l="0" t="0" r="0" b="0"/>
                <a:pathLst>
                  <a:path w="756" h="150">
                    <a:moveTo>
                      <a:pt x="0" y="0"/>
                    </a:moveTo>
                    <a:lnTo>
                      <a:pt x="756" y="150"/>
                    </a:lnTo>
                  </a:path>
                </a:pathLst>
              </a:custGeom>
              <a:noFill/>
              <a:ln w="38100" cap="flat" cmpd="sng">
                <a:solidFill>
                  <a:srgbClr val="FF33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59" name="直接连接符 44058"/>
              <p:cNvSpPr/>
              <p:nvPr/>
            </p:nvSpPr>
            <p:spPr>
              <a:xfrm flipV="1">
                <a:off x="139" y="1163"/>
                <a:ext cx="1074" cy="666"/>
              </a:xfrm>
              <a:prstGeom prst="line">
                <a:avLst/>
              </a:prstGeom>
              <a:ln w="38100" cap="flat" cmpd="sng">
                <a:solidFill>
                  <a:srgbClr val="FF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4060" name="直接连接符 44059"/>
              <p:cNvSpPr/>
              <p:nvPr/>
            </p:nvSpPr>
            <p:spPr>
              <a:xfrm flipH="1" flipV="1">
                <a:off x="920" y="21"/>
                <a:ext cx="293" cy="618"/>
              </a:xfrm>
              <a:prstGeom prst="line">
                <a:avLst/>
              </a:prstGeom>
              <a:ln w="38100" cap="flat" cmpd="sng">
                <a:solidFill>
                  <a:srgbClr val="FF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4061" name="直接连接符 44060"/>
              <p:cNvSpPr/>
              <p:nvPr/>
            </p:nvSpPr>
            <p:spPr>
              <a:xfrm flipV="1">
                <a:off x="139" y="21"/>
                <a:ext cx="781" cy="761"/>
              </a:xfrm>
              <a:prstGeom prst="line">
                <a:avLst/>
              </a:prstGeom>
              <a:ln w="38100" cap="flat" cmpd="sng">
                <a:solidFill>
                  <a:srgbClr val="FF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4062" name="未知"/>
              <p:cNvSpPr/>
              <p:nvPr/>
            </p:nvSpPr>
            <p:spPr>
              <a:xfrm>
                <a:off x="1580" y="4"/>
                <a:ext cx="193" cy="657"/>
              </a:xfrm>
              <a:custGeom>
                <a:avLst/>
                <a:gdLst/>
                <a:ahLst/>
                <a:cxnLst/>
                <a:rect l="0" t="0" r="0" b="0"/>
                <a:pathLst>
                  <a:path w="189" h="663">
                    <a:moveTo>
                      <a:pt x="0" y="663"/>
                    </a:moveTo>
                    <a:lnTo>
                      <a:pt x="189" y="0"/>
                    </a:lnTo>
                  </a:path>
                </a:pathLst>
              </a:custGeom>
              <a:noFill/>
              <a:ln w="38100" cap="flat" cmpd="sng">
                <a:solidFill>
                  <a:srgbClr val="FF33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63" name="未知"/>
              <p:cNvSpPr/>
              <p:nvPr/>
            </p:nvSpPr>
            <p:spPr>
              <a:xfrm>
                <a:off x="0" y="938"/>
                <a:ext cx="2621" cy="3"/>
              </a:xfrm>
              <a:custGeom>
                <a:avLst/>
                <a:gdLst/>
                <a:ahLst/>
                <a:cxnLst/>
                <a:rect l="0" t="0" r="0" b="0"/>
                <a:pathLst>
                  <a:path w="2579" h="3">
                    <a:moveTo>
                      <a:pt x="0" y="3"/>
                    </a:moveTo>
                    <a:lnTo>
                      <a:pt x="2579" y="0"/>
                    </a:lnTo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64" name="直接连接符 44063"/>
              <p:cNvSpPr/>
              <p:nvPr/>
            </p:nvSpPr>
            <p:spPr>
              <a:xfrm>
                <a:off x="936" y="7"/>
                <a:ext cx="829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4065" name="直接连接符 44064"/>
              <p:cNvSpPr/>
              <p:nvPr/>
            </p:nvSpPr>
            <p:spPr>
              <a:xfrm>
                <a:off x="146" y="761"/>
                <a:ext cx="0" cy="1047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4066" name="未知"/>
              <p:cNvSpPr/>
              <p:nvPr/>
            </p:nvSpPr>
            <p:spPr>
              <a:xfrm>
                <a:off x="1220" y="619"/>
                <a:ext cx="1" cy="553"/>
              </a:xfrm>
              <a:custGeom>
                <a:avLst/>
                <a:gdLst/>
                <a:ahLst/>
                <a:cxnLst/>
                <a:rect l="0" t="0" r="0" b="0"/>
                <a:pathLst>
                  <a:path w="1" h="559">
                    <a:moveTo>
                      <a:pt x="0" y="0"/>
                    </a:moveTo>
                    <a:lnTo>
                      <a:pt x="0" y="559"/>
                    </a:lnTo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67" name="直接连接符 44066"/>
              <p:cNvSpPr/>
              <p:nvPr/>
            </p:nvSpPr>
            <p:spPr>
              <a:xfrm>
                <a:off x="927" y="0"/>
                <a:ext cx="0" cy="1332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44069" name="文本框 44068"/>
          <p:cNvSpPr txBox="1"/>
          <p:nvPr/>
        </p:nvSpPr>
        <p:spPr>
          <a:xfrm>
            <a:off x="1837690" y="1557338"/>
            <a:ext cx="5327650" cy="3067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只垂直正面投影面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lang="zh-CN" altLang="en-US" sz="1400">
                <a:solidFill>
                  <a:srgbClr val="D6009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正垂面</a:t>
            </a:r>
          </a:p>
        </p:txBody>
      </p:sp>
      <p:sp>
        <p:nvSpPr>
          <p:cNvPr id="44070" name="文本框 44069"/>
          <p:cNvSpPr txBox="1"/>
          <p:nvPr/>
        </p:nvSpPr>
        <p:spPr>
          <a:xfrm>
            <a:off x="1837690" y="1996440"/>
            <a:ext cx="5327650" cy="3067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只垂直水平投影面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lang="zh-CN" altLang="en-US" sz="1400">
                <a:solidFill>
                  <a:srgbClr val="0A81D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铅垂面</a:t>
            </a:r>
          </a:p>
        </p:txBody>
      </p:sp>
      <p:sp>
        <p:nvSpPr>
          <p:cNvPr id="44071" name="文本框 44070"/>
          <p:cNvSpPr txBox="1"/>
          <p:nvPr/>
        </p:nvSpPr>
        <p:spPr>
          <a:xfrm>
            <a:off x="1837690" y="2409825"/>
            <a:ext cx="5327650" cy="3067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只垂直侧面投影面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lang="zh-CN" altLang="en-US" sz="1400">
                <a:solidFill>
                  <a:srgbClr val="660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侧垂面</a:t>
            </a:r>
          </a:p>
        </p:txBody>
      </p:sp>
      <p:sp>
        <p:nvSpPr>
          <p:cNvPr id="44074" name="椭圆形标注 44073"/>
          <p:cNvSpPr/>
          <p:nvPr/>
        </p:nvSpPr>
        <p:spPr>
          <a:xfrm>
            <a:off x="7417435" y="3768408"/>
            <a:ext cx="1296988" cy="719137"/>
          </a:xfrm>
          <a:prstGeom prst="wedgeEllipseCallout">
            <a:avLst>
              <a:gd name="adj1" fmla="val -55139"/>
              <a:gd name="adj2" fmla="val -29250"/>
            </a:avLst>
          </a:prstGeom>
          <a:gradFill rotWithShape="1">
            <a:gsLst>
              <a:gs pos="0">
                <a:schemeClr val="folHlink">
                  <a:alpha val="26999"/>
                </a:schemeClr>
              </a:gs>
              <a:gs pos="100000">
                <a:schemeClr val="folHlink">
                  <a:gamma/>
                  <a:tint val="3137"/>
                  <a:invGamma/>
                </a:schemeClr>
              </a:gs>
            </a:gsLst>
            <a:lin ang="5400000" scaled="1"/>
            <a:tileRect/>
          </a:gradFill>
          <a:ln w="0" cap="flat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algn="ctr"/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积聚性</a:t>
            </a:r>
          </a:p>
        </p:txBody>
      </p:sp>
      <p:sp>
        <p:nvSpPr>
          <p:cNvPr id="44076" name="文本框 44075"/>
          <p:cNvSpPr txBox="1"/>
          <p:nvPr/>
        </p:nvSpPr>
        <p:spPr>
          <a:xfrm>
            <a:off x="1245870" y="3463608"/>
            <a:ext cx="4606290" cy="73723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/>
          <a:p>
            <a:pPr marL="342900" indent="-342900">
              <a:buFont typeface="Wingdings" panose="05000000000000000000" charset="0"/>
              <a:buChar char="ü"/>
            </a:pPr>
            <a:r>
              <a:rPr lang="zh-CN" altLang="en-US" sz="14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在它垂直的投影面上的投影</a:t>
            </a:r>
            <a:r>
              <a:rPr lang="zh-CN" altLang="en-US" sz="140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积聚</a:t>
            </a:r>
            <a:r>
              <a:rPr lang="zh-CN" altLang="en-US" sz="14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成直线。该直线与投影轴的夹角反映空间平面与另外两投影面夹角的大小。</a:t>
            </a:r>
          </a:p>
        </p:txBody>
      </p:sp>
      <p:sp>
        <p:nvSpPr>
          <p:cNvPr id="44077" name="文本框 44076"/>
          <p:cNvSpPr txBox="1"/>
          <p:nvPr/>
        </p:nvSpPr>
        <p:spPr>
          <a:xfrm>
            <a:off x="773430" y="3039746"/>
            <a:ext cx="1971040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lang="zh-CN" altLang="en-US">
                <a:solidFill>
                  <a:schemeClr val="tx1"/>
                </a:solidFill>
                <a:latin typeface="+mn-ea"/>
              </a:rPr>
              <a:t>投影特性：</a:t>
            </a:r>
          </a:p>
        </p:txBody>
      </p:sp>
      <p:sp>
        <p:nvSpPr>
          <p:cNvPr id="44078" name="文本框 44077"/>
          <p:cNvSpPr txBox="1"/>
          <p:nvPr/>
        </p:nvSpPr>
        <p:spPr>
          <a:xfrm>
            <a:off x="1217930" y="4293871"/>
            <a:ext cx="4458970" cy="30670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/>
          <a:p>
            <a:pPr marL="342900" indent="-342900">
              <a:buFont typeface="Wingdings" panose="05000000000000000000" charset="0"/>
              <a:buChar char="ü"/>
            </a:pPr>
            <a:r>
              <a:rPr lang="zh-CN" altLang="en-US" sz="14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另外两个投影面上的投影有</a:t>
            </a:r>
            <a:r>
              <a:rPr lang="zh-CN" altLang="en-US" sz="140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类似性</a:t>
            </a:r>
            <a:r>
              <a:rPr lang="zh-CN" altLang="en-US" sz="14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</a:p>
        </p:txBody>
      </p:sp>
      <p:sp>
        <p:nvSpPr>
          <p:cNvPr id="44084" name="矩形 44083"/>
          <p:cNvSpPr/>
          <p:nvPr/>
        </p:nvSpPr>
        <p:spPr>
          <a:xfrm>
            <a:off x="1217930" y="5015865"/>
            <a:ext cx="7656195" cy="306705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r>
              <a:rPr lang="zh-CN" altLang="en-US" sz="14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规律：</a:t>
            </a:r>
            <a:r>
              <a:rPr lang="zh-CN" altLang="en-US" sz="1400" b="1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两框一斜线，定是垂直面；斜线在哪面，就是什么面。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6610" y="4681220"/>
            <a:ext cx="711200" cy="89344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9286875" y="4793615"/>
            <a:ext cx="3850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i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ABC</a:t>
            </a:r>
            <a:r>
              <a:rPr lang="zh-CN" altLang="en-US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是什么平面？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9266555" y="5207000"/>
            <a:ext cx="197421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i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ABC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是铅垂面。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4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44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44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4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6" dur="75"/>
                                        <p:tgtEl>
                                          <p:spTgt spid="44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75"/>
                                        <p:tgtEl>
                                          <p:spTgt spid="440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75"/>
                                        <p:tgtEl>
                                          <p:spTgt spid="440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40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40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69" grpId="0"/>
      <p:bldP spid="44070" grpId="0"/>
      <p:bldP spid="44071" grpId="0"/>
      <p:bldP spid="44074" grpId="0" bldLvl="0" animBg="1"/>
      <p:bldP spid="44076" grpId="0" build="p"/>
      <p:bldP spid="44077" grpId="0"/>
      <p:bldP spid="44078" grpId="0" build="p"/>
      <p:bldP spid="44084" grpId="0"/>
      <p:bldP spid="2" grpId="0"/>
      <p:bldP spid="3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058" name="组合 45057"/>
          <p:cNvGrpSpPr/>
          <p:nvPr/>
        </p:nvGrpSpPr>
        <p:grpSpPr>
          <a:xfrm>
            <a:off x="6220460" y="644843"/>
            <a:ext cx="4959350" cy="3632200"/>
            <a:chOff x="0" y="0"/>
            <a:chExt cx="2784" cy="2016"/>
          </a:xfrm>
        </p:grpSpPr>
        <p:sp>
          <p:nvSpPr>
            <p:cNvPr id="45059" name="直接连接符 45058"/>
            <p:cNvSpPr/>
            <p:nvPr/>
          </p:nvSpPr>
          <p:spPr>
            <a:xfrm>
              <a:off x="0" y="960"/>
              <a:ext cx="27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60" name="直接连接符 45059"/>
            <p:cNvSpPr/>
            <p:nvPr/>
          </p:nvSpPr>
          <p:spPr>
            <a:xfrm>
              <a:off x="1488" y="0"/>
              <a:ext cx="0" cy="201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61" name="直接连接符 45060"/>
            <p:cNvSpPr/>
            <p:nvPr/>
          </p:nvSpPr>
          <p:spPr>
            <a:xfrm>
              <a:off x="288" y="1200"/>
              <a:ext cx="1104" cy="24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62" name="直接连接符 45061"/>
            <p:cNvSpPr/>
            <p:nvPr/>
          </p:nvSpPr>
          <p:spPr>
            <a:xfrm>
              <a:off x="288" y="1200"/>
              <a:ext cx="480" cy="624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63" name="直接连接符 45062"/>
            <p:cNvSpPr/>
            <p:nvPr/>
          </p:nvSpPr>
          <p:spPr>
            <a:xfrm flipV="1">
              <a:off x="768" y="1440"/>
              <a:ext cx="624" cy="384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64" name="直接连接符 45063"/>
            <p:cNvSpPr/>
            <p:nvPr/>
          </p:nvSpPr>
          <p:spPr>
            <a:xfrm flipV="1">
              <a:off x="288" y="336"/>
              <a:ext cx="0" cy="86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65" name="直接连接符 45064"/>
            <p:cNvSpPr/>
            <p:nvPr/>
          </p:nvSpPr>
          <p:spPr>
            <a:xfrm flipV="1">
              <a:off x="1392" y="336"/>
              <a:ext cx="0" cy="110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66" name="直接连接符 45065"/>
            <p:cNvSpPr/>
            <p:nvPr/>
          </p:nvSpPr>
          <p:spPr>
            <a:xfrm>
              <a:off x="288" y="336"/>
              <a:ext cx="1104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67" name="直接连接符 45066"/>
            <p:cNvSpPr/>
            <p:nvPr/>
          </p:nvSpPr>
          <p:spPr>
            <a:xfrm flipV="1">
              <a:off x="768" y="336"/>
              <a:ext cx="0" cy="14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68" name="直接连接符 45067"/>
            <p:cNvSpPr/>
            <p:nvPr/>
          </p:nvSpPr>
          <p:spPr>
            <a:xfrm>
              <a:off x="1488" y="960"/>
              <a:ext cx="864" cy="86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69" name="直接连接符 45068"/>
            <p:cNvSpPr/>
            <p:nvPr/>
          </p:nvSpPr>
          <p:spPr>
            <a:xfrm>
              <a:off x="1392" y="1440"/>
              <a:ext cx="5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70" name="直接连接符 45069"/>
            <p:cNvSpPr/>
            <p:nvPr/>
          </p:nvSpPr>
          <p:spPr>
            <a:xfrm flipV="1">
              <a:off x="1968" y="336"/>
              <a:ext cx="0" cy="110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71" name="直接连接符 45070"/>
            <p:cNvSpPr/>
            <p:nvPr/>
          </p:nvSpPr>
          <p:spPr>
            <a:xfrm>
              <a:off x="768" y="1824"/>
              <a:ext cx="15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72" name="直接连接符 45071"/>
            <p:cNvSpPr/>
            <p:nvPr/>
          </p:nvSpPr>
          <p:spPr>
            <a:xfrm flipV="1">
              <a:off x="2352" y="336"/>
              <a:ext cx="0" cy="14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73" name="直接连接符 45072"/>
            <p:cNvSpPr/>
            <p:nvPr/>
          </p:nvSpPr>
          <p:spPr>
            <a:xfrm>
              <a:off x="288" y="1200"/>
              <a:ext cx="14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74" name="直接连接符 45073"/>
            <p:cNvSpPr/>
            <p:nvPr/>
          </p:nvSpPr>
          <p:spPr>
            <a:xfrm flipV="1">
              <a:off x="1728" y="336"/>
              <a:ext cx="0" cy="86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75" name="直接连接符 45074"/>
            <p:cNvSpPr/>
            <p:nvPr/>
          </p:nvSpPr>
          <p:spPr>
            <a:xfrm>
              <a:off x="1392" y="336"/>
              <a:ext cx="96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76" name="直接连接符 45075"/>
            <p:cNvSpPr/>
            <p:nvPr/>
          </p:nvSpPr>
          <p:spPr>
            <a:xfrm>
              <a:off x="1728" y="336"/>
              <a:ext cx="624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77" name="文本框 45076"/>
            <p:cNvSpPr txBox="1"/>
            <p:nvPr/>
          </p:nvSpPr>
          <p:spPr>
            <a:xfrm>
              <a:off x="136" y="160"/>
              <a:ext cx="232" cy="2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a</a:t>
              </a:r>
              <a:r>
                <a:rPr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</a:t>
              </a:r>
            </a:p>
          </p:txBody>
        </p:sp>
        <p:sp>
          <p:nvSpPr>
            <p:cNvPr id="45078" name="文本框 45077"/>
            <p:cNvSpPr txBox="1"/>
            <p:nvPr/>
          </p:nvSpPr>
          <p:spPr>
            <a:xfrm>
              <a:off x="706" y="113"/>
              <a:ext cx="232" cy="2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b</a:t>
              </a:r>
              <a:r>
                <a:rPr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</a:t>
              </a:r>
            </a:p>
          </p:txBody>
        </p:sp>
        <p:sp>
          <p:nvSpPr>
            <p:cNvPr id="45079" name="文本框 45078"/>
            <p:cNvSpPr txBox="1"/>
            <p:nvPr/>
          </p:nvSpPr>
          <p:spPr>
            <a:xfrm>
              <a:off x="1317" y="113"/>
              <a:ext cx="222" cy="2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c</a:t>
              </a:r>
              <a:r>
                <a:rPr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</a:t>
              </a:r>
              <a:endParaRPr lang="en-US" altLang="zh-CN" sz="2400" b="1" i="1">
                <a:latin typeface="Times New Roman" panose="02020603050405020304" pitchFamily="18" charset="0"/>
                <a:sym typeface="CommercialPi BT" panose="05020102010206080802" pitchFamily="18" charset="2"/>
              </a:endParaRPr>
            </a:p>
          </p:txBody>
        </p:sp>
        <p:sp>
          <p:nvSpPr>
            <p:cNvPr id="45080" name="文本框 45079"/>
            <p:cNvSpPr txBox="1"/>
            <p:nvPr/>
          </p:nvSpPr>
          <p:spPr>
            <a:xfrm>
              <a:off x="1598" y="113"/>
              <a:ext cx="259" cy="2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a</a:t>
              </a:r>
              <a:r>
                <a:rPr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</a:t>
              </a:r>
            </a:p>
          </p:txBody>
        </p:sp>
        <p:sp>
          <p:nvSpPr>
            <p:cNvPr id="45081" name="文本框 45080"/>
            <p:cNvSpPr txBox="1"/>
            <p:nvPr/>
          </p:nvSpPr>
          <p:spPr>
            <a:xfrm>
              <a:off x="2322" y="113"/>
              <a:ext cx="260" cy="2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b</a:t>
              </a:r>
              <a:r>
                <a:rPr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</a:t>
              </a:r>
            </a:p>
          </p:txBody>
        </p:sp>
        <p:sp>
          <p:nvSpPr>
            <p:cNvPr id="45082" name="文本框 45081"/>
            <p:cNvSpPr txBox="1"/>
            <p:nvPr/>
          </p:nvSpPr>
          <p:spPr>
            <a:xfrm>
              <a:off x="1891" y="113"/>
              <a:ext cx="250" cy="2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c</a:t>
              </a:r>
              <a:r>
                <a:rPr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</a:t>
              </a:r>
            </a:p>
          </p:txBody>
        </p:sp>
        <p:sp>
          <p:nvSpPr>
            <p:cNvPr id="45083" name="文本框 45082"/>
            <p:cNvSpPr txBox="1"/>
            <p:nvPr/>
          </p:nvSpPr>
          <p:spPr>
            <a:xfrm>
              <a:off x="142" y="1072"/>
              <a:ext cx="189" cy="2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45084" name="文本框 45083"/>
            <p:cNvSpPr txBox="1"/>
            <p:nvPr/>
          </p:nvSpPr>
          <p:spPr>
            <a:xfrm>
              <a:off x="614" y="1745"/>
              <a:ext cx="189" cy="25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45085" name="文本框 45084"/>
            <p:cNvSpPr txBox="1"/>
            <p:nvPr/>
          </p:nvSpPr>
          <p:spPr>
            <a:xfrm>
              <a:off x="1306" y="1409"/>
              <a:ext cx="180" cy="2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c</a:t>
              </a:r>
            </a:p>
          </p:txBody>
        </p:sp>
      </p:grpSp>
      <p:sp>
        <p:nvSpPr>
          <p:cNvPr id="45086" name="文本框 45085"/>
          <p:cNvSpPr txBox="1"/>
          <p:nvPr/>
        </p:nvSpPr>
        <p:spPr>
          <a:xfrm>
            <a:off x="637540" y="751999"/>
            <a:ext cx="3836988" cy="36830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投影面平行面</a:t>
            </a:r>
          </a:p>
        </p:txBody>
      </p:sp>
      <p:sp>
        <p:nvSpPr>
          <p:cNvPr id="45087" name="文本框 45086"/>
          <p:cNvSpPr txBox="1"/>
          <p:nvPr/>
        </p:nvSpPr>
        <p:spPr>
          <a:xfrm>
            <a:off x="637540" y="3718243"/>
            <a:ext cx="5085715" cy="30670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/>
          <a:p>
            <a:pPr marL="342900" indent="-342900">
              <a:buFont typeface="Wingdings" panose="05000000000000000000" charset="0"/>
              <a:buChar char="Ø"/>
            </a:pPr>
            <a:r>
              <a:rPr lang="zh-CN" altLang="en-US" sz="140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在它所平行的投影面上的投影反映</a:t>
            </a:r>
            <a:r>
              <a:rPr lang="zh-CN" altLang="en-US" sz="140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实形</a:t>
            </a:r>
            <a:r>
              <a:rPr lang="zh-CN" altLang="en-US" sz="140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45088" name="文本框 45087"/>
          <p:cNvSpPr txBox="1"/>
          <p:nvPr/>
        </p:nvSpPr>
        <p:spPr>
          <a:xfrm>
            <a:off x="631825" y="4196716"/>
            <a:ext cx="4812665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/>
          <a:p>
            <a:pPr marL="342900" indent="-342900">
              <a:buFont typeface="Wingdings" panose="05000000000000000000" charset="0"/>
              <a:buChar char="Ø"/>
            </a:pPr>
            <a:r>
              <a:rPr lang="zh-CN" altLang="en-US" sz="140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另两个投影面上的投影分别</a:t>
            </a:r>
            <a:r>
              <a:rPr lang="zh-CN" altLang="en-US" sz="1400">
                <a:solidFill>
                  <a:srgbClr val="FF33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积聚</a:t>
            </a:r>
            <a:r>
              <a:rPr lang="zh-CN" altLang="en-US" sz="140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成与相应的投影轴平行的直线。</a:t>
            </a:r>
          </a:p>
        </p:txBody>
      </p:sp>
      <p:sp>
        <p:nvSpPr>
          <p:cNvPr id="45090" name="文本框 45089"/>
          <p:cNvSpPr txBox="1"/>
          <p:nvPr/>
        </p:nvSpPr>
        <p:spPr>
          <a:xfrm>
            <a:off x="989965" y="1338580"/>
            <a:ext cx="3804285" cy="3067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平行于正面投影面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lang="zh-CN" altLang="en-US" sz="1400">
                <a:solidFill>
                  <a:srgbClr val="0A81D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正平面</a:t>
            </a:r>
          </a:p>
        </p:txBody>
      </p:sp>
      <p:sp>
        <p:nvSpPr>
          <p:cNvPr id="45091" name="文本框 45090"/>
          <p:cNvSpPr txBox="1"/>
          <p:nvPr/>
        </p:nvSpPr>
        <p:spPr>
          <a:xfrm>
            <a:off x="989965" y="1770380"/>
            <a:ext cx="3723640" cy="3067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平行于水平投影面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lang="zh-CN" altLang="en-US" sz="1400">
                <a:solidFill>
                  <a:srgbClr val="D6009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水平面</a:t>
            </a:r>
          </a:p>
        </p:txBody>
      </p:sp>
      <p:sp>
        <p:nvSpPr>
          <p:cNvPr id="45092" name="文本框 45091"/>
          <p:cNvSpPr txBox="1"/>
          <p:nvPr/>
        </p:nvSpPr>
        <p:spPr>
          <a:xfrm>
            <a:off x="989965" y="2181225"/>
            <a:ext cx="3676015" cy="3067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平行于侧面投影面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lang="zh-CN" altLang="en-US" sz="1400" dirty="0">
                <a:solidFill>
                  <a:srgbClr val="660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侧平面</a:t>
            </a:r>
            <a:endParaRPr lang="zh-CN" altLang="en-US" sz="1400">
              <a:solidFill>
                <a:srgbClr val="6600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5095" name="文本框 45094"/>
          <p:cNvSpPr txBox="1"/>
          <p:nvPr/>
        </p:nvSpPr>
        <p:spPr>
          <a:xfrm>
            <a:off x="981710" y="3183256"/>
            <a:ext cx="1601470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/>
          <a:p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投影特性：</a:t>
            </a:r>
          </a:p>
        </p:txBody>
      </p:sp>
      <p:sp>
        <p:nvSpPr>
          <p:cNvPr id="45097" name="椭圆形标注 45096"/>
          <p:cNvSpPr/>
          <p:nvPr/>
        </p:nvSpPr>
        <p:spPr>
          <a:xfrm>
            <a:off x="6161405" y="3579495"/>
            <a:ext cx="1152525" cy="649288"/>
          </a:xfrm>
          <a:prstGeom prst="wedgeEllipseCallout">
            <a:avLst>
              <a:gd name="adj1" fmla="val 28292"/>
              <a:gd name="adj2" fmla="val -94889"/>
            </a:avLst>
          </a:prstGeom>
          <a:gradFill rotWithShape="1">
            <a:gsLst>
              <a:gs pos="0">
                <a:srgbClr val="FFCC99"/>
              </a:gs>
              <a:gs pos="100000">
                <a:srgbClr val="FFCC99">
                  <a:gamma/>
                  <a:tint val="25490"/>
                  <a:invGamma/>
                </a:srgbClr>
              </a:gs>
            </a:gsLst>
            <a:lin ang="5400000" scaled="1"/>
            <a:tileRect/>
          </a:gradFill>
          <a:ln w="9525">
            <a:noFill/>
          </a:ln>
        </p:spPr>
        <p:txBody>
          <a:bodyPr/>
          <a:lstStyle/>
          <a:p>
            <a:pPr algn="ctr"/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实形</a:t>
            </a:r>
          </a:p>
        </p:txBody>
      </p:sp>
      <p:sp>
        <p:nvSpPr>
          <p:cNvPr id="45103" name="矩形 45102"/>
          <p:cNvSpPr/>
          <p:nvPr/>
        </p:nvSpPr>
        <p:spPr>
          <a:xfrm>
            <a:off x="1128713" y="5094923"/>
            <a:ext cx="8532812" cy="306705"/>
          </a:xfrm>
          <a:prstGeom prst="rect">
            <a:avLst/>
          </a:prstGeom>
          <a:noFill/>
          <a:ln w="0">
            <a:noFill/>
          </a:ln>
        </p:spPr>
        <p:txBody>
          <a:bodyPr>
            <a:spAutoFit/>
          </a:bodyPr>
          <a:lstStyle/>
          <a:p>
            <a:r>
              <a:rPr lang="zh-CN" altLang="en-US" sz="14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规律：</a:t>
            </a:r>
            <a:r>
              <a:rPr lang="zh-CN" altLang="en-US" sz="1400" b="1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一框两直线，定是平行面；框在哪个面，就是什么面。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1190" y="4594860"/>
            <a:ext cx="711200" cy="89344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9276715" y="4669790"/>
            <a:ext cx="3850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i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ABC</a:t>
            </a:r>
            <a:r>
              <a:rPr lang="zh-CN" altLang="en-US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是什么平面？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9276715" y="5054600"/>
            <a:ext cx="19742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i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ABC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是水平面，水平投影反映实形。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5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45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45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75" fill="hold"/>
                                        <p:tgtEl>
                                          <p:spTgt spid="450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" fill="hold"/>
                                        <p:tgtEl>
                                          <p:spTgt spid="450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75"/>
                                        <p:tgtEl>
                                          <p:spTgt spid="450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75"/>
                                        <p:tgtEl>
                                          <p:spTgt spid="450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5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5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87" grpId="0" build="p"/>
      <p:bldP spid="45088" grpId="0" build="p"/>
      <p:bldP spid="45090" grpId="0"/>
      <p:bldP spid="45091" grpId="0"/>
      <p:bldP spid="45092" grpId="0"/>
      <p:bldP spid="45095" grpId="0"/>
      <p:bldP spid="45097" grpId="0" bldLvl="0" animBg="1"/>
      <p:bldP spid="45097" grpId="1" bldLvl="0" animBg="1"/>
      <p:bldP spid="45103" grpId="0"/>
      <p:bldP spid="2" grpId="0"/>
      <p:bldP spid="3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085" name="内容占位符 46084"/>
          <p:cNvGraphicFramePr>
            <a:graphicFrameLocks noGrp="1" noChangeAspect="1"/>
          </p:cNvGraphicFramePr>
          <p:nvPr>
            <p:ph idx="1"/>
          </p:nvPr>
        </p:nvGraphicFramePr>
        <p:xfrm>
          <a:off x="684213" y="1009650"/>
          <a:ext cx="7596187" cy="5011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4651950" imgH="57435750" progId="Paint.Picture">
                  <p:embed/>
                </p:oleObj>
              </mc:Choice>
              <mc:Fallback>
                <p:oleObj r:id="rId2" imgW="34651950" imgH="57435750" progId="Paint.Picture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3"/>
                      <a:srcRect r="10478" b="64363"/>
                      <a:stretch>
                        <a:fillRect/>
                      </a:stretch>
                    </p:blipFill>
                    <p:spPr>
                      <a:xfrm>
                        <a:off x="684213" y="1009650"/>
                        <a:ext cx="7596187" cy="5011738"/>
                      </a:xfrm>
                      <a:prstGeom prst="rect">
                        <a:avLst/>
                      </a:prstGeom>
                      <a:solidFill>
                        <a:srgbClr val="FF3300">
                          <a:alpha val="100000"/>
                        </a:srgbClr>
                      </a:solidFill>
                      <a:ln w="0">
                        <a:solidFill>
                          <a:schemeClr val="tx1"/>
                        </a:solidFill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6" name="直接连接符 46085"/>
          <p:cNvSpPr/>
          <p:nvPr/>
        </p:nvSpPr>
        <p:spPr>
          <a:xfrm flipH="1">
            <a:off x="1273175" y="3962400"/>
            <a:ext cx="649288" cy="576263"/>
          </a:xfrm>
          <a:prstGeom prst="line">
            <a:avLst/>
          </a:prstGeom>
          <a:ln w="3810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6087" name="直接连接符 46086"/>
          <p:cNvSpPr/>
          <p:nvPr/>
        </p:nvSpPr>
        <p:spPr>
          <a:xfrm>
            <a:off x="3433763" y="4941888"/>
            <a:ext cx="792162" cy="576262"/>
          </a:xfrm>
          <a:prstGeom prst="line">
            <a:avLst/>
          </a:prstGeom>
          <a:ln w="3810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6088" name="直接连接符 46087"/>
          <p:cNvSpPr/>
          <p:nvPr/>
        </p:nvSpPr>
        <p:spPr>
          <a:xfrm>
            <a:off x="5651500" y="5272088"/>
            <a:ext cx="1296988" cy="0"/>
          </a:xfrm>
          <a:prstGeom prst="line">
            <a:avLst/>
          </a:prstGeom>
          <a:ln w="28575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6089" name="直接连接符 46088"/>
          <p:cNvSpPr/>
          <p:nvPr/>
        </p:nvSpPr>
        <p:spPr>
          <a:xfrm>
            <a:off x="7624763" y="4033838"/>
            <a:ext cx="0" cy="360362"/>
          </a:xfrm>
          <a:prstGeom prst="line">
            <a:avLst/>
          </a:prstGeom>
          <a:ln w="3810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6090" name="文本框 46089"/>
          <p:cNvSpPr txBox="1"/>
          <p:nvPr/>
        </p:nvSpPr>
        <p:spPr>
          <a:xfrm>
            <a:off x="1331913" y="6015038"/>
            <a:ext cx="1655762" cy="3067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400" i="1">
                <a:solidFill>
                  <a:srgbClr val="FF3300"/>
                </a:solidFill>
                <a:latin typeface="+mn-ea"/>
                <a:cs typeface="+mn-ea"/>
              </a:rPr>
              <a:t>P </a:t>
            </a:r>
            <a:r>
              <a:rPr lang="zh-CN" altLang="en-US" sz="1400">
                <a:solidFill>
                  <a:srgbClr val="FF3300"/>
                </a:solidFill>
                <a:latin typeface="+mn-ea"/>
                <a:cs typeface="+mn-ea"/>
              </a:rPr>
              <a:t>为正垂面</a:t>
            </a:r>
          </a:p>
        </p:txBody>
      </p:sp>
      <p:sp>
        <p:nvSpPr>
          <p:cNvPr id="46091" name="文本框 46090"/>
          <p:cNvSpPr txBox="1"/>
          <p:nvPr/>
        </p:nvSpPr>
        <p:spPr>
          <a:xfrm>
            <a:off x="3635375" y="6008688"/>
            <a:ext cx="1655763" cy="3067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400" i="1">
                <a:solidFill>
                  <a:srgbClr val="FF3300"/>
                </a:solidFill>
                <a:latin typeface="+mn-ea"/>
                <a:cs typeface="+mn-ea"/>
              </a:rPr>
              <a:t>S </a:t>
            </a:r>
            <a:r>
              <a:rPr lang="zh-CN" altLang="en-US" sz="1400">
                <a:solidFill>
                  <a:srgbClr val="FF3300"/>
                </a:solidFill>
                <a:latin typeface="+mn-ea"/>
                <a:cs typeface="+mn-ea"/>
              </a:rPr>
              <a:t>为铅垂面</a:t>
            </a:r>
          </a:p>
        </p:txBody>
      </p:sp>
      <p:sp>
        <p:nvSpPr>
          <p:cNvPr id="46092" name="文本框 46091"/>
          <p:cNvSpPr txBox="1"/>
          <p:nvPr/>
        </p:nvSpPr>
        <p:spPr>
          <a:xfrm>
            <a:off x="6011863" y="6008688"/>
            <a:ext cx="1655762" cy="3067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400" i="1">
                <a:solidFill>
                  <a:srgbClr val="FF3300"/>
                </a:solidFill>
                <a:latin typeface="+mn-ea"/>
                <a:cs typeface="+mn-ea"/>
              </a:rPr>
              <a:t>R </a:t>
            </a:r>
            <a:r>
              <a:rPr lang="zh-CN" altLang="en-US" sz="1400">
                <a:solidFill>
                  <a:srgbClr val="FF3300"/>
                </a:solidFill>
                <a:latin typeface="+mn-ea"/>
                <a:cs typeface="+mn-ea"/>
              </a:rPr>
              <a:t>为正平面</a:t>
            </a:r>
          </a:p>
        </p:txBody>
      </p:sp>
      <p:sp>
        <p:nvSpPr>
          <p:cNvPr id="46093" name="文本框 46092"/>
          <p:cNvSpPr txBox="1"/>
          <p:nvPr/>
        </p:nvSpPr>
        <p:spPr>
          <a:xfrm>
            <a:off x="405130" y="427038"/>
            <a:ext cx="10934700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/>
          <a:p>
            <a:r>
              <a:rPr lang="zh-CN" altLang="en-US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</a:t>
            </a:r>
            <a:r>
              <a:rPr lang="zh-CN" altLang="en-US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参照立体图，说明立体上每个平面相对于投影面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的位置。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6094" name="矩形 46093"/>
          <p:cNvSpPr/>
          <p:nvPr/>
        </p:nvSpPr>
        <p:spPr>
          <a:xfrm>
            <a:off x="900113" y="3644900"/>
            <a:ext cx="2303462" cy="2376488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095" name="矩形 46094"/>
          <p:cNvSpPr/>
          <p:nvPr/>
        </p:nvSpPr>
        <p:spPr>
          <a:xfrm>
            <a:off x="3132138" y="3573463"/>
            <a:ext cx="2303462" cy="2376487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096" name="矩形 46095"/>
          <p:cNvSpPr/>
          <p:nvPr/>
        </p:nvSpPr>
        <p:spPr>
          <a:xfrm>
            <a:off x="5292725" y="3644900"/>
            <a:ext cx="2663825" cy="21590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460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6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6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1" dur="500"/>
                                        <p:tgtEl>
                                          <p:spTgt spid="460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6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6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6" dur="500"/>
                                        <p:tgtEl>
                                          <p:spTgt spid="460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6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46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6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90" grpId="0"/>
      <p:bldP spid="46091" grpId="0"/>
      <p:bldP spid="46092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106" name="组合 47105"/>
          <p:cNvGrpSpPr/>
          <p:nvPr/>
        </p:nvGrpSpPr>
        <p:grpSpPr>
          <a:xfrm>
            <a:off x="1958975" y="1406525"/>
            <a:ext cx="4416425" cy="4286250"/>
            <a:chOff x="0" y="0"/>
            <a:chExt cx="2593" cy="2418"/>
          </a:xfrm>
        </p:grpSpPr>
        <p:sp>
          <p:nvSpPr>
            <p:cNvPr id="47107" name="未知"/>
            <p:cNvSpPr/>
            <p:nvPr/>
          </p:nvSpPr>
          <p:spPr>
            <a:xfrm>
              <a:off x="14" y="1278"/>
              <a:ext cx="2505" cy="3"/>
            </a:xfrm>
            <a:custGeom>
              <a:avLst/>
              <a:gdLst/>
              <a:ahLst/>
              <a:cxnLst/>
              <a:rect l="0" t="0" r="0" b="0"/>
              <a:pathLst>
                <a:path w="2505" h="3">
                  <a:moveTo>
                    <a:pt x="0" y="3"/>
                  </a:moveTo>
                  <a:lnTo>
                    <a:pt x="2505" y="0"/>
                  </a:lnTo>
                </a:path>
              </a:pathLst>
            </a:custGeom>
            <a:noFill/>
            <a:ln w="9525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08" name="直接连接符 47107"/>
            <p:cNvSpPr/>
            <p:nvPr/>
          </p:nvSpPr>
          <p:spPr>
            <a:xfrm>
              <a:off x="1406" y="33"/>
              <a:ext cx="0" cy="2352"/>
            </a:xfrm>
            <a:prstGeom prst="line">
              <a:avLst/>
            </a:prstGeom>
            <a:ln w="9525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09" name="直接连接符 47108"/>
            <p:cNvSpPr/>
            <p:nvPr/>
          </p:nvSpPr>
          <p:spPr>
            <a:xfrm flipV="1">
              <a:off x="158" y="1473"/>
              <a:ext cx="912" cy="384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10" name="直接连接符 47109"/>
            <p:cNvSpPr/>
            <p:nvPr/>
          </p:nvSpPr>
          <p:spPr>
            <a:xfrm>
              <a:off x="1070" y="1473"/>
              <a:ext cx="192" cy="768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11" name="直接连接符 47110"/>
            <p:cNvSpPr/>
            <p:nvPr/>
          </p:nvSpPr>
          <p:spPr>
            <a:xfrm flipH="1" flipV="1">
              <a:off x="158" y="1857"/>
              <a:ext cx="1104" cy="384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12" name="直接连接符 47111"/>
            <p:cNvSpPr/>
            <p:nvPr/>
          </p:nvSpPr>
          <p:spPr>
            <a:xfrm flipV="1">
              <a:off x="158" y="1089"/>
              <a:ext cx="0" cy="768"/>
            </a:xfrm>
            <a:prstGeom prst="line">
              <a:avLst/>
            </a:prstGeom>
            <a:ln w="9525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13" name="直接连接符 47112"/>
            <p:cNvSpPr/>
            <p:nvPr/>
          </p:nvSpPr>
          <p:spPr>
            <a:xfrm flipV="1">
              <a:off x="1070" y="225"/>
              <a:ext cx="0" cy="1248"/>
            </a:xfrm>
            <a:prstGeom prst="line">
              <a:avLst/>
            </a:prstGeom>
            <a:ln w="9525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14" name="直接连接符 47113"/>
            <p:cNvSpPr/>
            <p:nvPr/>
          </p:nvSpPr>
          <p:spPr>
            <a:xfrm flipV="1">
              <a:off x="1262" y="849"/>
              <a:ext cx="0" cy="1392"/>
            </a:xfrm>
            <a:prstGeom prst="line">
              <a:avLst/>
            </a:prstGeom>
            <a:ln w="9525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15" name="直接连接符 47114"/>
            <p:cNvSpPr/>
            <p:nvPr/>
          </p:nvSpPr>
          <p:spPr>
            <a:xfrm flipH="1">
              <a:off x="158" y="849"/>
              <a:ext cx="1104" cy="24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16" name="直接连接符 47115"/>
            <p:cNvSpPr/>
            <p:nvPr/>
          </p:nvSpPr>
          <p:spPr>
            <a:xfrm flipV="1">
              <a:off x="158" y="225"/>
              <a:ext cx="912" cy="864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17" name="直接连接符 47116"/>
            <p:cNvSpPr/>
            <p:nvPr/>
          </p:nvSpPr>
          <p:spPr>
            <a:xfrm>
              <a:off x="1070" y="225"/>
              <a:ext cx="192" cy="624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18" name="直接连接符 47117"/>
            <p:cNvSpPr/>
            <p:nvPr/>
          </p:nvSpPr>
          <p:spPr>
            <a:xfrm>
              <a:off x="1406" y="1281"/>
              <a:ext cx="1008" cy="1008"/>
            </a:xfrm>
            <a:prstGeom prst="line">
              <a:avLst/>
            </a:prstGeom>
            <a:ln w="9525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19" name="直接连接符 47118"/>
            <p:cNvSpPr/>
            <p:nvPr/>
          </p:nvSpPr>
          <p:spPr>
            <a:xfrm>
              <a:off x="1070" y="1473"/>
              <a:ext cx="528" cy="0"/>
            </a:xfrm>
            <a:prstGeom prst="line">
              <a:avLst/>
            </a:prstGeom>
            <a:ln w="9525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20" name="直接连接符 47119"/>
            <p:cNvSpPr/>
            <p:nvPr/>
          </p:nvSpPr>
          <p:spPr>
            <a:xfrm flipV="1">
              <a:off x="1598" y="225"/>
              <a:ext cx="0" cy="1248"/>
            </a:xfrm>
            <a:prstGeom prst="line">
              <a:avLst/>
            </a:prstGeom>
            <a:ln w="9525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21" name="直接连接符 47120"/>
            <p:cNvSpPr/>
            <p:nvPr/>
          </p:nvSpPr>
          <p:spPr>
            <a:xfrm>
              <a:off x="1070" y="225"/>
              <a:ext cx="528" cy="0"/>
            </a:xfrm>
            <a:prstGeom prst="line">
              <a:avLst/>
            </a:prstGeom>
            <a:ln w="9525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22" name="直接连接符 47121"/>
            <p:cNvSpPr/>
            <p:nvPr/>
          </p:nvSpPr>
          <p:spPr>
            <a:xfrm>
              <a:off x="158" y="1857"/>
              <a:ext cx="1824" cy="0"/>
            </a:xfrm>
            <a:prstGeom prst="line">
              <a:avLst/>
            </a:prstGeom>
            <a:ln w="9525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23" name="直接连接符 47122"/>
            <p:cNvSpPr/>
            <p:nvPr/>
          </p:nvSpPr>
          <p:spPr>
            <a:xfrm>
              <a:off x="158" y="1089"/>
              <a:ext cx="1872" cy="0"/>
            </a:xfrm>
            <a:prstGeom prst="line">
              <a:avLst/>
            </a:prstGeom>
            <a:ln w="9525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24" name="直接连接符 47123"/>
            <p:cNvSpPr/>
            <p:nvPr/>
          </p:nvSpPr>
          <p:spPr>
            <a:xfrm flipV="1">
              <a:off x="1982" y="1089"/>
              <a:ext cx="0" cy="768"/>
            </a:xfrm>
            <a:prstGeom prst="line">
              <a:avLst/>
            </a:prstGeom>
            <a:ln w="9525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25" name="直接连接符 47124"/>
            <p:cNvSpPr/>
            <p:nvPr/>
          </p:nvSpPr>
          <p:spPr>
            <a:xfrm>
              <a:off x="1262" y="2241"/>
              <a:ext cx="1104" cy="0"/>
            </a:xfrm>
            <a:prstGeom prst="line">
              <a:avLst/>
            </a:prstGeom>
            <a:ln w="9525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26" name="直接连接符 47125"/>
            <p:cNvSpPr/>
            <p:nvPr/>
          </p:nvSpPr>
          <p:spPr>
            <a:xfrm>
              <a:off x="1262" y="849"/>
              <a:ext cx="1104" cy="0"/>
            </a:xfrm>
            <a:prstGeom prst="line">
              <a:avLst/>
            </a:prstGeom>
            <a:ln w="9525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27" name="直接连接符 47126"/>
            <p:cNvSpPr/>
            <p:nvPr/>
          </p:nvSpPr>
          <p:spPr>
            <a:xfrm flipV="1">
              <a:off x="2366" y="849"/>
              <a:ext cx="0" cy="1392"/>
            </a:xfrm>
            <a:prstGeom prst="line">
              <a:avLst/>
            </a:prstGeom>
            <a:ln w="9525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28" name="直接连接符 47127"/>
            <p:cNvSpPr/>
            <p:nvPr/>
          </p:nvSpPr>
          <p:spPr>
            <a:xfrm flipH="1">
              <a:off x="1982" y="849"/>
              <a:ext cx="384" cy="24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29" name="直接连接符 47128"/>
            <p:cNvSpPr/>
            <p:nvPr/>
          </p:nvSpPr>
          <p:spPr>
            <a:xfrm>
              <a:off x="1598" y="225"/>
              <a:ext cx="768" cy="624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30" name="直接连接符 47129"/>
            <p:cNvSpPr/>
            <p:nvPr/>
          </p:nvSpPr>
          <p:spPr>
            <a:xfrm>
              <a:off x="1598" y="225"/>
              <a:ext cx="384" cy="864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31" name="文本框 47130"/>
            <p:cNvSpPr txBox="1"/>
            <p:nvPr/>
          </p:nvSpPr>
          <p:spPr>
            <a:xfrm>
              <a:off x="0" y="912"/>
              <a:ext cx="243" cy="25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a</a:t>
              </a:r>
              <a:r>
                <a:rPr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</a:t>
              </a:r>
            </a:p>
          </p:txBody>
        </p:sp>
        <p:sp>
          <p:nvSpPr>
            <p:cNvPr id="47132" name="文本框 47131"/>
            <p:cNvSpPr txBox="1"/>
            <p:nvPr/>
          </p:nvSpPr>
          <p:spPr>
            <a:xfrm>
              <a:off x="907" y="0"/>
              <a:ext cx="242" cy="25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b</a:t>
              </a:r>
              <a:r>
                <a:rPr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</a:t>
              </a:r>
            </a:p>
          </p:txBody>
        </p:sp>
        <p:sp>
          <p:nvSpPr>
            <p:cNvPr id="47133" name="文本框 47132"/>
            <p:cNvSpPr txBox="1"/>
            <p:nvPr/>
          </p:nvSpPr>
          <p:spPr>
            <a:xfrm>
              <a:off x="1205" y="623"/>
              <a:ext cx="232" cy="25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c</a:t>
              </a:r>
              <a:r>
                <a:rPr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</a:t>
              </a:r>
            </a:p>
          </p:txBody>
        </p:sp>
        <p:sp>
          <p:nvSpPr>
            <p:cNvPr id="47134" name="文本框 47133"/>
            <p:cNvSpPr txBox="1"/>
            <p:nvPr/>
          </p:nvSpPr>
          <p:spPr>
            <a:xfrm>
              <a:off x="1982" y="1008"/>
              <a:ext cx="291" cy="25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a</a:t>
              </a:r>
              <a:r>
                <a:rPr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</a:t>
              </a:r>
            </a:p>
          </p:txBody>
        </p:sp>
        <p:sp>
          <p:nvSpPr>
            <p:cNvPr id="47135" name="文本框 47134"/>
            <p:cNvSpPr txBox="1"/>
            <p:nvPr/>
          </p:nvSpPr>
          <p:spPr>
            <a:xfrm>
              <a:off x="2332" y="672"/>
              <a:ext cx="261" cy="25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c</a:t>
              </a:r>
              <a:r>
                <a:rPr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</a:t>
              </a:r>
            </a:p>
          </p:txBody>
        </p:sp>
        <p:sp>
          <p:nvSpPr>
            <p:cNvPr id="47136" name="文本框 47135"/>
            <p:cNvSpPr txBox="1"/>
            <p:nvPr/>
          </p:nvSpPr>
          <p:spPr>
            <a:xfrm>
              <a:off x="1563" y="0"/>
              <a:ext cx="271" cy="25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b</a:t>
              </a:r>
              <a:r>
                <a:rPr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</a:t>
              </a:r>
            </a:p>
          </p:txBody>
        </p:sp>
        <p:sp>
          <p:nvSpPr>
            <p:cNvPr id="47137" name="文本框 47136"/>
            <p:cNvSpPr txBox="1"/>
            <p:nvPr/>
          </p:nvSpPr>
          <p:spPr>
            <a:xfrm>
              <a:off x="7" y="1680"/>
              <a:ext cx="197" cy="25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47138" name="文本框 47137"/>
            <p:cNvSpPr txBox="1"/>
            <p:nvPr/>
          </p:nvSpPr>
          <p:spPr>
            <a:xfrm>
              <a:off x="885" y="1296"/>
              <a:ext cx="197" cy="25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47139" name="文本框 47138"/>
            <p:cNvSpPr txBox="1"/>
            <p:nvPr/>
          </p:nvSpPr>
          <p:spPr>
            <a:xfrm>
              <a:off x="1124" y="2160"/>
              <a:ext cx="187" cy="25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c</a:t>
              </a:r>
            </a:p>
          </p:txBody>
        </p:sp>
      </p:grpSp>
      <p:sp>
        <p:nvSpPr>
          <p:cNvPr id="47140" name="文本框 47139"/>
          <p:cNvSpPr txBox="1"/>
          <p:nvPr/>
        </p:nvSpPr>
        <p:spPr>
          <a:xfrm>
            <a:off x="614998" y="691356"/>
            <a:ext cx="4719637" cy="36830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一般位置平面</a:t>
            </a:r>
          </a:p>
        </p:txBody>
      </p:sp>
      <p:sp>
        <p:nvSpPr>
          <p:cNvPr id="47141" name="文本框 47140"/>
          <p:cNvSpPr txBox="1"/>
          <p:nvPr/>
        </p:nvSpPr>
        <p:spPr>
          <a:xfrm>
            <a:off x="7337108" y="3854610"/>
            <a:ext cx="4111625" cy="30670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algn="l"/>
            <a:r>
              <a:rPr lang="zh-CN" altLang="en-US" sz="140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三个投影都是</a:t>
            </a:r>
            <a:r>
              <a:rPr lang="zh-CN" altLang="en-US" sz="1400">
                <a:solidFill>
                  <a:srgbClr val="FF33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类似</a:t>
            </a:r>
            <a:r>
              <a:rPr lang="zh-CN" altLang="en-US" sz="140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形。</a:t>
            </a:r>
          </a:p>
        </p:txBody>
      </p:sp>
      <p:sp>
        <p:nvSpPr>
          <p:cNvPr id="47142" name="文本框 47141"/>
          <p:cNvSpPr txBox="1"/>
          <p:nvPr/>
        </p:nvSpPr>
        <p:spPr>
          <a:xfrm>
            <a:off x="7337425" y="3397409"/>
            <a:ext cx="3357563" cy="30670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algn="l"/>
            <a:r>
              <a:rPr lang="zh-CN" altLang="en-US" sz="14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投影特性：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47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41" grpId="0"/>
      <p:bldP spid="47142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2" name="Rectangle 2"/>
          <p:cNvSpPr/>
          <p:nvPr/>
        </p:nvSpPr>
        <p:spPr>
          <a:xfrm>
            <a:off x="396875" y="216535"/>
            <a:ext cx="9836150" cy="86487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u="none" kern="1200" baseline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9</a:t>
            </a:r>
            <a:r>
              <a:rPr lang="en-US" altLang="zh-CN"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已知平面图形的</a:t>
            </a:r>
            <a:r>
              <a:rPr lang="en-US" altLang="zh-CN"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面和</a:t>
            </a:r>
            <a:r>
              <a:rPr lang="en-US" altLang="zh-CN"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面投影，求其</a:t>
            </a:r>
            <a:r>
              <a:rPr lang="en-US" altLang="zh-CN"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面投影。</a:t>
            </a:r>
            <a:endParaRPr lang="en-US" altLang="zh-CN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50534" name="Picture 4" descr="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271588"/>
            <a:ext cx="6551613" cy="49434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0535" name="Picture 6" descr="1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00200" y="1081088"/>
            <a:ext cx="6551613" cy="49434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0536" name="Picture 7" descr="1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12900" y="1068388"/>
            <a:ext cx="6551613" cy="49434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0537" name="Picture 8" descr="1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12900" y="1052513"/>
            <a:ext cx="6551613" cy="49434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5310" name="Line 14"/>
          <p:cNvSpPr/>
          <p:nvPr/>
        </p:nvSpPr>
        <p:spPr>
          <a:xfrm>
            <a:off x="2743200" y="4224338"/>
            <a:ext cx="2743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55311" name="Line 15"/>
          <p:cNvSpPr/>
          <p:nvPr/>
        </p:nvSpPr>
        <p:spPr>
          <a:xfrm>
            <a:off x="2743200" y="1671638"/>
            <a:ext cx="2743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55312" name="Line 16"/>
          <p:cNvSpPr/>
          <p:nvPr/>
        </p:nvSpPr>
        <p:spPr>
          <a:xfrm>
            <a:off x="4343400" y="3271838"/>
            <a:ext cx="1143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55313" name="Line 17"/>
          <p:cNvSpPr/>
          <p:nvPr/>
        </p:nvSpPr>
        <p:spPr>
          <a:xfrm flipV="1">
            <a:off x="5486400" y="1652588"/>
            <a:ext cx="0" cy="2590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55314" name="Line 18"/>
          <p:cNvSpPr/>
          <p:nvPr/>
        </p:nvSpPr>
        <p:spPr>
          <a:xfrm>
            <a:off x="5486400" y="1662113"/>
            <a:ext cx="0" cy="160020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55315" name="Text Box 19"/>
          <p:cNvSpPr txBox="1"/>
          <p:nvPr/>
        </p:nvSpPr>
        <p:spPr>
          <a:xfrm>
            <a:off x="2373313" y="1412875"/>
            <a:ext cx="36830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i="1">
                <a:latin typeface="Arial" panose="020B0604020202020204" pitchFamily="34" charset="0"/>
              </a:rPr>
              <a:t>1</a:t>
            </a:r>
            <a:r>
              <a:rPr lang="en-US" altLang="zh-CN" b="1" i="1">
                <a:latin typeface="Arial" panose="020B0604020202020204" pitchFamily="34" charset="0"/>
                <a:sym typeface="Symbol" panose="05050102010706020507" pitchFamily="18" charset="2"/>
              </a:rPr>
              <a:t></a:t>
            </a:r>
          </a:p>
        </p:txBody>
      </p:sp>
      <p:sp>
        <p:nvSpPr>
          <p:cNvPr id="55316" name="Text Box 20"/>
          <p:cNvSpPr txBox="1"/>
          <p:nvPr/>
        </p:nvSpPr>
        <p:spPr>
          <a:xfrm>
            <a:off x="5362575" y="1339850"/>
            <a:ext cx="404813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i="1">
                <a:latin typeface="Arial" panose="020B0604020202020204" pitchFamily="34" charset="0"/>
              </a:rPr>
              <a:t>1</a:t>
            </a:r>
            <a:r>
              <a:rPr lang="en-US" altLang="zh-CN" b="1" i="1">
                <a:latin typeface="Arial" panose="020B0604020202020204" pitchFamily="34" charset="0"/>
                <a:sym typeface="Symbol" panose="05050102010706020507" pitchFamily="18" charset="2"/>
              </a:rPr>
              <a:t></a:t>
            </a:r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55317" name="Text Box 21"/>
          <p:cNvSpPr txBox="1"/>
          <p:nvPr/>
        </p:nvSpPr>
        <p:spPr>
          <a:xfrm>
            <a:off x="2411413" y="4213225"/>
            <a:ext cx="3111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i="1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55318" name="Text Box 22"/>
          <p:cNvSpPr txBox="1"/>
          <p:nvPr/>
        </p:nvSpPr>
        <p:spPr>
          <a:xfrm>
            <a:off x="5076825" y="2990850"/>
            <a:ext cx="60325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i="1">
                <a:latin typeface="Arial" panose="020B0604020202020204" pitchFamily="34" charset="0"/>
              </a:rPr>
              <a:t>2</a:t>
            </a:r>
            <a:r>
              <a:rPr lang="en-US" altLang="zh-CN" b="1" i="1">
                <a:latin typeface="Arial" panose="020B0604020202020204" pitchFamily="34" charset="0"/>
                <a:sym typeface="Symbol" panose="05050102010706020507" pitchFamily="18" charset="2"/>
              </a:rPr>
              <a:t></a:t>
            </a:r>
          </a:p>
        </p:txBody>
      </p:sp>
      <p:sp>
        <p:nvSpPr>
          <p:cNvPr id="55319" name="Text Box 23"/>
          <p:cNvSpPr txBox="1"/>
          <p:nvPr/>
        </p:nvSpPr>
        <p:spPr>
          <a:xfrm>
            <a:off x="1979613" y="4437063"/>
            <a:ext cx="773112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dirty="0">
                <a:latin typeface="Arial" panose="020B0604020202020204" pitchFamily="34" charset="0"/>
              </a:rPr>
              <a:t>（</a:t>
            </a:r>
            <a:r>
              <a:rPr lang="en-US" altLang="zh-CN" i="1">
                <a:latin typeface="Arial" panose="020B0604020202020204" pitchFamily="34" charset="0"/>
              </a:rPr>
              <a:t>2</a:t>
            </a:r>
            <a:r>
              <a:rPr lang="zh-CN" altLang="en-US" dirty="0">
                <a:latin typeface="Arial" panose="020B0604020202020204" pitchFamily="34" charset="0"/>
              </a:rPr>
              <a:t>）</a:t>
            </a:r>
          </a:p>
        </p:txBody>
      </p:sp>
      <p:sp>
        <p:nvSpPr>
          <p:cNvPr id="55322" name="Text Box 26"/>
          <p:cNvSpPr txBox="1"/>
          <p:nvPr/>
        </p:nvSpPr>
        <p:spPr>
          <a:xfrm>
            <a:off x="2359025" y="3068638"/>
            <a:ext cx="773113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i="1">
                <a:latin typeface="Arial" panose="020B0604020202020204" pitchFamily="34" charset="0"/>
              </a:rPr>
              <a:t>2</a:t>
            </a:r>
            <a:r>
              <a:rPr lang="en-US" altLang="zh-CN" b="1" i="1">
                <a:latin typeface="Arial" panose="020B0604020202020204" pitchFamily="34" charset="0"/>
                <a:sym typeface="Symbol" panose="05050102010706020507" pitchFamily="18" charset="2"/>
              </a:rPr>
              <a:t></a:t>
            </a:r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53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5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5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7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53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53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55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55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55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55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55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1000"/>
                                        <p:tgtEl>
                                          <p:spTgt spid="55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53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53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55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1000"/>
                                        <p:tgtEl>
                                          <p:spTgt spid="55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0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0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0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1000"/>
                                        <p:tgtEl>
                                          <p:spTgt spid="55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15" grpId="0"/>
      <p:bldP spid="55316" grpId="0"/>
      <p:bldP spid="55317" grpId="0"/>
      <p:bldP spid="55318" grpId="0"/>
      <p:bldP spid="55319" grpId="0"/>
      <p:bldP spid="55322" grpId="0"/>
      <p:bldP spid="55322" grpId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矩形 48129"/>
          <p:cNvSpPr/>
          <p:nvPr/>
        </p:nvSpPr>
        <p:spPr>
          <a:xfrm>
            <a:off x="1835150" y="2852738"/>
            <a:ext cx="6480175" cy="129698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131" name="文本框 48130"/>
          <p:cNvSpPr txBox="1"/>
          <p:nvPr/>
        </p:nvSpPr>
        <p:spPr>
          <a:xfrm>
            <a:off x="852488" y="561182"/>
            <a:ext cx="6423025" cy="36830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平面上的直线和点</a:t>
            </a:r>
          </a:p>
        </p:txBody>
      </p:sp>
      <p:sp>
        <p:nvSpPr>
          <p:cNvPr id="48132" name="文本框 48131"/>
          <p:cNvSpPr txBox="1"/>
          <p:nvPr/>
        </p:nvSpPr>
        <p:spPr>
          <a:xfrm>
            <a:off x="1499870" y="1265713"/>
            <a:ext cx="4240213" cy="30670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）平面上取任意直线</a:t>
            </a:r>
          </a:p>
        </p:txBody>
      </p:sp>
      <p:sp>
        <p:nvSpPr>
          <p:cNvPr id="48133" name="文本框 48132"/>
          <p:cNvSpPr txBox="1"/>
          <p:nvPr/>
        </p:nvSpPr>
        <p:spPr>
          <a:xfrm>
            <a:off x="3128963" y="3925888"/>
            <a:ext cx="7199312" cy="3067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1400">
                <a:solidFill>
                  <a:srgbClr val="6600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方法一：</a:t>
            </a:r>
            <a:r>
              <a:rPr lang="zh-CN" altLang="en-US" sz="140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若一直线通过平面上的两点，则此直线必在该平面内。</a:t>
            </a:r>
          </a:p>
        </p:txBody>
      </p:sp>
      <p:sp>
        <p:nvSpPr>
          <p:cNvPr id="48134" name="文本框 48133"/>
          <p:cNvSpPr txBox="1"/>
          <p:nvPr/>
        </p:nvSpPr>
        <p:spPr>
          <a:xfrm>
            <a:off x="3121660" y="4425315"/>
            <a:ext cx="6485890" cy="8451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400">
                <a:solidFill>
                  <a:srgbClr val="6600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方法二：</a:t>
            </a:r>
            <a:r>
              <a:rPr lang="zh-CN" altLang="en-US" sz="14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若一直线通过平面上的一点，且平行于该平面上的另一直线， 则此直线在该平面内。</a:t>
            </a:r>
          </a:p>
          <a:p>
            <a:pPr algn="ctr">
              <a:spcBef>
                <a:spcPct val="50000"/>
              </a:spcBef>
            </a:pPr>
            <a:endParaRPr lang="zh-CN" altLang="en-US" sz="140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8137" name="文本框 48136"/>
          <p:cNvSpPr txBox="1"/>
          <p:nvPr/>
        </p:nvSpPr>
        <p:spPr>
          <a:xfrm>
            <a:off x="3123883" y="2595880"/>
            <a:ext cx="7127875" cy="3067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140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如何判断直线在平面内？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0600" y="2181860"/>
            <a:ext cx="711200" cy="89344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2340" y="3766185"/>
            <a:ext cx="878840" cy="10356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2" grpId="0" build="p"/>
      <p:bldP spid="48133" grpId="0"/>
      <p:bldP spid="48134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未知"/>
          <p:cNvSpPr/>
          <p:nvPr/>
        </p:nvSpPr>
        <p:spPr>
          <a:xfrm>
            <a:off x="1909445" y="4370388"/>
            <a:ext cx="2374900" cy="1587"/>
          </a:xfrm>
          <a:custGeom>
            <a:avLst/>
            <a:gdLst/>
            <a:ahLst/>
            <a:cxnLst/>
            <a:rect l="0" t="0" r="0" b="0"/>
            <a:pathLst>
              <a:path w="1496" h="1">
                <a:moveTo>
                  <a:pt x="0" y="0"/>
                </a:moveTo>
                <a:lnTo>
                  <a:pt x="1496" y="1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155" name="直接连接符 49154"/>
          <p:cNvSpPr/>
          <p:nvPr/>
        </p:nvSpPr>
        <p:spPr>
          <a:xfrm flipV="1">
            <a:off x="2226945" y="2998788"/>
            <a:ext cx="1066800" cy="1066800"/>
          </a:xfrm>
          <a:prstGeom prst="line">
            <a:avLst/>
          </a:prstGeom>
          <a:ln w="381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9156" name="直接连接符 49155"/>
          <p:cNvSpPr/>
          <p:nvPr/>
        </p:nvSpPr>
        <p:spPr>
          <a:xfrm flipV="1">
            <a:off x="2226945" y="3760788"/>
            <a:ext cx="1676400" cy="304800"/>
          </a:xfrm>
          <a:prstGeom prst="line">
            <a:avLst/>
          </a:prstGeom>
          <a:ln w="381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9157" name="直接连接符 49156"/>
          <p:cNvSpPr/>
          <p:nvPr/>
        </p:nvSpPr>
        <p:spPr>
          <a:xfrm>
            <a:off x="2226945" y="4065588"/>
            <a:ext cx="0" cy="1219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9158" name="直接连接符 49157"/>
          <p:cNvSpPr/>
          <p:nvPr/>
        </p:nvSpPr>
        <p:spPr>
          <a:xfrm>
            <a:off x="3293745" y="2998788"/>
            <a:ext cx="0" cy="1752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9159" name="直接连接符 49158"/>
          <p:cNvSpPr/>
          <p:nvPr/>
        </p:nvSpPr>
        <p:spPr>
          <a:xfrm flipV="1">
            <a:off x="2226945" y="4675188"/>
            <a:ext cx="1066800" cy="609600"/>
          </a:xfrm>
          <a:prstGeom prst="line">
            <a:avLst/>
          </a:prstGeom>
          <a:ln w="381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9160" name="直接连接符 49159"/>
          <p:cNvSpPr/>
          <p:nvPr/>
        </p:nvSpPr>
        <p:spPr>
          <a:xfrm>
            <a:off x="3903345" y="3760788"/>
            <a:ext cx="0" cy="1828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9161" name="直接连接符 49160"/>
          <p:cNvSpPr/>
          <p:nvPr/>
        </p:nvSpPr>
        <p:spPr>
          <a:xfrm flipH="1" flipV="1">
            <a:off x="2226945" y="5284788"/>
            <a:ext cx="1676400" cy="304800"/>
          </a:xfrm>
          <a:prstGeom prst="line">
            <a:avLst/>
          </a:prstGeom>
          <a:ln w="381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9162" name="文本框 49161"/>
          <p:cNvSpPr txBox="1"/>
          <p:nvPr/>
        </p:nvSpPr>
        <p:spPr>
          <a:xfrm>
            <a:off x="1914208" y="5056188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49163" name="文本框 49162"/>
          <p:cNvSpPr txBox="1"/>
          <p:nvPr/>
        </p:nvSpPr>
        <p:spPr>
          <a:xfrm>
            <a:off x="3261995" y="4522788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i="1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49164" name="文本框 49163"/>
          <p:cNvSpPr txBox="1"/>
          <p:nvPr/>
        </p:nvSpPr>
        <p:spPr>
          <a:xfrm>
            <a:off x="3889058" y="5360988"/>
            <a:ext cx="31908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i="1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49165" name="文本框 49164"/>
          <p:cNvSpPr txBox="1"/>
          <p:nvPr/>
        </p:nvSpPr>
        <p:spPr>
          <a:xfrm>
            <a:off x="3249295" y="2770188"/>
            <a:ext cx="4127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i="1">
                <a:latin typeface="Times New Roman" panose="02020603050405020304" pitchFamily="18" charset="0"/>
              </a:rPr>
              <a:t>b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endParaRPr lang="en-US" altLang="zh-CN" sz="2400" b="1" i="1">
              <a:latin typeface="Times New Roman" panose="02020603050405020304" pitchFamily="18" charset="0"/>
              <a:sym typeface="CommercialPi BT" panose="05020102010206080802" pitchFamily="18" charset="2"/>
            </a:endParaRPr>
          </a:p>
        </p:txBody>
      </p:sp>
      <p:sp>
        <p:nvSpPr>
          <p:cNvPr id="49166" name="文本框 49165"/>
          <p:cNvSpPr txBox="1"/>
          <p:nvPr/>
        </p:nvSpPr>
        <p:spPr>
          <a:xfrm>
            <a:off x="3876358" y="3455988"/>
            <a:ext cx="39528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i="1">
                <a:latin typeface="Times New Roman" panose="02020603050405020304" pitchFamily="18" charset="0"/>
              </a:rPr>
              <a:t>c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</a:p>
        </p:txBody>
      </p:sp>
      <p:sp>
        <p:nvSpPr>
          <p:cNvPr id="49167" name="文本框 49166"/>
          <p:cNvSpPr txBox="1"/>
          <p:nvPr/>
        </p:nvSpPr>
        <p:spPr>
          <a:xfrm>
            <a:off x="1926908" y="3836988"/>
            <a:ext cx="4127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</a:p>
        </p:txBody>
      </p:sp>
      <p:grpSp>
        <p:nvGrpSpPr>
          <p:cNvPr id="49168" name="组合 49167"/>
          <p:cNvGrpSpPr/>
          <p:nvPr/>
        </p:nvGrpSpPr>
        <p:grpSpPr>
          <a:xfrm>
            <a:off x="6516688" y="2907348"/>
            <a:ext cx="3300412" cy="3200400"/>
            <a:chOff x="0" y="0"/>
            <a:chExt cx="2079" cy="2016"/>
          </a:xfrm>
        </p:grpSpPr>
        <p:sp>
          <p:nvSpPr>
            <p:cNvPr id="49169" name="直接连接符 49168"/>
            <p:cNvSpPr/>
            <p:nvPr/>
          </p:nvSpPr>
          <p:spPr>
            <a:xfrm>
              <a:off x="1253" y="624"/>
              <a:ext cx="0" cy="115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170" name="未知"/>
            <p:cNvSpPr/>
            <p:nvPr/>
          </p:nvSpPr>
          <p:spPr>
            <a:xfrm>
              <a:off x="31" y="1008"/>
              <a:ext cx="2048" cy="1"/>
            </a:xfrm>
            <a:custGeom>
              <a:avLst/>
              <a:gdLst/>
              <a:ahLst/>
              <a:cxnLst/>
              <a:rect l="0" t="0" r="0" b="0"/>
              <a:pathLst>
                <a:path w="2048" h="1">
                  <a:moveTo>
                    <a:pt x="0" y="0"/>
                  </a:moveTo>
                  <a:lnTo>
                    <a:pt x="2048" y="0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71" name="直接连接符 49170"/>
            <p:cNvSpPr/>
            <p:nvPr/>
          </p:nvSpPr>
          <p:spPr>
            <a:xfrm flipV="1">
              <a:off x="197" y="144"/>
              <a:ext cx="672" cy="672"/>
            </a:xfrm>
            <a:prstGeom prst="line">
              <a:avLst/>
            </a:prstGeom>
            <a:ln w="38100" cap="flat" cmpd="sng">
              <a:solidFill>
                <a:srgbClr val="00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172" name="直接连接符 49171"/>
            <p:cNvSpPr/>
            <p:nvPr/>
          </p:nvSpPr>
          <p:spPr>
            <a:xfrm flipV="1">
              <a:off x="197" y="624"/>
              <a:ext cx="1056" cy="192"/>
            </a:xfrm>
            <a:prstGeom prst="line">
              <a:avLst/>
            </a:prstGeom>
            <a:ln w="38100" cap="flat" cmpd="sng">
              <a:solidFill>
                <a:srgbClr val="00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173" name="直接连接符 49172"/>
            <p:cNvSpPr/>
            <p:nvPr/>
          </p:nvSpPr>
          <p:spPr>
            <a:xfrm>
              <a:off x="197" y="816"/>
              <a:ext cx="0" cy="76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174" name="直接连接符 49173"/>
            <p:cNvSpPr/>
            <p:nvPr/>
          </p:nvSpPr>
          <p:spPr>
            <a:xfrm>
              <a:off x="869" y="144"/>
              <a:ext cx="0" cy="110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175" name="直接连接符 49174"/>
            <p:cNvSpPr/>
            <p:nvPr/>
          </p:nvSpPr>
          <p:spPr>
            <a:xfrm flipV="1">
              <a:off x="197" y="1200"/>
              <a:ext cx="672" cy="384"/>
            </a:xfrm>
            <a:prstGeom prst="line">
              <a:avLst/>
            </a:prstGeom>
            <a:ln w="38100" cap="flat" cmpd="sng">
              <a:solidFill>
                <a:srgbClr val="00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176" name="直接连接符 49175"/>
            <p:cNvSpPr/>
            <p:nvPr/>
          </p:nvSpPr>
          <p:spPr>
            <a:xfrm flipH="1" flipV="1">
              <a:off x="197" y="1584"/>
              <a:ext cx="1056" cy="192"/>
            </a:xfrm>
            <a:prstGeom prst="line">
              <a:avLst/>
            </a:prstGeom>
            <a:ln w="38100" cap="flat" cmpd="sng">
              <a:solidFill>
                <a:srgbClr val="00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177" name="文本框 49176"/>
            <p:cNvSpPr txBox="1"/>
            <p:nvPr/>
          </p:nvSpPr>
          <p:spPr>
            <a:xfrm>
              <a:off x="0" y="144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49178" name="文本框 49177"/>
            <p:cNvSpPr txBox="1"/>
            <p:nvPr/>
          </p:nvSpPr>
          <p:spPr>
            <a:xfrm>
              <a:off x="849" y="1104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49179" name="文本框 49178"/>
            <p:cNvSpPr txBox="1"/>
            <p:nvPr/>
          </p:nvSpPr>
          <p:spPr>
            <a:xfrm>
              <a:off x="1148" y="1728"/>
              <a:ext cx="20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49180" name="文本框 49179"/>
            <p:cNvSpPr txBox="1"/>
            <p:nvPr/>
          </p:nvSpPr>
          <p:spPr>
            <a:xfrm>
              <a:off x="841" y="0"/>
              <a:ext cx="26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b</a:t>
              </a:r>
              <a:r>
                <a:rPr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</a:t>
              </a:r>
            </a:p>
          </p:txBody>
        </p:sp>
        <p:sp>
          <p:nvSpPr>
            <p:cNvPr id="49181" name="文本框 49180"/>
            <p:cNvSpPr txBox="1"/>
            <p:nvPr/>
          </p:nvSpPr>
          <p:spPr>
            <a:xfrm>
              <a:off x="1069" y="384"/>
              <a:ext cx="24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c</a:t>
              </a:r>
              <a:r>
                <a:rPr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</a:t>
              </a:r>
            </a:p>
          </p:txBody>
        </p:sp>
        <p:sp>
          <p:nvSpPr>
            <p:cNvPr id="49182" name="文本框 49181"/>
            <p:cNvSpPr txBox="1"/>
            <p:nvPr/>
          </p:nvSpPr>
          <p:spPr>
            <a:xfrm>
              <a:off x="8" y="672"/>
              <a:ext cx="26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a</a:t>
              </a:r>
              <a:r>
                <a:rPr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</a:t>
              </a:r>
            </a:p>
          </p:txBody>
        </p:sp>
      </p:grpSp>
      <p:sp>
        <p:nvSpPr>
          <p:cNvPr id="49183" name="未知"/>
          <p:cNvSpPr/>
          <p:nvPr/>
        </p:nvSpPr>
        <p:spPr>
          <a:xfrm>
            <a:off x="2684145" y="5029200"/>
            <a:ext cx="928688" cy="523875"/>
          </a:xfrm>
          <a:custGeom>
            <a:avLst/>
            <a:gdLst/>
            <a:ahLst/>
            <a:cxnLst/>
            <a:rect l="0" t="0" r="0" b="0"/>
            <a:pathLst>
              <a:path w="585" h="330">
                <a:moveTo>
                  <a:pt x="0" y="0"/>
                </a:moveTo>
                <a:lnTo>
                  <a:pt x="585" y="330"/>
                </a:lnTo>
              </a:path>
            </a:pathLst>
          </a:custGeom>
          <a:noFill/>
          <a:ln w="38100" cap="flat" cmpd="sng">
            <a:solidFill>
              <a:srgbClr val="660033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184" name="直接连接符 49183"/>
          <p:cNvSpPr/>
          <p:nvPr/>
        </p:nvSpPr>
        <p:spPr>
          <a:xfrm flipV="1">
            <a:off x="8505825" y="5117148"/>
            <a:ext cx="1066800" cy="609600"/>
          </a:xfrm>
          <a:prstGeom prst="line">
            <a:avLst/>
          </a:prstGeom>
          <a:ln w="38100" cap="flat" cmpd="sng">
            <a:solidFill>
              <a:srgbClr val="FF0066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9185" name="文本框 49184"/>
          <p:cNvSpPr txBox="1"/>
          <p:nvPr/>
        </p:nvSpPr>
        <p:spPr>
          <a:xfrm>
            <a:off x="9509125" y="2602548"/>
            <a:ext cx="4127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i="1">
                <a:latin typeface="Times New Roman" panose="02020603050405020304" pitchFamily="18" charset="0"/>
              </a:rPr>
              <a:t>d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</a:p>
        </p:txBody>
      </p:sp>
      <p:sp>
        <p:nvSpPr>
          <p:cNvPr id="49186" name="直接连接符 49185"/>
          <p:cNvSpPr/>
          <p:nvPr/>
        </p:nvSpPr>
        <p:spPr>
          <a:xfrm flipV="1">
            <a:off x="8505825" y="2831148"/>
            <a:ext cx="1066800" cy="1066800"/>
          </a:xfrm>
          <a:prstGeom prst="line">
            <a:avLst/>
          </a:prstGeom>
          <a:ln w="38100" cap="flat" cmpd="sng">
            <a:solidFill>
              <a:srgbClr val="FF0066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49187" name="组合 49186"/>
          <p:cNvGrpSpPr/>
          <p:nvPr/>
        </p:nvGrpSpPr>
        <p:grpSpPr>
          <a:xfrm>
            <a:off x="2303145" y="3608388"/>
            <a:ext cx="420688" cy="1524000"/>
            <a:chOff x="0" y="0"/>
            <a:chExt cx="265" cy="960"/>
          </a:xfrm>
        </p:grpSpPr>
        <p:sp>
          <p:nvSpPr>
            <p:cNvPr id="49188" name="直接连接符 49187"/>
            <p:cNvSpPr/>
            <p:nvPr/>
          </p:nvSpPr>
          <p:spPr>
            <a:xfrm>
              <a:off x="240" y="0"/>
              <a:ext cx="0" cy="91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189" name="文本框 49188"/>
            <p:cNvSpPr txBox="1"/>
            <p:nvPr/>
          </p:nvSpPr>
          <p:spPr>
            <a:xfrm>
              <a:off x="0" y="672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m</a:t>
              </a:r>
            </a:p>
          </p:txBody>
        </p:sp>
      </p:grpSp>
      <p:grpSp>
        <p:nvGrpSpPr>
          <p:cNvPr id="49190" name="组合 49189"/>
          <p:cNvGrpSpPr/>
          <p:nvPr/>
        </p:nvGrpSpPr>
        <p:grpSpPr>
          <a:xfrm>
            <a:off x="3406458" y="3836988"/>
            <a:ext cx="354012" cy="2057400"/>
            <a:chOff x="0" y="0"/>
            <a:chExt cx="223" cy="1296"/>
          </a:xfrm>
        </p:grpSpPr>
        <p:sp>
          <p:nvSpPr>
            <p:cNvPr id="49191" name="直接连接符 49190"/>
            <p:cNvSpPr/>
            <p:nvPr/>
          </p:nvSpPr>
          <p:spPr>
            <a:xfrm>
              <a:off x="121" y="0"/>
              <a:ext cx="0" cy="110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192" name="文本框 49191"/>
            <p:cNvSpPr txBox="1"/>
            <p:nvPr/>
          </p:nvSpPr>
          <p:spPr>
            <a:xfrm>
              <a:off x="0" y="1008"/>
              <a:ext cx="22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n</a:t>
              </a:r>
            </a:p>
          </p:txBody>
        </p:sp>
      </p:grpSp>
      <p:sp>
        <p:nvSpPr>
          <p:cNvPr id="49193" name="文本框 49192"/>
          <p:cNvSpPr txBox="1"/>
          <p:nvPr/>
        </p:nvSpPr>
        <p:spPr>
          <a:xfrm>
            <a:off x="3450908" y="3379788"/>
            <a:ext cx="430212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i="1">
                <a:latin typeface="Times New Roman" panose="02020603050405020304" pitchFamily="18" charset="0"/>
              </a:rPr>
              <a:t>n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</a:p>
        </p:txBody>
      </p:sp>
      <p:sp>
        <p:nvSpPr>
          <p:cNvPr id="49194" name="未知"/>
          <p:cNvSpPr/>
          <p:nvPr/>
        </p:nvSpPr>
        <p:spPr>
          <a:xfrm>
            <a:off x="2684145" y="3608388"/>
            <a:ext cx="928688" cy="196850"/>
          </a:xfrm>
          <a:custGeom>
            <a:avLst/>
            <a:gdLst/>
            <a:ahLst/>
            <a:cxnLst/>
            <a:rect l="0" t="0" r="0" b="0"/>
            <a:pathLst>
              <a:path w="585" h="124">
                <a:moveTo>
                  <a:pt x="0" y="0"/>
                </a:moveTo>
                <a:lnTo>
                  <a:pt x="585" y="124"/>
                </a:lnTo>
              </a:path>
            </a:pathLst>
          </a:custGeom>
          <a:noFill/>
          <a:ln w="38100" cap="flat" cmpd="sng">
            <a:solidFill>
              <a:srgbClr val="660033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195" name="文本框 49194"/>
          <p:cNvSpPr txBox="1"/>
          <p:nvPr/>
        </p:nvSpPr>
        <p:spPr>
          <a:xfrm>
            <a:off x="2236470" y="3203575"/>
            <a:ext cx="750888" cy="45720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algn="ctr"/>
            <a:r>
              <a:rPr lang="en-US" altLang="zh-CN" sz="2400" b="1" i="1">
                <a:latin typeface="Times New Roman" panose="02020603050405020304" pitchFamily="18" charset="0"/>
              </a:rPr>
              <a:t>m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</a:p>
        </p:txBody>
      </p:sp>
      <p:grpSp>
        <p:nvGrpSpPr>
          <p:cNvPr id="49196" name="组合 49195"/>
          <p:cNvGrpSpPr/>
          <p:nvPr/>
        </p:nvGrpSpPr>
        <p:grpSpPr>
          <a:xfrm>
            <a:off x="9496425" y="2831148"/>
            <a:ext cx="336550" cy="2590800"/>
            <a:chOff x="0" y="0"/>
            <a:chExt cx="212" cy="1632"/>
          </a:xfrm>
        </p:grpSpPr>
        <p:sp>
          <p:nvSpPr>
            <p:cNvPr id="49197" name="直接连接符 49196"/>
            <p:cNvSpPr/>
            <p:nvPr/>
          </p:nvSpPr>
          <p:spPr>
            <a:xfrm>
              <a:off x="48" y="0"/>
              <a:ext cx="0" cy="144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198" name="文本框 49197"/>
            <p:cNvSpPr txBox="1"/>
            <p:nvPr/>
          </p:nvSpPr>
          <p:spPr>
            <a:xfrm>
              <a:off x="0" y="1344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d</a:t>
              </a:r>
            </a:p>
          </p:txBody>
        </p:sp>
      </p:grpSp>
      <p:sp>
        <p:nvSpPr>
          <p:cNvPr id="49199" name="文本框 49198"/>
          <p:cNvSpPr txBox="1"/>
          <p:nvPr/>
        </p:nvSpPr>
        <p:spPr>
          <a:xfrm>
            <a:off x="925830" y="902653"/>
            <a:ext cx="10053320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/>
          <a:p>
            <a:pPr algn="just"/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例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10</a:t>
            </a:r>
            <a:r>
              <a:rPr lang="en-US" altLang="zh-CN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已知平面由相交的两直线</a:t>
            </a:r>
            <a:r>
              <a:rPr lang="en-US" altLang="zh-CN" i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AB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i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AC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所确定，试在</a:t>
            </a: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平面内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任作一条直线。</a:t>
            </a:r>
          </a:p>
        </p:txBody>
      </p:sp>
      <p:sp>
        <p:nvSpPr>
          <p:cNvPr id="49200" name="文本框 49199"/>
          <p:cNvSpPr txBox="1"/>
          <p:nvPr/>
        </p:nvSpPr>
        <p:spPr>
          <a:xfrm>
            <a:off x="1788160" y="1988503"/>
            <a:ext cx="1091565" cy="30670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/>
          <a:p>
            <a:pPr algn="just"/>
            <a:r>
              <a:rPr lang="zh-CN" alt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解法一</a:t>
            </a:r>
          </a:p>
        </p:txBody>
      </p:sp>
      <p:sp>
        <p:nvSpPr>
          <p:cNvPr id="49201" name="文本框 49200"/>
          <p:cNvSpPr txBox="1"/>
          <p:nvPr/>
        </p:nvSpPr>
        <p:spPr>
          <a:xfrm>
            <a:off x="7262019" y="1932782"/>
            <a:ext cx="716280" cy="306705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解法二</a:t>
            </a:r>
          </a:p>
        </p:txBody>
      </p:sp>
      <p:graphicFrame>
        <p:nvGraphicFramePr>
          <p:cNvPr id="49202" name="对象 49201"/>
          <p:cNvGraphicFramePr>
            <a:graphicFrameLocks noChangeAspect="1"/>
          </p:cNvGraphicFramePr>
          <p:nvPr/>
        </p:nvGraphicFramePr>
        <p:xfrm>
          <a:off x="1271905" y="2465388"/>
          <a:ext cx="6096000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0" imgH="0" progId="MS_ClipArt_Gallery.2">
                  <p:embed/>
                </p:oleObj>
              </mc:Choice>
              <mc:Fallback>
                <p:oleObj r:id="rId2" imgW="0" imgH="0" progId="MS_ClipArt_Gallery.2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271905" y="2465388"/>
                        <a:ext cx="6096000" cy="4064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203" name="文本框 49202"/>
          <p:cNvSpPr txBox="1"/>
          <p:nvPr/>
        </p:nvSpPr>
        <p:spPr>
          <a:xfrm>
            <a:off x="1721168" y="1983423"/>
            <a:ext cx="2736850" cy="3067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1400">
                <a:solidFill>
                  <a:srgbClr val="8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（利用方法一）</a:t>
            </a:r>
          </a:p>
        </p:txBody>
      </p:sp>
      <p:sp>
        <p:nvSpPr>
          <p:cNvPr id="49204" name="文本框 49203"/>
          <p:cNvSpPr txBox="1"/>
          <p:nvPr/>
        </p:nvSpPr>
        <p:spPr>
          <a:xfrm>
            <a:off x="7115493" y="1927225"/>
            <a:ext cx="2843212" cy="3067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1400">
                <a:solidFill>
                  <a:srgbClr val="8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（利用方法二）</a:t>
            </a:r>
          </a:p>
        </p:txBody>
      </p:sp>
      <p:sp>
        <p:nvSpPr>
          <p:cNvPr id="49205" name="文本框 49204"/>
          <p:cNvSpPr txBox="1"/>
          <p:nvPr/>
        </p:nvSpPr>
        <p:spPr>
          <a:xfrm>
            <a:off x="3708400" y="5734050"/>
            <a:ext cx="2592388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9206" name="文本框 49205"/>
          <p:cNvSpPr txBox="1"/>
          <p:nvPr/>
        </p:nvSpPr>
        <p:spPr>
          <a:xfrm>
            <a:off x="3573463" y="6214269"/>
            <a:ext cx="4278312" cy="30670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algn="ctr"/>
            <a:r>
              <a:rPr lang="zh-CN" altLang="en-US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有无数个解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492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49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9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75"/>
                                        <p:tgtEl>
                                          <p:spTgt spid="49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649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75"/>
                                        <p:tgtEl>
                                          <p:spTgt spid="491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49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49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9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75"/>
                                        <p:tgtEl>
                                          <p:spTgt spid="49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25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49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9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9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49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75"/>
                                        <p:tgtEl>
                                          <p:spTgt spid="491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9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49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492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85" grpId="0" build="p" advAuto="1000"/>
      <p:bldP spid="49193" grpId="0" build="p" advAuto="1000"/>
      <p:bldP spid="49195" grpId="0" build="p" advAuto="1000"/>
      <p:bldP spid="49200" grpId="0" build="p"/>
      <p:bldP spid="49201" grpId="0" build="p"/>
      <p:bldP spid="49203" grpId="0"/>
      <p:bldP spid="49204" grpId="0"/>
      <p:bldP spid="49206" grpId="1" build="allAtOnce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文本框 50177"/>
          <p:cNvSpPr txBox="1"/>
          <p:nvPr/>
        </p:nvSpPr>
        <p:spPr>
          <a:xfrm>
            <a:off x="990600" y="1026478"/>
            <a:ext cx="945197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/>
          <a:p>
            <a:pPr algn="just"/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11</a:t>
            </a:r>
            <a:r>
              <a:rPr lang="en-US" altLang="zh-CN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在平面</a:t>
            </a:r>
            <a:r>
              <a:rPr lang="en-US" altLang="zh-CN" i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ABC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内作一条水平线，使其到</a:t>
            </a:r>
            <a:r>
              <a:rPr lang="en-US" altLang="zh-CN" i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面的距离为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20mm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</a:p>
        </p:txBody>
      </p:sp>
      <p:sp>
        <p:nvSpPr>
          <p:cNvPr id="50179" name="直接连接符 50178"/>
          <p:cNvSpPr/>
          <p:nvPr/>
        </p:nvSpPr>
        <p:spPr>
          <a:xfrm flipV="1">
            <a:off x="2521903" y="2972753"/>
            <a:ext cx="3732212" cy="25400"/>
          </a:xfrm>
          <a:prstGeom prst="line">
            <a:avLst/>
          </a:prstGeom>
          <a:ln w="952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0180" name="文本框 50179"/>
          <p:cNvSpPr txBox="1"/>
          <p:nvPr/>
        </p:nvSpPr>
        <p:spPr>
          <a:xfrm>
            <a:off x="5403215" y="2580640"/>
            <a:ext cx="4302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i="1">
                <a:latin typeface="Times New Roman" panose="02020603050405020304" pitchFamily="18" charset="0"/>
              </a:rPr>
              <a:t>n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</a:p>
        </p:txBody>
      </p:sp>
      <p:sp>
        <p:nvSpPr>
          <p:cNvPr id="50181" name="文本框 50180"/>
          <p:cNvSpPr txBox="1"/>
          <p:nvPr/>
        </p:nvSpPr>
        <p:spPr>
          <a:xfrm>
            <a:off x="3098165" y="2606040"/>
            <a:ext cx="690563" cy="45720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algn="ctr"/>
            <a:r>
              <a:rPr lang="en-US" altLang="zh-CN" sz="2400" b="1" i="1">
                <a:latin typeface="Times New Roman" panose="02020603050405020304" pitchFamily="18" charset="0"/>
              </a:rPr>
              <a:t>m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</a:p>
        </p:txBody>
      </p:sp>
      <p:sp>
        <p:nvSpPr>
          <p:cNvPr id="50182" name="文本框 50181"/>
          <p:cNvSpPr txBox="1"/>
          <p:nvPr/>
        </p:nvSpPr>
        <p:spPr>
          <a:xfrm>
            <a:off x="5474653" y="5219065"/>
            <a:ext cx="354012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i="1">
                <a:latin typeface="Times New Roman" panose="02020603050405020304" pitchFamily="18" charset="0"/>
              </a:rPr>
              <a:t>n</a:t>
            </a:r>
            <a:endParaRPr lang="en-US" altLang="zh-CN" sz="2400" b="1" i="1">
              <a:latin typeface="Times New Roman" panose="02020603050405020304" pitchFamily="18" charset="0"/>
              <a:sym typeface="CommercialPi BT" panose="05020102010206080802" pitchFamily="18" charset="2"/>
            </a:endParaRPr>
          </a:p>
        </p:txBody>
      </p:sp>
      <p:sp>
        <p:nvSpPr>
          <p:cNvPr id="50183" name="文本框 50182"/>
          <p:cNvSpPr txBox="1"/>
          <p:nvPr/>
        </p:nvSpPr>
        <p:spPr>
          <a:xfrm>
            <a:off x="3172778" y="5434965"/>
            <a:ext cx="42068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i="1">
                <a:latin typeface="Times New Roman" panose="02020603050405020304" pitchFamily="18" charset="0"/>
              </a:rPr>
              <a:t>m</a:t>
            </a:r>
            <a:endParaRPr lang="en-US" altLang="zh-CN" sz="2400" b="1" i="1">
              <a:latin typeface="Times New Roman" panose="02020603050405020304" pitchFamily="18" charset="0"/>
              <a:sym typeface="CommercialPi BT" panose="05020102010206080802" pitchFamily="18" charset="2"/>
            </a:endParaRPr>
          </a:p>
        </p:txBody>
      </p:sp>
      <p:grpSp>
        <p:nvGrpSpPr>
          <p:cNvPr id="50184" name="组合 50183"/>
          <p:cNvGrpSpPr/>
          <p:nvPr/>
        </p:nvGrpSpPr>
        <p:grpSpPr>
          <a:xfrm>
            <a:off x="2306003" y="2969578"/>
            <a:ext cx="457200" cy="1411287"/>
            <a:chOff x="0" y="0"/>
            <a:chExt cx="283" cy="570"/>
          </a:xfrm>
        </p:grpSpPr>
        <p:sp>
          <p:nvSpPr>
            <p:cNvPr id="50185" name="未知"/>
            <p:cNvSpPr/>
            <p:nvPr/>
          </p:nvSpPr>
          <p:spPr>
            <a:xfrm>
              <a:off x="239" y="0"/>
              <a:ext cx="1" cy="570"/>
            </a:xfrm>
            <a:custGeom>
              <a:avLst/>
              <a:gdLst/>
              <a:ahLst/>
              <a:cxnLst/>
              <a:rect l="0" t="0" r="0" b="0"/>
              <a:pathLst>
                <a:path w="1" h="570">
                  <a:moveTo>
                    <a:pt x="0" y="0"/>
                  </a:moveTo>
                  <a:lnTo>
                    <a:pt x="0" y="570"/>
                  </a:lnTo>
                </a:path>
              </a:pathLst>
            </a:custGeom>
            <a:noFill/>
            <a:ln w="9525" cap="flat" cmpd="sng">
              <a:solidFill>
                <a:schemeClr val="tx2"/>
              </a:solidFill>
              <a:prstDash val="solid"/>
              <a:headEnd type="triangle" w="sm" len="lg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86" name="文本框 50185"/>
            <p:cNvSpPr txBox="1"/>
            <p:nvPr/>
          </p:nvSpPr>
          <p:spPr>
            <a:xfrm rot="16200000">
              <a:off x="42" y="118"/>
              <a:ext cx="198" cy="28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>
                  <a:latin typeface="Times New Roman" panose="02020603050405020304" pitchFamily="18" charset="0"/>
                </a:rPr>
                <a:t>20</a:t>
              </a:r>
            </a:p>
          </p:txBody>
        </p:sp>
      </p:grpSp>
      <p:grpSp>
        <p:nvGrpSpPr>
          <p:cNvPr id="50187" name="组合 50186"/>
          <p:cNvGrpSpPr/>
          <p:nvPr/>
        </p:nvGrpSpPr>
        <p:grpSpPr>
          <a:xfrm>
            <a:off x="2450465" y="1748790"/>
            <a:ext cx="4184650" cy="4781550"/>
            <a:chOff x="0" y="0"/>
            <a:chExt cx="1968" cy="2387"/>
          </a:xfrm>
        </p:grpSpPr>
        <p:sp>
          <p:nvSpPr>
            <p:cNvPr id="50188" name="文本框 50187"/>
            <p:cNvSpPr txBox="1"/>
            <p:nvPr/>
          </p:nvSpPr>
          <p:spPr>
            <a:xfrm>
              <a:off x="1743" y="815"/>
              <a:ext cx="185" cy="2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c</a:t>
              </a:r>
              <a:r>
                <a:rPr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</a:t>
              </a:r>
            </a:p>
          </p:txBody>
        </p:sp>
        <p:sp>
          <p:nvSpPr>
            <p:cNvPr id="50189" name="文本框 50188"/>
            <p:cNvSpPr txBox="1"/>
            <p:nvPr/>
          </p:nvSpPr>
          <p:spPr>
            <a:xfrm>
              <a:off x="664" y="0"/>
              <a:ext cx="194" cy="22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a</a:t>
              </a:r>
              <a:r>
                <a:rPr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</a:t>
              </a:r>
            </a:p>
          </p:txBody>
        </p:sp>
        <p:sp>
          <p:nvSpPr>
            <p:cNvPr id="50190" name="文本框 50189"/>
            <p:cNvSpPr txBox="1"/>
            <p:nvPr/>
          </p:nvSpPr>
          <p:spPr>
            <a:xfrm>
              <a:off x="141" y="1055"/>
              <a:ext cx="194" cy="22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b</a:t>
              </a:r>
              <a:r>
                <a:rPr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</a:t>
              </a:r>
            </a:p>
          </p:txBody>
        </p:sp>
        <p:sp>
          <p:nvSpPr>
            <p:cNvPr id="50191" name="文本框 50190"/>
            <p:cNvSpPr txBox="1"/>
            <p:nvPr/>
          </p:nvSpPr>
          <p:spPr>
            <a:xfrm>
              <a:off x="1680" y="1392"/>
              <a:ext cx="240" cy="22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c</a:t>
              </a:r>
              <a:endParaRPr lang="en-US" altLang="zh-CN" sz="2400" b="1" i="1">
                <a:latin typeface="Times New Roman" panose="02020603050405020304" pitchFamily="18" charset="0"/>
                <a:sym typeface="CommercialPi BT" panose="05020102010206080802" pitchFamily="18" charset="2"/>
              </a:endParaRPr>
            </a:p>
          </p:txBody>
        </p:sp>
        <p:sp>
          <p:nvSpPr>
            <p:cNvPr id="50192" name="文本框 50191"/>
            <p:cNvSpPr txBox="1"/>
            <p:nvPr/>
          </p:nvSpPr>
          <p:spPr>
            <a:xfrm>
              <a:off x="747" y="2159"/>
              <a:ext cx="158" cy="22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a</a:t>
              </a:r>
              <a:endParaRPr lang="en-US" altLang="zh-CN" sz="2400" b="1" i="1">
                <a:latin typeface="Times New Roman" panose="02020603050405020304" pitchFamily="18" charset="0"/>
                <a:sym typeface="CommercialPi BT" panose="05020102010206080802" pitchFamily="18" charset="2"/>
              </a:endParaRPr>
            </a:p>
          </p:txBody>
        </p:sp>
        <p:sp>
          <p:nvSpPr>
            <p:cNvPr id="50193" name="文本框 50192"/>
            <p:cNvSpPr txBox="1"/>
            <p:nvPr/>
          </p:nvSpPr>
          <p:spPr>
            <a:xfrm>
              <a:off x="145" y="1391"/>
              <a:ext cx="158" cy="22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b</a:t>
              </a:r>
              <a:endParaRPr lang="en-US" altLang="zh-CN" sz="2400" b="1" i="1">
                <a:latin typeface="Times New Roman" panose="02020603050405020304" pitchFamily="18" charset="0"/>
                <a:sym typeface="CommercialPi BT" panose="05020102010206080802" pitchFamily="18" charset="2"/>
              </a:endParaRPr>
            </a:p>
          </p:txBody>
        </p:sp>
        <p:sp>
          <p:nvSpPr>
            <p:cNvPr id="50194" name="直接连接符 50193"/>
            <p:cNvSpPr/>
            <p:nvPr/>
          </p:nvSpPr>
          <p:spPr>
            <a:xfrm>
              <a:off x="0" y="1314"/>
              <a:ext cx="1968" cy="0"/>
            </a:xfrm>
            <a:prstGeom prst="line">
              <a:avLst/>
            </a:prstGeom>
            <a:ln w="9525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195" name="直接连接符 50194"/>
            <p:cNvSpPr/>
            <p:nvPr/>
          </p:nvSpPr>
          <p:spPr>
            <a:xfrm flipV="1">
              <a:off x="288" y="930"/>
              <a:ext cx="1440" cy="288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196" name="直接连接符 50195"/>
            <p:cNvSpPr/>
            <p:nvPr/>
          </p:nvSpPr>
          <p:spPr>
            <a:xfrm flipV="1">
              <a:off x="288" y="114"/>
              <a:ext cx="528" cy="1104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197" name="直接连接符 50196"/>
            <p:cNvSpPr/>
            <p:nvPr/>
          </p:nvSpPr>
          <p:spPr>
            <a:xfrm>
              <a:off x="816" y="114"/>
              <a:ext cx="912" cy="816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198" name="直接连接符 50197"/>
            <p:cNvSpPr/>
            <p:nvPr/>
          </p:nvSpPr>
          <p:spPr>
            <a:xfrm>
              <a:off x="816" y="114"/>
              <a:ext cx="0" cy="2112"/>
            </a:xfrm>
            <a:prstGeom prst="line">
              <a:avLst/>
            </a:prstGeom>
            <a:ln w="9525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199" name="直接连接符 50198"/>
            <p:cNvSpPr/>
            <p:nvPr/>
          </p:nvSpPr>
          <p:spPr>
            <a:xfrm>
              <a:off x="1728" y="930"/>
              <a:ext cx="0" cy="624"/>
            </a:xfrm>
            <a:prstGeom prst="line">
              <a:avLst/>
            </a:prstGeom>
            <a:ln w="9525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00" name="直接连接符 50199"/>
            <p:cNvSpPr/>
            <p:nvPr/>
          </p:nvSpPr>
          <p:spPr>
            <a:xfrm flipH="1">
              <a:off x="816" y="1554"/>
              <a:ext cx="912" cy="672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01" name="直接连接符 50200"/>
            <p:cNvSpPr/>
            <p:nvPr/>
          </p:nvSpPr>
          <p:spPr>
            <a:xfrm>
              <a:off x="288" y="1218"/>
              <a:ext cx="0" cy="288"/>
            </a:xfrm>
            <a:prstGeom prst="line">
              <a:avLst/>
            </a:prstGeom>
            <a:ln w="9525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02" name="直接连接符 50201"/>
            <p:cNvSpPr/>
            <p:nvPr/>
          </p:nvSpPr>
          <p:spPr>
            <a:xfrm>
              <a:off x="288" y="1506"/>
              <a:ext cx="528" cy="720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03" name="直接连接符 50202"/>
            <p:cNvSpPr/>
            <p:nvPr/>
          </p:nvSpPr>
          <p:spPr>
            <a:xfrm>
              <a:off x="288" y="1506"/>
              <a:ext cx="1440" cy="48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50204" name="文本框 50203"/>
          <p:cNvSpPr txBox="1"/>
          <p:nvPr/>
        </p:nvSpPr>
        <p:spPr>
          <a:xfrm>
            <a:off x="8284845" y="5705793"/>
            <a:ext cx="1176020" cy="30670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/>
          <a:p>
            <a:pPr algn="just"/>
            <a:r>
              <a:rPr lang="zh-CN" alt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唯一解！</a:t>
            </a:r>
          </a:p>
        </p:txBody>
      </p:sp>
      <p:sp>
        <p:nvSpPr>
          <p:cNvPr id="50205" name="直接连接符 50204"/>
          <p:cNvSpPr/>
          <p:nvPr/>
        </p:nvSpPr>
        <p:spPr>
          <a:xfrm>
            <a:off x="3674428" y="3012440"/>
            <a:ext cx="0" cy="2519363"/>
          </a:xfrm>
          <a:prstGeom prst="line">
            <a:avLst/>
          </a:prstGeom>
          <a:ln w="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0206" name="直接连接符 50205"/>
          <p:cNvSpPr/>
          <p:nvPr/>
        </p:nvSpPr>
        <p:spPr>
          <a:xfrm>
            <a:off x="5403215" y="2967990"/>
            <a:ext cx="0" cy="2449513"/>
          </a:xfrm>
          <a:prstGeom prst="line">
            <a:avLst/>
          </a:prstGeom>
          <a:ln w="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0207" name="直接连接符 50206"/>
          <p:cNvSpPr/>
          <p:nvPr/>
        </p:nvSpPr>
        <p:spPr>
          <a:xfrm flipV="1">
            <a:off x="3674428" y="5388928"/>
            <a:ext cx="1728787" cy="142875"/>
          </a:xfrm>
          <a:prstGeom prst="line">
            <a:avLst/>
          </a:prstGeom>
          <a:ln w="381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0208" name="直接连接符 50207"/>
          <p:cNvSpPr/>
          <p:nvPr/>
        </p:nvSpPr>
        <p:spPr>
          <a:xfrm>
            <a:off x="3674428" y="2998153"/>
            <a:ext cx="1728787" cy="0"/>
          </a:xfrm>
          <a:prstGeom prst="line">
            <a:avLst/>
          </a:prstGeom>
          <a:ln w="381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0209" name="文本框 50208"/>
          <p:cNvSpPr txBox="1"/>
          <p:nvPr/>
        </p:nvSpPr>
        <p:spPr>
          <a:xfrm>
            <a:off x="8178165" y="4599305"/>
            <a:ext cx="2951480" cy="3067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本题有几个解？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8995" y="4030345"/>
            <a:ext cx="711200" cy="89344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5175" y="5219065"/>
            <a:ext cx="878840" cy="10356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75"/>
                                        <p:tgtEl>
                                          <p:spTgt spid="501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75"/>
                                        <p:tgtEl>
                                          <p:spTgt spid="50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1000"/>
                                        <p:tgtEl>
                                          <p:spTgt spid="50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75"/>
                                        <p:tgtEl>
                                          <p:spTgt spid="50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1000"/>
                                        <p:tgtEl>
                                          <p:spTgt spid="50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75"/>
                                        <p:tgtEl>
                                          <p:spTgt spid="501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50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50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0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0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0" grpId="0" build="p"/>
      <p:bldP spid="50181" grpId="0" build="p"/>
      <p:bldP spid="50182" grpId="0" build="p" advAuto="1000"/>
      <p:bldP spid="50183" grpId="0" build="p" advAuto="1000"/>
      <p:bldP spid="50204" grpId="0"/>
      <p:bldP spid="50209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未知"/>
          <p:cNvSpPr/>
          <p:nvPr/>
        </p:nvSpPr>
        <p:spPr>
          <a:xfrm>
            <a:off x="4867275" y="3867468"/>
            <a:ext cx="96838" cy="1944687"/>
          </a:xfrm>
          <a:custGeom>
            <a:avLst/>
            <a:gdLst/>
            <a:ahLst/>
            <a:cxnLst/>
            <a:rect l="0" t="0" r="0" b="0"/>
            <a:pathLst>
              <a:path w="1" h="974">
                <a:moveTo>
                  <a:pt x="0" y="0"/>
                </a:moveTo>
                <a:lnTo>
                  <a:pt x="0" y="974"/>
                </a:ln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203" name="文本框 51202"/>
          <p:cNvSpPr txBox="1"/>
          <p:nvPr/>
        </p:nvSpPr>
        <p:spPr>
          <a:xfrm>
            <a:off x="891540" y="596106"/>
            <a:ext cx="3549650" cy="36830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(2)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平面上取点</a:t>
            </a:r>
          </a:p>
        </p:txBody>
      </p:sp>
      <p:sp>
        <p:nvSpPr>
          <p:cNvPr id="51204" name="文本框 51203"/>
          <p:cNvSpPr txBox="1"/>
          <p:nvPr/>
        </p:nvSpPr>
        <p:spPr>
          <a:xfrm>
            <a:off x="1612265" y="1702753"/>
            <a:ext cx="9522460" cy="30670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/>
          <a:p>
            <a:r>
              <a:rPr lang="zh-CN" altLang="en-US" sz="1400">
                <a:solidFill>
                  <a:schemeClr val="tx1"/>
                </a:solidFill>
                <a:effectLst/>
                <a:latin typeface="+mn-ea"/>
              </a:rPr>
              <a:t>即：</a:t>
            </a:r>
            <a:r>
              <a:rPr lang="zh-CN" altLang="en-US" sz="1400">
                <a:effectLst/>
                <a:latin typeface="+mn-ea"/>
              </a:rPr>
              <a:t>找出</a:t>
            </a:r>
            <a:r>
              <a:rPr lang="zh-CN" altLang="en-US" sz="1400">
                <a:solidFill>
                  <a:srgbClr val="FF3300"/>
                </a:solidFill>
                <a:effectLst/>
                <a:latin typeface="+mn-ea"/>
              </a:rPr>
              <a:t>过</a:t>
            </a:r>
            <a:r>
              <a:rPr lang="zh-CN" altLang="en-US" sz="1400">
                <a:effectLst/>
                <a:latin typeface="+mn-ea"/>
              </a:rPr>
              <a:t>此</a:t>
            </a:r>
            <a:r>
              <a:rPr lang="zh-CN" altLang="en-US" sz="1400">
                <a:solidFill>
                  <a:srgbClr val="FF3300"/>
                </a:solidFill>
                <a:effectLst/>
                <a:latin typeface="+mn-ea"/>
              </a:rPr>
              <a:t>点</a:t>
            </a:r>
            <a:r>
              <a:rPr lang="zh-CN" altLang="en-US" sz="1400">
                <a:effectLst/>
                <a:latin typeface="+mn-ea"/>
              </a:rPr>
              <a:t>而又在</a:t>
            </a:r>
            <a:r>
              <a:rPr lang="zh-CN" altLang="en-US" sz="1400">
                <a:solidFill>
                  <a:srgbClr val="FF3300"/>
                </a:solidFill>
                <a:effectLst/>
                <a:latin typeface="+mn-ea"/>
              </a:rPr>
              <a:t>平面内</a:t>
            </a:r>
            <a:r>
              <a:rPr lang="zh-CN" altLang="en-US" sz="1400">
                <a:effectLst/>
                <a:latin typeface="+mn-ea"/>
              </a:rPr>
              <a:t>的</a:t>
            </a:r>
            <a:r>
              <a:rPr lang="zh-CN" altLang="en-US" sz="1400">
                <a:solidFill>
                  <a:srgbClr val="FF3300"/>
                </a:solidFill>
                <a:effectLst/>
                <a:latin typeface="+mn-ea"/>
              </a:rPr>
              <a:t>一</a:t>
            </a:r>
            <a:r>
              <a:rPr lang="zh-CN" altLang="en-US" sz="1400">
                <a:effectLst/>
                <a:latin typeface="+mn-ea"/>
              </a:rPr>
              <a:t>条</a:t>
            </a:r>
            <a:r>
              <a:rPr lang="zh-CN" altLang="en-US" sz="1400">
                <a:solidFill>
                  <a:srgbClr val="FF3300"/>
                </a:solidFill>
                <a:effectLst/>
                <a:latin typeface="+mn-ea"/>
              </a:rPr>
              <a:t>直线</a:t>
            </a:r>
            <a:r>
              <a:rPr lang="zh-CN" altLang="en-US" sz="1400">
                <a:effectLst/>
                <a:latin typeface="+mn-ea"/>
              </a:rPr>
              <a:t>作为辅助线，然后再在该直线上确定点的位置。</a:t>
            </a:r>
          </a:p>
        </p:txBody>
      </p:sp>
      <p:sp>
        <p:nvSpPr>
          <p:cNvPr id="51206" name="文本框 51205"/>
          <p:cNvSpPr txBox="1"/>
          <p:nvPr/>
        </p:nvSpPr>
        <p:spPr>
          <a:xfrm>
            <a:off x="1541463" y="1180307"/>
            <a:ext cx="7561262" cy="30670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zh-CN" altLang="en-US" sz="1400">
                <a:latin typeface="+mn-ea"/>
                <a:cs typeface="+mn-ea"/>
              </a:rPr>
              <a:t> </a:t>
            </a:r>
            <a:r>
              <a:rPr lang="zh-CN" altLang="en-US" sz="1400">
                <a:solidFill>
                  <a:schemeClr val="tx1"/>
                </a:solidFill>
                <a:latin typeface="+mn-ea"/>
                <a:cs typeface="+mn-ea"/>
              </a:rPr>
              <a:t>面上取点的方法：</a:t>
            </a:r>
            <a:r>
              <a:rPr lang="zh-CN" altLang="en-US" sz="1400">
                <a:solidFill>
                  <a:srgbClr val="FF0000"/>
                </a:solidFill>
                <a:latin typeface="+mn-ea"/>
                <a:cs typeface="+mn-ea"/>
              </a:rPr>
              <a:t>定点先定线。</a:t>
            </a:r>
          </a:p>
        </p:txBody>
      </p:sp>
      <p:sp>
        <p:nvSpPr>
          <p:cNvPr id="51207" name="文本框 51206"/>
          <p:cNvSpPr txBox="1"/>
          <p:nvPr/>
        </p:nvSpPr>
        <p:spPr>
          <a:xfrm>
            <a:off x="7344410" y="4680586"/>
            <a:ext cx="3251200" cy="30670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algn="just"/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利用平面的积聚性求解</a:t>
            </a:r>
          </a:p>
        </p:txBody>
      </p:sp>
      <p:sp>
        <p:nvSpPr>
          <p:cNvPr id="51209" name="直接连接符 51208"/>
          <p:cNvSpPr/>
          <p:nvPr/>
        </p:nvSpPr>
        <p:spPr>
          <a:xfrm>
            <a:off x="6097588" y="4096068"/>
            <a:ext cx="0" cy="221615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1210" name="文本框 51209"/>
          <p:cNvSpPr txBox="1"/>
          <p:nvPr/>
        </p:nvSpPr>
        <p:spPr>
          <a:xfrm>
            <a:off x="4465638" y="3683318"/>
            <a:ext cx="4127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i="1">
                <a:latin typeface="Times New Roman" panose="02020603050405020304" pitchFamily="18" charset="0"/>
              </a:rPr>
              <a:t>k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</a:p>
        </p:txBody>
      </p:sp>
      <p:sp>
        <p:nvSpPr>
          <p:cNvPr id="51212" name="矩形 51211"/>
          <p:cNvSpPr/>
          <p:nvPr/>
        </p:nvSpPr>
        <p:spPr>
          <a:xfrm>
            <a:off x="4703763" y="3767455"/>
            <a:ext cx="336550" cy="274638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1200" b="1">
                <a:solidFill>
                  <a:srgbClr val="FF0000"/>
                </a:solidFill>
                <a:latin typeface="Times New Roman" panose="02020603050405020304" pitchFamily="18" charset="0"/>
              </a:rPr>
              <a:t>●</a:t>
            </a:r>
            <a:endParaRPr lang="zh-CN" altLang="en-US" sz="1200" b="1">
              <a:latin typeface="Times New Roman" panose="02020603050405020304" pitchFamily="18" charset="0"/>
            </a:endParaRPr>
          </a:p>
        </p:txBody>
      </p:sp>
      <p:grpSp>
        <p:nvGrpSpPr>
          <p:cNvPr id="51213" name="组合 51212"/>
          <p:cNvGrpSpPr/>
          <p:nvPr/>
        </p:nvGrpSpPr>
        <p:grpSpPr>
          <a:xfrm>
            <a:off x="3114675" y="2759393"/>
            <a:ext cx="3336925" cy="3779837"/>
            <a:chOff x="0" y="0"/>
            <a:chExt cx="2102" cy="2381"/>
          </a:xfrm>
        </p:grpSpPr>
        <p:sp>
          <p:nvSpPr>
            <p:cNvPr id="51214" name="文本框 51213"/>
            <p:cNvSpPr txBox="1"/>
            <p:nvPr/>
          </p:nvSpPr>
          <p:spPr>
            <a:xfrm>
              <a:off x="1246" y="1723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51215" name="未知"/>
            <p:cNvSpPr/>
            <p:nvPr/>
          </p:nvSpPr>
          <p:spPr>
            <a:xfrm>
              <a:off x="407" y="842"/>
              <a:ext cx="1472" cy="284"/>
            </a:xfrm>
            <a:custGeom>
              <a:avLst/>
              <a:gdLst/>
              <a:ahLst/>
              <a:cxnLst/>
              <a:rect l="0" t="0" r="0" b="0"/>
              <a:pathLst>
                <a:path w="1249" h="234">
                  <a:moveTo>
                    <a:pt x="0" y="234"/>
                  </a:moveTo>
                  <a:lnTo>
                    <a:pt x="1249" y="0"/>
                  </a:lnTo>
                </a:path>
              </a:pathLst>
            </a:custGeom>
            <a:noFill/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16" name="直接连接符 51215"/>
            <p:cNvSpPr/>
            <p:nvPr/>
          </p:nvSpPr>
          <p:spPr>
            <a:xfrm flipV="1">
              <a:off x="408" y="202"/>
              <a:ext cx="849" cy="931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17" name="未知"/>
            <p:cNvSpPr/>
            <p:nvPr/>
          </p:nvSpPr>
          <p:spPr>
            <a:xfrm>
              <a:off x="1257" y="202"/>
              <a:ext cx="627" cy="633"/>
            </a:xfrm>
            <a:custGeom>
              <a:avLst/>
              <a:gdLst/>
              <a:ahLst/>
              <a:cxnLst/>
              <a:rect l="0" t="0" r="0" b="0"/>
              <a:pathLst>
                <a:path w="532" h="522">
                  <a:moveTo>
                    <a:pt x="0" y="0"/>
                  </a:moveTo>
                  <a:lnTo>
                    <a:pt x="532" y="522"/>
                  </a:lnTo>
                </a:path>
              </a:pathLst>
            </a:custGeom>
            <a:noFill/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18" name="未知"/>
            <p:cNvSpPr/>
            <p:nvPr/>
          </p:nvSpPr>
          <p:spPr>
            <a:xfrm>
              <a:off x="397" y="1633"/>
              <a:ext cx="1500" cy="605"/>
            </a:xfrm>
            <a:custGeom>
              <a:avLst/>
              <a:gdLst/>
              <a:ahLst/>
              <a:cxnLst/>
              <a:rect l="0" t="0" r="0" b="0"/>
              <a:pathLst>
                <a:path w="1277" h="523">
                  <a:moveTo>
                    <a:pt x="0" y="0"/>
                  </a:moveTo>
                  <a:lnTo>
                    <a:pt x="1277" y="523"/>
                  </a:lnTo>
                </a:path>
              </a:pathLst>
            </a:custGeom>
            <a:noFill/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19" name="文本框 51218"/>
            <p:cNvSpPr txBox="1"/>
            <p:nvPr/>
          </p:nvSpPr>
          <p:spPr>
            <a:xfrm>
              <a:off x="198" y="1454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51220" name="文本框 51219"/>
            <p:cNvSpPr txBox="1"/>
            <p:nvPr/>
          </p:nvSpPr>
          <p:spPr>
            <a:xfrm>
              <a:off x="1886" y="2094"/>
              <a:ext cx="202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b="1" i="1"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51221" name="文本框 51220"/>
            <p:cNvSpPr txBox="1"/>
            <p:nvPr/>
          </p:nvSpPr>
          <p:spPr>
            <a:xfrm>
              <a:off x="1853" y="582"/>
              <a:ext cx="249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c</a:t>
              </a:r>
              <a:r>
                <a:rPr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</a:t>
              </a:r>
            </a:p>
          </p:txBody>
        </p:sp>
        <p:sp>
          <p:nvSpPr>
            <p:cNvPr id="51222" name="文本框 51221"/>
            <p:cNvSpPr txBox="1"/>
            <p:nvPr/>
          </p:nvSpPr>
          <p:spPr>
            <a:xfrm>
              <a:off x="236" y="931"/>
              <a:ext cx="259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a</a:t>
              </a:r>
              <a:r>
                <a:rPr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</a:t>
              </a:r>
            </a:p>
          </p:txBody>
        </p:sp>
        <p:sp>
          <p:nvSpPr>
            <p:cNvPr id="51223" name="文本框 51222"/>
            <p:cNvSpPr txBox="1"/>
            <p:nvPr/>
          </p:nvSpPr>
          <p:spPr>
            <a:xfrm>
              <a:off x="1290" y="0"/>
              <a:ext cx="26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b</a:t>
              </a:r>
              <a:r>
                <a:rPr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</a:t>
              </a:r>
            </a:p>
          </p:txBody>
        </p:sp>
        <p:sp>
          <p:nvSpPr>
            <p:cNvPr id="51224" name="直接连接符 51223"/>
            <p:cNvSpPr/>
            <p:nvPr/>
          </p:nvSpPr>
          <p:spPr>
            <a:xfrm>
              <a:off x="0" y="1307"/>
              <a:ext cx="2094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25" name="直接连接符 51224"/>
            <p:cNvSpPr/>
            <p:nvPr/>
          </p:nvSpPr>
          <p:spPr>
            <a:xfrm>
              <a:off x="1259" y="209"/>
              <a:ext cx="0" cy="1769"/>
            </a:xfrm>
            <a:prstGeom prst="line">
              <a:avLst/>
            </a:prstGeom>
            <a:ln w="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51226" name="直接连接符 51225"/>
          <p:cNvSpPr/>
          <p:nvPr/>
        </p:nvSpPr>
        <p:spPr>
          <a:xfrm>
            <a:off x="3744913" y="4559618"/>
            <a:ext cx="0" cy="792162"/>
          </a:xfrm>
          <a:prstGeom prst="line">
            <a:avLst/>
          </a:prstGeom>
          <a:ln w="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1227" name="文本框 51226"/>
          <p:cNvSpPr txBox="1"/>
          <p:nvPr/>
        </p:nvSpPr>
        <p:spPr>
          <a:xfrm>
            <a:off x="1241425" y="2269490"/>
            <a:ext cx="909066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例</a:t>
            </a:r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12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已知</a:t>
            </a:r>
            <a:r>
              <a:rPr lang="en-US" altLang="zh-CN" i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点在平面</a:t>
            </a:r>
            <a:r>
              <a:rPr lang="en-US" altLang="zh-CN" i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ABC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上，求</a:t>
            </a:r>
            <a:r>
              <a:rPr lang="en-US" altLang="zh-CN" i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点的水平投影。</a:t>
            </a:r>
          </a:p>
        </p:txBody>
      </p:sp>
      <p:grpSp>
        <p:nvGrpSpPr>
          <p:cNvPr id="51228" name="组合 51227"/>
          <p:cNvGrpSpPr/>
          <p:nvPr/>
        </p:nvGrpSpPr>
        <p:grpSpPr>
          <a:xfrm>
            <a:off x="4562475" y="5642293"/>
            <a:ext cx="482600" cy="501650"/>
            <a:chOff x="0" y="0"/>
            <a:chExt cx="253" cy="205"/>
          </a:xfrm>
        </p:grpSpPr>
        <p:sp>
          <p:nvSpPr>
            <p:cNvPr id="51229" name="文本框 51228"/>
            <p:cNvSpPr txBox="1"/>
            <p:nvPr/>
          </p:nvSpPr>
          <p:spPr>
            <a:xfrm>
              <a:off x="0" y="19"/>
              <a:ext cx="176" cy="18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k</a:t>
              </a:r>
            </a:p>
          </p:txBody>
        </p:sp>
        <p:sp>
          <p:nvSpPr>
            <p:cNvPr id="51230" name="矩形 51229"/>
            <p:cNvSpPr/>
            <p:nvPr/>
          </p:nvSpPr>
          <p:spPr>
            <a:xfrm>
              <a:off x="76" y="0"/>
              <a:ext cx="177" cy="1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2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●</a:t>
              </a:r>
              <a:endParaRPr lang="zh-CN" altLang="en-US" sz="1200" b="1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512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1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1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1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51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4" grpId="0"/>
      <p:bldP spid="51206" grpId="0" build="p"/>
      <p:bldP spid="51207" grpId="0"/>
      <p:bldP spid="51210" grpId="0"/>
      <p:bldP spid="51212" grpId="0"/>
      <p:bldP spid="51227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227" name="组合 52226"/>
          <p:cNvGrpSpPr/>
          <p:nvPr/>
        </p:nvGrpSpPr>
        <p:grpSpPr>
          <a:xfrm>
            <a:off x="2103755" y="1604328"/>
            <a:ext cx="4608513" cy="4254500"/>
            <a:chOff x="0" y="0"/>
            <a:chExt cx="2903" cy="2680"/>
          </a:xfrm>
        </p:grpSpPr>
        <p:sp>
          <p:nvSpPr>
            <p:cNvPr id="52228" name="直接连接符 52227"/>
            <p:cNvSpPr/>
            <p:nvPr/>
          </p:nvSpPr>
          <p:spPr>
            <a:xfrm flipV="1">
              <a:off x="428" y="1730"/>
              <a:ext cx="1093" cy="399"/>
            </a:xfrm>
            <a:prstGeom prst="line">
              <a:avLst/>
            </a:prstGeom>
            <a:ln w="381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52229" name="组合 52228"/>
            <p:cNvGrpSpPr/>
            <p:nvPr/>
          </p:nvGrpSpPr>
          <p:grpSpPr>
            <a:xfrm>
              <a:off x="0" y="0"/>
              <a:ext cx="2903" cy="2680"/>
              <a:chOff x="0" y="0"/>
              <a:chExt cx="2903" cy="2680"/>
            </a:xfrm>
          </p:grpSpPr>
          <p:sp>
            <p:nvSpPr>
              <p:cNvPr id="52230" name="文本框 52229"/>
              <p:cNvSpPr txBox="1"/>
              <p:nvPr/>
            </p:nvSpPr>
            <p:spPr>
              <a:xfrm>
                <a:off x="1184" y="715"/>
                <a:ext cx="214" cy="17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zh-CN" altLang="en-US" sz="1200" b="1">
                    <a:solidFill>
                      <a:schemeClr val="accent2"/>
                    </a:solidFill>
                    <a:latin typeface="Times New Roman" panose="02020603050405020304" pitchFamily="18" charset="0"/>
                  </a:rPr>
                  <a:t>●</a:t>
                </a:r>
                <a:endParaRPr lang="zh-CN" altLang="en-US" sz="24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231" name="直接连接符 52230"/>
              <p:cNvSpPr/>
              <p:nvPr/>
            </p:nvSpPr>
            <p:spPr>
              <a:xfrm>
                <a:off x="0" y="1487"/>
                <a:ext cx="2903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2232" name="未知"/>
              <p:cNvSpPr/>
              <p:nvPr/>
            </p:nvSpPr>
            <p:spPr>
              <a:xfrm>
                <a:off x="432" y="934"/>
                <a:ext cx="2004" cy="368"/>
              </a:xfrm>
              <a:custGeom>
                <a:avLst/>
                <a:gdLst/>
                <a:ahLst/>
                <a:cxnLst/>
                <a:rect l="0" t="0" r="0" b="0"/>
                <a:pathLst>
                  <a:path w="1144" h="266">
                    <a:moveTo>
                      <a:pt x="0" y="266"/>
                    </a:moveTo>
                    <a:lnTo>
                      <a:pt x="1144" y="0"/>
                    </a:lnTo>
                  </a:path>
                </a:pathLst>
              </a:custGeom>
              <a:noFill/>
              <a:ln w="38100" cap="flat" cmpd="sng">
                <a:solidFill>
                  <a:srgbClr val="8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33" name="未知"/>
              <p:cNvSpPr/>
              <p:nvPr/>
            </p:nvSpPr>
            <p:spPr>
              <a:xfrm>
                <a:off x="432" y="278"/>
                <a:ext cx="1093" cy="1027"/>
              </a:xfrm>
              <a:custGeom>
                <a:avLst/>
                <a:gdLst/>
                <a:ahLst/>
                <a:cxnLst/>
                <a:rect l="0" t="0" r="0" b="0"/>
                <a:pathLst>
                  <a:path w="624" h="742">
                    <a:moveTo>
                      <a:pt x="0" y="742"/>
                    </a:moveTo>
                    <a:lnTo>
                      <a:pt x="624" y="0"/>
                    </a:lnTo>
                  </a:path>
                </a:pathLst>
              </a:custGeom>
              <a:noFill/>
              <a:ln w="38100" cap="flat" cmpd="sng">
                <a:solidFill>
                  <a:srgbClr val="8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34" name="未知"/>
              <p:cNvSpPr/>
              <p:nvPr/>
            </p:nvSpPr>
            <p:spPr>
              <a:xfrm>
                <a:off x="1525" y="278"/>
                <a:ext cx="936" cy="656"/>
              </a:xfrm>
              <a:custGeom>
                <a:avLst/>
                <a:gdLst/>
                <a:ahLst/>
                <a:cxnLst/>
                <a:rect l="0" t="0" r="0" b="0"/>
                <a:pathLst>
                  <a:path w="534" h="474">
                    <a:moveTo>
                      <a:pt x="0" y="0"/>
                    </a:moveTo>
                    <a:lnTo>
                      <a:pt x="534" y="474"/>
                    </a:lnTo>
                  </a:path>
                </a:pathLst>
              </a:custGeom>
              <a:noFill/>
              <a:ln w="38100" cap="flat" cmpd="sng">
                <a:solidFill>
                  <a:srgbClr val="8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35" name="直接连接符 52234"/>
              <p:cNvSpPr/>
              <p:nvPr/>
            </p:nvSpPr>
            <p:spPr>
              <a:xfrm>
                <a:off x="1525" y="278"/>
                <a:ext cx="0" cy="1461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2236" name="直接连接符 52235"/>
              <p:cNvSpPr/>
              <p:nvPr/>
            </p:nvSpPr>
            <p:spPr>
              <a:xfrm>
                <a:off x="432" y="1274"/>
                <a:ext cx="0" cy="864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2237" name="未知"/>
              <p:cNvSpPr/>
              <p:nvPr/>
            </p:nvSpPr>
            <p:spPr>
              <a:xfrm>
                <a:off x="2461" y="915"/>
                <a:ext cx="1" cy="1555"/>
              </a:xfrm>
              <a:custGeom>
                <a:avLst/>
                <a:gdLst/>
                <a:ahLst/>
                <a:cxnLst/>
                <a:rect l="0" t="0" r="0" b="0"/>
                <a:pathLst>
                  <a:path w="1" h="1124">
                    <a:moveTo>
                      <a:pt x="0" y="0"/>
                    </a:moveTo>
                    <a:lnTo>
                      <a:pt x="0" y="1124"/>
                    </a:lnTo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38" name="未知"/>
              <p:cNvSpPr/>
              <p:nvPr/>
            </p:nvSpPr>
            <p:spPr>
              <a:xfrm>
                <a:off x="1525" y="1739"/>
                <a:ext cx="936" cy="738"/>
              </a:xfrm>
              <a:custGeom>
                <a:avLst/>
                <a:gdLst/>
                <a:ahLst/>
                <a:cxnLst/>
                <a:rect l="0" t="0" r="0" b="0"/>
                <a:pathLst>
                  <a:path w="534" h="533">
                    <a:moveTo>
                      <a:pt x="0" y="0"/>
                    </a:moveTo>
                    <a:lnTo>
                      <a:pt x="534" y="533"/>
                    </a:lnTo>
                  </a:path>
                </a:pathLst>
              </a:custGeom>
              <a:noFill/>
              <a:ln w="38100" cap="flat" cmpd="sng">
                <a:solidFill>
                  <a:srgbClr val="8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39" name="直接连接符 52238"/>
              <p:cNvSpPr/>
              <p:nvPr/>
            </p:nvSpPr>
            <p:spPr>
              <a:xfrm flipH="1" flipV="1">
                <a:off x="432" y="2122"/>
                <a:ext cx="2018" cy="332"/>
              </a:xfrm>
              <a:prstGeom prst="line">
                <a:avLst/>
              </a:prstGeom>
              <a:ln w="38100" cap="flat" cmpd="sng">
                <a:solidFill>
                  <a:srgbClr val="8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2240" name="文本框 52239"/>
              <p:cNvSpPr txBox="1"/>
              <p:nvPr/>
            </p:nvSpPr>
            <p:spPr>
              <a:xfrm>
                <a:off x="219" y="1994"/>
                <a:ext cx="201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2400" b="1" i="1">
                    <a:latin typeface="Times New Roman" panose="02020603050405020304" pitchFamily="18" charset="0"/>
                  </a:rPr>
                  <a:t>e</a:t>
                </a:r>
              </a:p>
            </p:txBody>
          </p:sp>
          <p:sp>
            <p:nvSpPr>
              <p:cNvPr id="52241" name="文本框 52240"/>
              <p:cNvSpPr txBox="1"/>
              <p:nvPr/>
            </p:nvSpPr>
            <p:spPr>
              <a:xfrm>
                <a:off x="1563" y="1528"/>
                <a:ext cx="180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2400" b="1" i="1">
                    <a:latin typeface="Times New Roman" panose="02020603050405020304" pitchFamily="18" charset="0"/>
                  </a:rPr>
                  <a:t>f</a:t>
                </a:r>
              </a:p>
            </p:txBody>
          </p:sp>
          <p:sp>
            <p:nvSpPr>
              <p:cNvPr id="52242" name="文本框 52241"/>
              <p:cNvSpPr txBox="1"/>
              <p:nvPr/>
            </p:nvSpPr>
            <p:spPr>
              <a:xfrm>
                <a:off x="2413" y="2392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2400" b="1" i="1">
                    <a:latin typeface="Times New Roman" panose="02020603050405020304" pitchFamily="18" charset="0"/>
                  </a:rPr>
                  <a:t>g</a:t>
                </a:r>
              </a:p>
            </p:txBody>
          </p:sp>
          <p:sp>
            <p:nvSpPr>
              <p:cNvPr id="52243" name="文本框 52242"/>
              <p:cNvSpPr txBox="1"/>
              <p:nvPr/>
            </p:nvSpPr>
            <p:spPr>
              <a:xfrm>
                <a:off x="236" y="1131"/>
                <a:ext cx="26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2400" b="1" i="1">
                    <a:latin typeface="Times New Roman" panose="02020603050405020304" pitchFamily="18" charset="0"/>
                  </a:rPr>
                  <a:t>e</a:t>
                </a:r>
                <a:r>
                  <a:rPr lang="en-US" altLang="zh-CN" sz="2400" b="1" i="1">
                    <a:latin typeface="Times New Roman" panose="02020603050405020304" pitchFamily="18" charset="0"/>
                    <a:sym typeface="CommercialPi BT" panose="05020102010206080802" pitchFamily="18" charset="2"/>
                  </a:rPr>
                  <a:t></a:t>
                </a:r>
              </a:p>
            </p:txBody>
          </p:sp>
          <p:sp>
            <p:nvSpPr>
              <p:cNvPr id="52244" name="文本框 52243"/>
              <p:cNvSpPr txBox="1"/>
              <p:nvPr/>
            </p:nvSpPr>
            <p:spPr>
              <a:xfrm>
                <a:off x="1543" y="0"/>
                <a:ext cx="27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2400" b="1" i="1">
                    <a:latin typeface="Times New Roman" panose="02020603050405020304" pitchFamily="18" charset="0"/>
                  </a:rPr>
                  <a:t>f </a:t>
                </a:r>
                <a:r>
                  <a:rPr lang="en-US" altLang="zh-CN" sz="2400" b="1" i="1">
                    <a:latin typeface="Times New Roman" panose="02020603050405020304" pitchFamily="18" charset="0"/>
                    <a:sym typeface="Symbol" panose="05050102010706020507" pitchFamily="18" charset="2"/>
                  </a:rPr>
                  <a:t></a:t>
                </a:r>
              </a:p>
            </p:txBody>
          </p:sp>
          <p:sp>
            <p:nvSpPr>
              <p:cNvPr id="52245" name="文本框 52244"/>
              <p:cNvSpPr txBox="1"/>
              <p:nvPr/>
            </p:nvSpPr>
            <p:spPr>
              <a:xfrm>
                <a:off x="1230" y="444"/>
                <a:ext cx="313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2400" b="1" i="1">
                    <a:latin typeface="Times New Roman" panose="02020603050405020304" pitchFamily="18" charset="0"/>
                  </a:rPr>
                  <a:t>m</a:t>
                </a:r>
                <a:r>
                  <a:rPr lang="en-US" altLang="zh-CN" sz="2400" b="1" i="1">
                    <a:latin typeface="Times New Roman" panose="02020603050405020304" pitchFamily="18" charset="0"/>
                    <a:sym typeface="Symbol" panose="05050102010706020507" pitchFamily="18" charset="2"/>
                  </a:rPr>
                  <a:t></a:t>
                </a:r>
              </a:p>
            </p:txBody>
          </p:sp>
          <p:sp>
            <p:nvSpPr>
              <p:cNvPr id="52246" name="文本框 52245"/>
              <p:cNvSpPr txBox="1"/>
              <p:nvPr/>
            </p:nvSpPr>
            <p:spPr>
              <a:xfrm>
                <a:off x="2507" y="798"/>
                <a:ext cx="260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2400" b="1" i="1">
                    <a:latin typeface="Times New Roman" panose="02020603050405020304" pitchFamily="18" charset="0"/>
                  </a:rPr>
                  <a:t>g</a:t>
                </a:r>
                <a:r>
                  <a:rPr lang="en-US" altLang="zh-CN" sz="2400" b="1" i="1">
                    <a:latin typeface="Times New Roman" panose="02020603050405020304" pitchFamily="18" charset="0"/>
                    <a:sym typeface="Symbol" panose="05050102010706020507" pitchFamily="18" charset="2"/>
                  </a:rPr>
                  <a:t></a:t>
                </a:r>
              </a:p>
            </p:txBody>
          </p:sp>
        </p:grpSp>
      </p:grpSp>
      <p:sp>
        <p:nvSpPr>
          <p:cNvPr id="52247" name="文本框 52246"/>
          <p:cNvSpPr txBox="1"/>
          <p:nvPr/>
        </p:nvSpPr>
        <p:spPr>
          <a:xfrm>
            <a:off x="4948555" y="1996440"/>
            <a:ext cx="4302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i="1">
                <a:latin typeface="Times New Roman" panose="02020603050405020304" pitchFamily="18" charset="0"/>
              </a:rPr>
              <a:t>h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</a:p>
        </p:txBody>
      </p:sp>
      <p:grpSp>
        <p:nvGrpSpPr>
          <p:cNvPr id="52248" name="组合 52247"/>
          <p:cNvGrpSpPr/>
          <p:nvPr/>
        </p:nvGrpSpPr>
        <p:grpSpPr>
          <a:xfrm>
            <a:off x="3969068" y="4642803"/>
            <a:ext cx="647700" cy="546100"/>
            <a:chOff x="0" y="0"/>
            <a:chExt cx="408" cy="344"/>
          </a:xfrm>
        </p:grpSpPr>
        <p:sp>
          <p:nvSpPr>
            <p:cNvPr id="52249" name="文本框 52248"/>
            <p:cNvSpPr txBox="1"/>
            <p:nvPr/>
          </p:nvSpPr>
          <p:spPr>
            <a:xfrm>
              <a:off x="143" y="56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m</a:t>
              </a:r>
            </a:p>
          </p:txBody>
        </p:sp>
        <p:sp>
          <p:nvSpPr>
            <p:cNvPr id="52250" name="矩形 52249"/>
            <p:cNvSpPr/>
            <p:nvPr/>
          </p:nvSpPr>
          <p:spPr>
            <a:xfrm>
              <a:off x="0" y="0"/>
              <a:ext cx="213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200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●</a:t>
              </a:r>
              <a:endParaRPr lang="zh-CN" altLang="en-US" sz="1200" b="1">
                <a:latin typeface="Times New Roman" panose="02020603050405020304" pitchFamily="18" charset="0"/>
              </a:endParaRPr>
            </a:p>
          </p:txBody>
        </p:sp>
      </p:grpSp>
      <p:sp>
        <p:nvSpPr>
          <p:cNvPr id="52251" name="文本框 52250"/>
          <p:cNvSpPr txBox="1"/>
          <p:nvPr/>
        </p:nvSpPr>
        <p:spPr>
          <a:xfrm>
            <a:off x="4948555" y="4325303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i="1"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52252" name="文本框 52251"/>
          <p:cNvSpPr txBox="1"/>
          <p:nvPr/>
        </p:nvSpPr>
        <p:spPr>
          <a:xfrm>
            <a:off x="6271260" y="3811271"/>
            <a:ext cx="4501515" cy="306705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bg2">
                        <a:alpha val="59999"/>
                      </a:schemeClr>
                    </a:gs>
                    <a:gs pos="100000">
                      <a:srgbClr val="FFFFFF"/>
                    </a:gs>
                  </a:gsLst>
                  <a:lin ang="5400000" scaled="1"/>
                  <a:tileRect/>
                </a:gradFill>
              </a14:hiddenFill>
            </a:ext>
          </a:extLst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通过在面内</a:t>
            </a:r>
            <a:r>
              <a:rPr lang="zh-CN" altLang="en-US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作辅助线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求解</a:t>
            </a:r>
          </a:p>
        </p:txBody>
      </p:sp>
      <p:sp>
        <p:nvSpPr>
          <p:cNvPr id="52253" name="直接连接符 52252"/>
          <p:cNvSpPr/>
          <p:nvPr/>
        </p:nvSpPr>
        <p:spPr>
          <a:xfrm flipV="1">
            <a:off x="2789555" y="2380615"/>
            <a:ext cx="2159000" cy="1296988"/>
          </a:xfrm>
          <a:prstGeom prst="line">
            <a:avLst/>
          </a:prstGeom>
          <a:ln w="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2254" name="直接连接符 52253"/>
          <p:cNvSpPr/>
          <p:nvPr/>
        </p:nvSpPr>
        <p:spPr>
          <a:xfrm>
            <a:off x="4948555" y="2380615"/>
            <a:ext cx="0" cy="2305050"/>
          </a:xfrm>
          <a:prstGeom prst="line">
            <a:avLst/>
          </a:prstGeom>
          <a:ln w="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2255" name="直接连接符 52254"/>
          <p:cNvSpPr/>
          <p:nvPr/>
        </p:nvSpPr>
        <p:spPr>
          <a:xfrm flipV="1">
            <a:off x="2789555" y="4685665"/>
            <a:ext cx="2159000" cy="287338"/>
          </a:xfrm>
          <a:prstGeom prst="line">
            <a:avLst/>
          </a:prstGeom>
          <a:ln w="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2256" name="直接连接符 52255"/>
          <p:cNvSpPr/>
          <p:nvPr/>
        </p:nvSpPr>
        <p:spPr>
          <a:xfrm>
            <a:off x="4142105" y="2914015"/>
            <a:ext cx="0" cy="1871663"/>
          </a:xfrm>
          <a:prstGeom prst="line">
            <a:avLst/>
          </a:prstGeom>
          <a:ln w="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2257" name="文本框 52256"/>
          <p:cNvSpPr txBox="1"/>
          <p:nvPr/>
        </p:nvSpPr>
        <p:spPr>
          <a:xfrm>
            <a:off x="728345" y="869315"/>
            <a:ext cx="1056767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例</a:t>
            </a:r>
            <a:r>
              <a:rPr lang="en-US" altLang="zh-CN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13 </a:t>
            </a:r>
            <a:r>
              <a:rPr lang="zh-CN" altLang="en-US">
                <a:latin typeface="+mn-ea"/>
                <a:cs typeface="+mn-ea"/>
              </a:rPr>
              <a:t>已知</a:t>
            </a:r>
            <a:r>
              <a:rPr lang="en-US" altLang="zh-CN" i="1">
                <a:latin typeface="+mn-ea"/>
                <a:cs typeface="+mn-ea"/>
              </a:rPr>
              <a:t>M</a:t>
            </a:r>
            <a:r>
              <a:rPr lang="zh-CN" altLang="en-US">
                <a:latin typeface="+mn-ea"/>
                <a:cs typeface="+mn-ea"/>
              </a:rPr>
              <a:t>点在平面</a:t>
            </a:r>
            <a:r>
              <a:rPr lang="en-US" altLang="zh-CN" i="1">
                <a:latin typeface="+mn-ea"/>
                <a:cs typeface="+mn-ea"/>
              </a:rPr>
              <a:t>EFG</a:t>
            </a:r>
            <a:r>
              <a:rPr lang="zh-CN" altLang="en-US">
                <a:latin typeface="+mn-ea"/>
                <a:cs typeface="+mn-ea"/>
              </a:rPr>
              <a:t>上，求</a:t>
            </a:r>
            <a:r>
              <a:rPr lang="en-US" altLang="zh-CN" i="1">
                <a:latin typeface="+mn-ea"/>
                <a:cs typeface="+mn-ea"/>
              </a:rPr>
              <a:t>M</a:t>
            </a:r>
            <a:r>
              <a:rPr lang="zh-CN" altLang="en-US">
                <a:latin typeface="+mn-ea"/>
                <a:cs typeface="+mn-ea"/>
              </a:rPr>
              <a:t>点的水平投影。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22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22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2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4" dur="2000"/>
                                        <p:tgtEl>
                                          <p:spTgt spid="52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2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2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52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52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52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52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47" grpId="0"/>
      <p:bldP spid="52251" grpId="0"/>
      <p:bldP spid="52252" grpId="0" bldLvl="0" animBg="1"/>
      <p:bldP spid="52257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2" name="文本框 53251"/>
          <p:cNvSpPr txBox="1"/>
          <p:nvPr/>
        </p:nvSpPr>
        <p:spPr>
          <a:xfrm>
            <a:off x="842010" y="686435"/>
            <a:ext cx="8930005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/>
          <a:p>
            <a:pPr algn="just"/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例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14</a:t>
            </a:r>
            <a:r>
              <a:rPr lang="en-US" altLang="zh-CN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如图所示，已知一般位置平面</a:t>
            </a:r>
            <a:r>
              <a:rPr lang="en-US" altLang="zh-CN" i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ABCD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的正面投影和</a:t>
            </a:r>
            <a:r>
              <a:rPr lang="en-US" altLang="zh-CN" i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i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AD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两条边的水平投影</a:t>
            </a:r>
            <a:r>
              <a:rPr lang="en-US" altLang="zh-CN" i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i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，补全该面的水平投影。</a:t>
            </a:r>
          </a:p>
        </p:txBody>
      </p:sp>
      <p:sp>
        <p:nvSpPr>
          <p:cNvPr id="53274" name="文本框 53273"/>
          <p:cNvSpPr txBox="1"/>
          <p:nvPr/>
        </p:nvSpPr>
        <p:spPr>
          <a:xfrm>
            <a:off x="5173345" y="2479675"/>
            <a:ext cx="585089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分析：</a:t>
            </a:r>
            <a:r>
              <a:rPr lang="en-US" altLang="zh-CN" sz="1400" i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ABCD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既然是平面，则它的对角线必相交。</a:t>
            </a:r>
          </a:p>
        </p:txBody>
      </p:sp>
      <p:sp>
        <p:nvSpPr>
          <p:cNvPr id="53275" name="文本框 53274"/>
          <p:cNvSpPr txBox="1"/>
          <p:nvPr/>
        </p:nvSpPr>
        <p:spPr>
          <a:xfrm>
            <a:off x="5173345" y="3728085"/>
            <a:ext cx="165735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作图：</a:t>
            </a:r>
          </a:p>
        </p:txBody>
      </p:sp>
      <p:sp>
        <p:nvSpPr>
          <p:cNvPr id="53276" name="文本框 53275"/>
          <p:cNvSpPr txBox="1"/>
          <p:nvPr/>
        </p:nvSpPr>
        <p:spPr>
          <a:xfrm>
            <a:off x="5960745" y="3761423"/>
            <a:ext cx="4391025" cy="3067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）连接</a:t>
            </a:r>
            <a:r>
              <a:rPr lang="en-US" altLang="zh-CN" sz="1400" i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a′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400" i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c′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sz="1400" i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b′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400" i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′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，得交点</a:t>
            </a:r>
            <a:r>
              <a:rPr lang="en-US" altLang="zh-CN" sz="1400" i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′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</a:t>
            </a:r>
          </a:p>
        </p:txBody>
      </p:sp>
      <p:sp>
        <p:nvSpPr>
          <p:cNvPr id="53277" name="文本框 53276"/>
          <p:cNvSpPr txBox="1"/>
          <p:nvPr/>
        </p:nvSpPr>
        <p:spPr>
          <a:xfrm>
            <a:off x="5969635" y="4326890"/>
            <a:ext cx="4696460" cy="3067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）连接</a:t>
            </a:r>
            <a:r>
              <a:rPr lang="en-US" altLang="zh-CN" sz="1400" i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400" i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</a:t>
            </a:r>
            <a:r>
              <a:rPr lang="en-US" altLang="zh-CN" sz="1400" i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bd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上求出</a:t>
            </a:r>
            <a:r>
              <a:rPr lang="en-US" altLang="zh-CN" sz="1400" i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，并连接</a:t>
            </a:r>
            <a:r>
              <a:rPr lang="en-US" altLang="zh-CN" sz="1400" i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400" i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</a:t>
            </a:r>
          </a:p>
        </p:txBody>
      </p:sp>
      <p:sp>
        <p:nvSpPr>
          <p:cNvPr id="53278" name="文本框 53277"/>
          <p:cNvSpPr txBox="1"/>
          <p:nvPr/>
        </p:nvSpPr>
        <p:spPr>
          <a:xfrm>
            <a:off x="5969635" y="4907280"/>
            <a:ext cx="5026025" cy="3067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）在</a:t>
            </a:r>
            <a:r>
              <a:rPr lang="en-US" altLang="zh-CN" sz="1400" i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ak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上求出</a:t>
            </a:r>
            <a:r>
              <a:rPr lang="en-US" altLang="zh-CN" sz="1400" i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，连接</a:t>
            </a:r>
            <a:r>
              <a:rPr lang="en-US" altLang="zh-CN" sz="1400" i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400" i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 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sz="1400" i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400" i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，即得该平面的水平投影；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209800" y="5373688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i="1">
                <a:latin typeface="Times New Roman" panose="02020603050405020304" pitchFamily="18" charset="0"/>
              </a:rPr>
              <a:t>k</a:t>
            </a:r>
            <a:endParaRPr lang="en-US" altLang="zh-CN" sz="2400" b="1" i="1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058988" y="2733675"/>
            <a:ext cx="4127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i="1">
                <a:latin typeface="Times New Roman" panose="02020603050405020304" pitchFamily="18" charset="0"/>
              </a:rPr>
              <a:t>k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</a:p>
        </p:txBody>
      </p:sp>
      <p:grpSp>
        <p:nvGrpSpPr>
          <p:cNvPr id="53253" name="组合 53252"/>
          <p:cNvGrpSpPr/>
          <p:nvPr/>
        </p:nvGrpSpPr>
        <p:grpSpPr>
          <a:xfrm>
            <a:off x="34925" y="1557338"/>
            <a:ext cx="4824413" cy="4273550"/>
            <a:chOff x="0" y="0"/>
            <a:chExt cx="3039" cy="2692"/>
          </a:xfrm>
        </p:grpSpPr>
        <p:sp>
          <p:nvSpPr>
            <p:cNvPr id="53254" name="文本框 53253"/>
            <p:cNvSpPr txBox="1"/>
            <p:nvPr/>
          </p:nvSpPr>
          <p:spPr>
            <a:xfrm>
              <a:off x="1043" y="1496"/>
              <a:ext cx="26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1">
                  <a:latin typeface="Times New Roman" panose="02020603050405020304" pitchFamily="18" charset="0"/>
                </a:rPr>
                <a:t>a</a:t>
              </a:r>
              <a:r>
                <a:rPr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</a:t>
              </a:r>
            </a:p>
          </p:txBody>
        </p:sp>
        <p:grpSp>
          <p:nvGrpSpPr>
            <p:cNvPr id="53255" name="组合 53254"/>
            <p:cNvGrpSpPr/>
            <p:nvPr/>
          </p:nvGrpSpPr>
          <p:grpSpPr>
            <a:xfrm>
              <a:off x="0" y="0"/>
              <a:ext cx="3039" cy="2692"/>
              <a:chOff x="0" y="0"/>
              <a:chExt cx="3039" cy="2692"/>
            </a:xfrm>
          </p:grpSpPr>
          <p:sp>
            <p:nvSpPr>
              <p:cNvPr id="53256" name="文本框 53255"/>
              <p:cNvSpPr txBox="1"/>
              <p:nvPr/>
            </p:nvSpPr>
            <p:spPr>
              <a:xfrm>
                <a:off x="459" y="664"/>
                <a:ext cx="260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2400" b="1" i="1">
                    <a:latin typeface="Times New Roman" panose="02020603050405020304" pitchFamily="18" charset="0"/>
                  </a:rPr>
                  <a:t>b</a:t>
                </a:r>
                <a:r>
                  <a:rPr lang="en-US" altLang="zh-CN" sz="2400" b="1" i="1">
                    <a:latin typeface="Times New Roman" panose="02020603050405020304" pitchFamily="18" charset="0"/>
                    <a:sym typeface="Symbol" panose="05050102010706020507" pitchFamily="18" charset="2"/>
                  </a:rPr>
                  <a:t></a:t>
                </a:r>
              </a:p>
            </p:txBody>
          </p:sp>
          <p:sp>
            <p:nvSpPr>
              <p:cNvPr id="53257" name="文本框 53256"/>
              <p:cNvSpPr txBox="1"/>
              <p:nvPr/>
            </p:nvSpPr>
            <p:spPr>
              <a:xfrm>
                <a:off x="2721" y="573"/>
                <a:ext cx="260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2400" b="1" i="1">
                    <a:latin typeface="Times New Roman" panose="02020603050405020304" pitchFamily="18" charset="0"/>
                  </a:rPr>
                  <a:t>d</a:t>
                </a:r>
                <a:r>
                  <a:rPr lang="en-US" altLang="zh-CN" sz="2400" b="1" i="1">
                    <a:latin typeface="Times New Roman" panose="02020603050405020304" pitchFamily="18" charset="0"/>
                    <a:sym typeface="Symbol" panose="05050102010706020507" pitchFamily="18" charset="2"/>
                  </a:rPr>
                  <a:t></a:t>
                </a:r>
              </a:p>
            </p:txBody>
          </p:sp>
          <p:sp>
            <p:nvSpPr>
              <p:cNvPr id="53258" name="文本框 53257"/>
              <p:cNvSpPr txBox="1"/>
              <p:nvPr/>
            </p:nvSpPr>
            <p:spPr>
              <a:xfrm>
                <a:off x="1740" y="0"/>
                <a:ext cx="249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2400" b="1" i="1">
                    <a:latin typeface="Times New Roman" panose="02020603050405020304" pitchFamily="18" charset="0"/>
                  </a:rPr>
                  <a:t>c</a:t>
                </a:r>
                <a:r>
                  <a:rPr lang="en-US" altLang="zh-CN" sz="2400" b="1" i="1">
                    <a:latin typeface="Times New Roman" panose="02020603050405020304" pitchFamily="18" charset="0"/>
                    <a:sym typeface="Symbol" panose="05050102010706020507" pitchFamily="18" charset="2"/>
                  </a:rPr>
                  <a:t></a:t>
                </a:r>
              </a:p>
            </p:txBody>
          </p:sp>
          <p:grpSp>
            <p:nvGrpSpPr>
              <p:cNvPr id="53259" name="组合 53258"/>
              <p:cNvGrpSpPr/>
              <p:nvPr/>
            </p:nvGrpSpPr>
            <p:grpSpPr>
              <a:xfrm>
                <a:off x="0" y="226"/>
                <a:ext cx="3039" cy="2466"/>
                <a:chOff x="0" y="0"/>
                <a:chExt cx="3039" cy="2466"/>
              </a:xfrm>
            </p:grpSpPr>
            <p:sp>
              <p:nvSpPr>
                <p:cNvPr id="53260" name="直接连接符 53259"/>
                <p:cNvSpPr/>
                <p:nvPr/>
              </p:nvSpPr>
              <p:spPr>
                <a:xfrm>
                  <a:off x="1315" y="1406"/>
                  <a:ext cx="0" cy="409"/>
                </a:xfrm>
                <a:prstGeom prst="line">
                  <a:avLst/>
                </a:prstGeom>
                <a:ln w="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grpSp>
              <p:nvGrpSpPr>
                <p:cNvPr id="53261" name="组合 53260"/>
                <p:cNvGrpSpPr/>
                <p:nvPr/>
              </p:nvGrpSpPr>
              <p:grpSpPr>
                <a:xfrm>
                  <a:off x="0" y="0"/>
                  <a:ext cx="3039" cy="2466"/>
                  <a:chOff x="0" y="0"/>
                  <a:chExt cx="3039" cy="2466"/>
                </a:xfrm>
              </p:grpSpPr>
              <p:sp>
                <p:nvSpPr>
                  <p:cNvPr id="53262" name="文本框 53261"/>
                  <p:cNvSpPr txBox="1"/>
                  <p:nvPr/>
                </p:nvSpPr>
                <p:spPr>
                  <a:xfrm>
                    <a:off x="1103" y="1615"/>
                    <a:ext cx="212" cy="28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ctr">
                    <a:spAutoFit/>
                  </a:bodyPr>
                  <a:lstStyle/>
                  <a:p>
                    <a:pPr algn="ctr"/>
                    <a:r>
                      <a:rPr lang="en-US" altLang="zh-CN" sz="2400" b="1">
                        <a:latin typeface="Times New Roman" panose="02020603050405020304" pitchFamily="18" charset="0"/>
                      </a:rPr>
                      <a:t>a</a:t>
                    </a:r>
                  </a:p>
                </p:txBody>
              </p:sp>
              <p:sp>
                <p:nvSpPr>
                  <p:cNvPr id="53263" name="文本框 53262"/>
                  <p:cNvSpPr txBox="1"/>
                  <p:nvPr/>
                </p:nvSpPr>
                <p:spPr>
                  <a:xfrm>
                    <a:off x="462" y="2178"/>
                    <a:ext cx="212" cy="28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ctr">
                    <a:spAutoFit/>
                  </a:bodyPr>
                  <a:lstStyle/>
                  <a:p>
                    <a:pPr algn="ctr"/>
                    <a:r>
                      <a:rPr lang="en-US" altLang="zh-CN" sz="2400" b="1" i="1">
                        <a:latin typeface="Times New Roman" panose="02020603050405020304" pitchFamily="18" charset="0"/>
                      </a:rPr>
                      <a:t>b</a:t>
                    </a:r>
                  </a:p>
                </p:txBody>
              </p:sp>
              <p:sp>
                <p:nvSpPr>
                  <p:cNvPr id="53264" name="直接连接符 53263"/>
                  <p:cNvSpPr/>
                  <p:nvPr/>
                </p:nvSpPr>
                <p:spPr>
                  <a:xfrm>
                    <a:off x="0" y="1543"/>
                    <a:ext cx="3039" cy="0"/>
                  </a:xfrm>
                  <a:prstGeom prst="line">
                    <a:avLst/>
                  </a:prstGeom>
                  <a:ln w="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3265" name="直接连接符 53264"/>
                  <p:cNvSpPr/>
                  <p:nvPr/>
                </p:nvSpPr>
                <p:spPr>
                  <a:xfrm>
                    <a:off x="680" y="590"/>
                    <a:ext cx="635" cy="816"/>
                  </a:xfrm>
                  <a:prstGeom prst="line">
                    <a:avLst/>
                  </a:prstGeom>
                  <a:ln w="38100" cap="flat" cmpd="sng">
                    <a:solidFill>
                      <a:schemeClr val="accent2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3266" name="直接连接符 53265"/>
                  <p:cNvSpPr/>
                  <p:nvPr/>
                </p:nvSpPr>
                <p:spPr>
                  <a:xfrm flipV="1">
                    <a:off x="680" y="0"/>
                    <a:ext cx="1043" cy="590"/>
                  </a:xfrm>
                  <a:prstGeom prst="line">
                    <a:avLst/>
                  </a:prstGeom>
                  <a:ln w="38100" cap="flat" cmpd="sng">
                    <a:solidFill>
                      <a:schemeClr val="accent2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3267" name="直接连接符 53266"/>
                  <p:cNvSpPr/>
                  <p:nvPr/>
                </p:nvSpPr>
                <p:spPr>
                  <a:xfrm>
                    <a:off x="1723" y="0"/>
                    <a:ext cx="998" cy="499"/>
                  </a:xfrm>
                  <a:prstGeom prst="line">
                    <a:avLst/>
                  </a:prstGeom>
                  <a:ln w="38100" cap="flat" cmpd="sng">
                    <a:solidFill>
                      <a:schemeClr val="accent2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3268" name="直接连接符 53267"/>
                  <p:cNvSpPr/>
                  <p:nvPr/>
                </p:nvSpPr>
                <p:spPr>
                  <a:xfrm flipH="1">
                    <a:off x="1315" y="499"/>
                    <a:ext cx="1406" cy="907"/>
                  </a:xfrm>
                  <a:prstGeom prst="line">
                    <a:avLst/>
                  </a:prstGeom>
                  <a:ln w="38100" cap="flat" cmpd="sng">
                    <a:solidFill>
                      <a:schemeClr val="accent2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3269" name="直接连接符 53268"/>
                  <p:cNvSpPr/>
                  <p:nvPr/>
                </p:nvSpPr>
                <p:spPr>
                  <a:xfrm>
                    <a:off x="680" y="590"/>
                    <a:ext cx="0" cy="1769"/>
                  </a:xfrm>
                  <a:prstGeom prst="line">
                    <a:avLst/>
                  </a:prstGeom>
                  <a:ln w="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3270" name="直接连接符 53269"/>
                  <p:cNvSpPr/>
                  <p:nvPr/>
                </p:nvSpPr>
                <p:spPr>
                  <a:xfrm flipV="1">
                    <a:off x="680" y="1815"/>
                    <a:ext cx="635" cy="544"/>
                  </a:xfrm>
                  <a:prstGeom prst="line">
                    <a:avLst/>
                  </a:prstGeom>
                  <a:ln w="38100" cap="flat" cmpd="sng">
                    <a:solidFill>
                      <a:schemeClr val="accent2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3271" name="直接连接符 53270"/>
                  <p:cNvSpPr/>
                  <p:nvPr/>
                </p:nvSpPr>
                <p:spPr>
                  <a:xfrm>
                    <a:off x="2721" y="499"/>
                    <a:ext cx="0" cy="1542"/>
                  </a:xfrm>
                  <a:prstGeom prst="line">
                    <a:avLst/>
                  </a:prstGeom>
                  <a:ln w="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3272" name="直接连接符 53271"/>
                  <p:cNvSpPr/>
                  <p:nvPr/>
                </p:nvSpPr>
                <p:spPr>
                  <a:xfrm flipH="1" flipV="1">
                    <a:off x="1315" y="1815"/>
                    <a:ext cx="1406" cy="226"/>
                  </a:xfrm>
                  <a:prstGeom prst="line">
                    <a:avLst/>
                  </a:prstGeom>
                  <a:ln w="38100" cap="flat" cmpd="sng">
                    <a:solidFill>
                      <a:schemeClr val="accent2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3273" name="文本框 53272"/>
                  <p:cNvSpPr txBox="1"/>
                  <p:nvPr/>
                </p:nvSpPr>
                <p:spPr>
                  <a:xfrm>
                    <a:off x="2730" y="1815"/>
                    <a:ext cx="212" cy="28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ctr">
                    <a:spAutoFit/>
                  </a:bodyPr>
                  <a:lstStyle/>
                  <a:p>
                    <a:pPr algn="ctr"/>
                    <a:r>
                      <a:rPr lang="en-US" altLang="zh-CN" sz="2400" b="1" i="1">
                        <a:latin typeface="Times New Roman" panose="02020603050405020304" pitchFamily="18" charset="0"/>
                      </a:rPr>
                      <a:t>d</a:t>
                    </a:r>
                  </a:p>
                </p:txBody>
              </p:sp>
            </p:grpSp>
          </p:grpSp>
        </p:grpSp>
      </p:grpSp>
      <p:sp>
        <p:nvSpPr>
          <p:cNvPr id="4" name="直接连接符 3"/>
          <p:cNvSpPr/>
          <p:nvPr/>
        </p:nvSpPr>
        <p:spPr>
          <a:xfrm flipV="1">
            <a:off x="2124075" y="1941513"/>
            <a:ext cx="647700" cy="2160587"/>
          </a:xfrm>
          <a:prstGeom prst="line">
            <a:avLst/>
          </a:prstGeom>
          <a:ln w="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" name="直接连接符 4"/>
          <p:cNvSpPr/>
          <p:nvPr/>
        </p:nvSpPr>
        <p:spPr>
          <a:xfrm flipV="1">
            <a:off x="1116013" y="2733675"/>
            <a:ext cx="3240087" cy="144463"/>
          </a:xfrm>
          <a:prstGeom prst="line">
            <a:avLst/>
          </a:prstGeom>
          <a:ln w="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" name="直接连接符 5"/>
          <p:cNvSpPr/>
          <p:nvPr/>
        </p:nvSpPr>
        <p:spPr>
          <a:xfrm flipV="1">
            <a:off x="1116013" y="5153025"/>
            <a:ext cx="3240087" cy="504825"/>
          </a:xfrm>
          <a:prstGeom prst="line">
            <a:avLst/>
          </a:prstGeom>
          <a:ln w="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" name="直接连接符 6"/>
          <p:cNvSpPr/>
          <p:nvPr/>
        </p:nvSpPr>
        <p:spPr>
          <a:xfrm flipH="1">
            <a:off x="2484438" y="2806700"/>
            <a:ext cx="28575" cy="2663825"/>
          </a:xfrm>
          <a:prstGeom prst="line">
            <a:avLst/>
          </a:prstGeom>
          <a:ln w="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" name="直接连接符 7"/>
          <p:cNvSpPr/>
          <p:nvPr/>
        </p:nvSpPr>
        <p:spPr>
          <a:xfrm flipH="1">
            <a:off x="2771775" y="1941513"/>
            <a:ext cx="14288" cy="4032250"/>
          </a:xfrm>
          <a:prstGeom prst="line">
            <a:avLst/>
          </a:prstGeom>
          <a:ln w="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" name="文本框 8"/>
          <p:cNvSpPr txBox="1"/>
          <p:nvPr/>
        </p:nvSpPr>
        <p:spPr>
          <a:xfrm>
            <a:off x="2484438" y="5876925"/>
            <a:ext cx="31908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i="1">
                <a:latin typeface="Times New Roman" panose="02020603050405020304" pitchFamily="18" charset="0"/>
              </a:rPr>
              <a:t>c</a:t>
            </a:r>
            <a:endParaRPr lang="en-US" altLang="zh-CN" sz="2400" b="1" i="1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0" name="直接连接符 9"/>
          <p:cNvSpPr/>
          <p:nvPr/>
        </p:nvSpPr>
        <p:spPr>
          <a:xfrm>
            <a:off x="1130300" y="5643563"/>
            <a:ext cx="1641475" cy="330200"/>
          </a:xfrm>
          <a:prstGeom prst="line">
            <a:avLst/>
          </a:prstGeom>
          <a:ln w="38100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" name="直接连接符 10"/>
          <p:cNvSpPr/>
          <p:nvPr/>
        </p:nvSpPr>
        <p:spPr>
          <a:xfrm flipV="1">
            <a:off x="2771775" y="5181600"/>
            <a:ext cx="1584325" cy="792163"/>
          </a:xfrm>
          <a:prstGeom prst="line">
            <a:avLst/>
          </a:prstGeom>
          <a:ln w="38100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" name="直接连接符 11"/>
          <p:cNvSpPr/>
          <p:nvPr/>
        </p:nvSpPr>
        <p:spPr>
          <a:xfrm>
            <a:off x="2109788" y="4764088"/>
            <a:ext cx="661987" cy="1209675"/>
          </a:xfrm>
          <a:prstGeom prst="line">
            <a:avLst/>
          </a:prstGeom>
          <a:ln w="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1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0" dur="2000"/>
                                        <p:tgtEl>
                                          <p:spTgt spid="53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2" grpId="0"/>
      <p:bldP spid="53274" grpId="0"/>
      <p:bldP spid="53275" grpId="0"/>
      <p:bldP spid="53276" grpId="0"/>
      <p:bldP spid="53277" grpId="0"/>
      <p:bldP spid="53278" grpId="0"/>
      <p:bldP spid="2" grpId="0"/>
      <p:bldP spid="3" grpId="0"/>
      <p:bldP spid="9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矩形 86"/>
          <p:cNvSpPr/>
          <p:nvPr/>
        </p:nvSpPr>
        <p:spPr>
          <a:xfrm>
            <a:off x="2060364" y="703735"/>
            <a:ext cx="807127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5400" b="1" dirty="0">
                <a:solidFill>
                  <a:srgbClr val="FF6666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作业</a:t>
            </a:r>
          </a:p>
        </p:txBody>
      </p:sp>
      <p:sp>
        <p:nvSpPr>
          <p:cNvPr id="86" name="矩形 85"/>
          <p:cNvSpPr/>
          <p:nvPr/>
        </p:nvSpPr>
        <p:spPr>
          <a:xfrm>
            <a:off x="254000" y="190500"/>
            <a:ext cx="11696700" cy="64643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57994E1-1518-4333-84D2-6A008863E3A7}"/>
              </a:ext>
            </a:extLst>
          </p:cNvPr>
          <p:cNvSpPr txBox="1"/>
          <p:nvPr/>
        </p:nvSpPr>
        <p:spPr>
          <a:xfrm>
            <a:off x="1701914" y="1627065"/>
            <a:ext cx="8930005" cy="3785652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/>
          <a:p>
            <a:pPr algn="just"/>
            <a:r>
              <a:rPr lang="en-US" altLang="zh-CN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2.3 </a:t>
            </a:r>
            <a:r>
              <a:rPr lang="zh-CN" altLang="en-US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所有</a:t>
            </a:r>
            <a:endParaRPr lang="en-US" altLang="zh-CN" sz="4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just"/>
            <a:r>
              <a:rPr lang="en-US" altLang="zh-CN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2.4 </a:t>
            </a:r>
            <a:r>
              <a:rPr lang="zh-CN" altLang="en-US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所有</a:t>
            </a:r>
            <a:endParaRPr lang="en-US" altLang="zh-CN" sz="4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just"/>
            <a:r>
              <a:rPr lang="en-US" altLang="zh-CN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3.2   </a:t>
            </a:r>
          </a:p>
          <a:p>
            <a:pPr algn="just"/>
            <a:r>
              <a:rPr lang="en-US" altLang="zh-CN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 (1</a:t>
            </a:r>
            <a:r>
              <a:rPr lang="zh-CN" altLang="en-US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 </a:t>
            </a:r>
            <a:r>
              <a:rPr lang="en-US" altLang="zh-CN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(4)  </a:t>
            </a:r>
            <a:r>
              <a:rPr lang="zh-CN" altLang="en-US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(5)</a:t>
            </a:r>
            <a:r>
              <a:rPr lang="zh-CN" altLang="en-US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</a:t>
            </a:r>
            <a:r>
              <a:rPr lang="en-US" altLang="zh-CN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(6</a:t>
            </a:r>
            <a:r>
              <a:rPr lang="zh-CN" altLang="en-US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 </a:t>
            </a:r>
            <a:r>
              <a:rPr lang="en-US" altLang="zh-CN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(7</a:t>
            </a:r>
            <a:r>
              <a:rPr lang="zh-CN" altLang="en-US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endParaRPr lang="en-US" altLang="zh-CN" sz="4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342900" indent="-342900" algn="just">
              <a:buAutoNum type="arabicPeriod" startAt="2"/>
            </a:pPr>
            <a:r>
              <a:rPr lang="en-US" altLang="zh-CN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(2)   (3)   (6)   (7)   (8)	(9)</a:t>
            </a:r>
          </a:p>
          <a:p>
            <a:pPr marL="342900" indent="-342900" algn="just">
              <a:buAutoNum type="arabicPeriod" startAt="2"/>
            </a:pPr>
            <a:r>
              <a:rPr lang="en-US" altLang="zh-CN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(1)   (3)   (4)   (5)</a:t>
            </a:r>
          </a:p>
        </p:txBody>
      </p:sp>
    </p:spTree>
    <p:extLst>
      <p:ext uri="{BB962C8B-B14F-4D97-AF65-F5344CB8AC3E}">
        <p14:creationId xmlns:p14="http://schemas.microsoft.com/office/powerpoint/2010/main" val="17413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矩形 86"/>
          <p:cNvSpPr/>
          <p:nvPr/>
        </p:nvSpPr>
        <p:spPr>
          <a:xfrm>
            <a:off x="2238856" y="2675971"/>
            <a:ext cx="8071272" cy="15068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6000" b="1" i="1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本章结束</a:t>
            </a:r>
            <a:r>
              <a:rPr lang="en-US" altLang="zh-CN" sz="6000" b="1" i="1" dirty="0">
                <a:solidFill>
                  <a:srgbClr val="FF6666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zh-CN" altLang="en-US" sz="3200" b="1" i="1" dirty="0">
                <a:solidFill>
                  <a:srgbClr val="FF6666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注意及时复习和勤于练习</a:t>
            </a:r>
            <a:r>
              <a:rPr lang="en-US" altLang="zh-CN" sz="3200" b="1" i="1" dirty="0">
                <a:solidFill>
                  <a:srgbClr val="FF6666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!</a:t>
            </a:r>
            <a:endParaRPr lang="zh-CN" altLang="en-US" sz="3200" b="1" i="1" dirty="0">
              <a:solidFill>
                <a:srgbClr val="FF6666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254000" y="190500"/>
            <a:ext cx="11696700" cy="64643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微软雅黑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Calibri Light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3811</Words>
  <Application>Microsoft Office PowerPoint</Application>
  <PresentationFormat>宽屏</PresentationFormat>
  <Paragraphs>926</Paragraphs>
  <Slides>58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58</vt:i4>
      </vt:variant>
    </vt:vector>
  </HeadingPairs>
  <TitlesOfParts>
    <vt:vector size="73" baseType="lpstr">
      <vt:lpstr>微软雅黑</vt:lpstr>
      <vt:lpstr>华文细黑</vt:lpstr>
      <vt:lpstr>楷体</vt:lpstr>
      <vt:lpstr>Calibri Light</vt:lpstr>
      <vt:lpstr>Wingdings</vt:lpstr>
      <vt:lpstr>Times New Roman</vt:lpstr>
      <vt:lpstr>楷体_GB2312</vt:lpstr>
      <vt:lpstr>宋体</vt:lpstr>
      <vt:lpstr>Calibri</vt:lpstr>
      <vt:lpstr>黑体</vt:lpstr>
      <vt:lpstr>Arial</vt:lpstr>
      <vt:lpstr>微软雅黑</vt:lpstr>
      <vt:lpstr>Bitmap Image</vt:lpstr>
      <vt:lpstr>WPS 公式 3.0</vt:lpstr>
      <vt:lpstr>MS_ClipArt_Gallery.2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Yu</cp:lastModifiedBy>
  <cp:revision>253</cp:revision>
  <dcterms:created xsi:type="dcterms:W3CDTF">2015-10-29T03:31:00Z</dcterms:created>
  <dcterms:modified xsi:type="dcterms:W3CDTF">2021-03-16T14:01:36Z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2052-10.1.0.7400</vt:lpwstr>
  </property>
</Properties>
</file>